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本日はフランスを中心に、米国・EUの文脈も含め海外動向を整理します。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聴き取りの軸を3点に絞ります。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入り口は違うが、材料・時間・データが共通課題です。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静的は国際標準の強み。動的は時間の論点に応える試みです。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動的LCA＝学術概念と、規制の簡易版を分けて見ることが重要です。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Cerema Guide 2024に基づく制度概要です。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Ventura &amp; Feraille 2021、RE2020 Dynamic LCA資料が根拠です。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ステークホルダー対立の核心は「一時貯蔵を緩和とみなすか」です。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木造化義務そのものではなく、評価手法が設計インセンティブになり得ます。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米国は調達・認証で押し上げ。バイオジェニック論点は避けられません。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比較表で「同じ論点・違う制度化の入り口」を示します。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1分で補足。詳細はNo.3（Level(s)）で深掘り予定。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日本は両国の「中間」も可能。まず地平の合意を推奨します。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質疑：日本導入は時間地平とデータ基盤の合意が先。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海外における動的LCAの動きとその意味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なぜ導入され、導入後に何が変わったのか</a:t>
            </a:r>
          </a:p>
          <a:p>
            <a:pPr>
              <a:defRPr sz="2000"/>
            </a:pPr>
            <a:r>
              <a:t>調査項目(1) 政策・制度調査｜第1係</a:t>
            </a:r>
          </a:p>
          <a:p>
            <a:pPr>
              <a:defRPr sz="2000"/>
            </a:pPr>
            <a:r>
              <a:t>2026年5月（ドラフト）｜想定20分・14枚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本日のゴール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① なぜ海外（特にフランス）で動的LCAが政策の中心になったか</a:t>
            </a:r>
          </a:p>
          <a:p>
            <a:pPr>
              <a:defRPr sz="2000"/>
            </a:pPr>
            <a:r>
              <a:t>② どう制度化されたか（RE2020の要点）</a:t>
            </a:r>
          </a:p>
          <a:p>
            <a:pPr>
              <a:defRPr sz="2000"/>
            </a:pPr>
            <a:r>
              <a:t>③ 導入後、産業・設計・数値にどんな影響が出ているか</a:t>
            </a:r>
          </a:p>
          <a:p>
            <a:pPr>
              <a:defRPr sz="2000"/>
            </a:pPr>
            <a:r>
              <a:t>※算定式の詳細・INIESは他係で扱う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世界の流れ：建築の炭素を「見える化」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運用エネルギー効率化は各国で進展 → 残る大きな論点はエンボディド炭素</a:t>
            </a:r>
          </a:p>
          <a:p>
            <a:pPr>
              <a:defRPr sz="2000"/>
            </a:pPr>
            <a:r>
              <a:t>ネットゼロ整合：建物はライフサイクル全体で説明責任</a:t>
            </a:r>
          </a:p>
          <a:p>
            <a:pPr>
              <a:defRPr sz="2000"/>
            </a:pPr>
            <a:r>
              <a:t>フランス：RE2020で建築物LCA義務化＋簡易動的LCA</a:t>
            </a:r>
          </a:p>
          <a:p>
            <a:pPr>
              <a:defRPr sz="2000"/>
            </a:pPr>
            <a:r>
              <a:t>EU：Level(s)・EN15978で共通枠組み</a:t>
            </a:r>
          </a:p>
          <a:p>
            <a:pPr>
              <a:defRPr sz="2000"/>
            </a:pPr>
            <a:r>
              <a:t>米国：Buy Clean・LEED v5・EPA低炭素建材ラベル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静的LCAだけでは足りない理由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GWP100：全排出を同時に集約 → 比較しやすいが時間構造を失う</a:t>
            </a:r>
          </a:p>
          <a:p>
            <a:pPr>
              <a:defRPr sz="2000"/>
            </a:pPr>
            <a:r>
              <a:t>建築・木材の論点：一時的炭素貯蔵／遅延排出／生物由来CO₂</a:t>
            </a:r>
          </a:p>
          <a:p>
            <a:pPr>
              <a:defRPr sz="2000"/>
            </a:pPr>
            <a:r>
              <a:t>学術：Levasseur et al.(2010,2013) 動的LCI＋動的LCIA（累積放射強制力）</a:t>
            </a:r>
          </a:p>
          <a:p>
            <a:pPr>
              <a:defRPr sz="2000"/>
            </a:pPr>
            <a:r>
              <a:t>フランスはこれを規制向けに「簡略化」して採用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海外マップ：どこまで「動的」か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規制で動的採用 → フランス RE2020（簡易動的LCA・義務）</a:t>
            </a:r>
          </a:p>
          <a:p>
            <a:pPr>
              <a:defRPr sz="2000"/>
            </a:pPr>
            <a:r>
              <a:t>LCA枠組み → EU Level(s) / EN15978</a:t>
            </a:r>
          </a:p>
          <a:p>
            <a:pPr>
              <a:defRPr sz="2000"/>
            </a:pPr>
            <a:r>
              <a:t>調達・認証 → 米国 Buy Clean / LEED v5 / 州条例</a:t>
            </a:r>
          </a:p>
          <a:p>
            <a:pPr>
              <a:defRPr sz="2000"/>
            </a:pPr>
            <a:r>
              <a:t>研究・ツール → カナダ CIRAIG DynCO₂ 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フランス RE2020：何が変わったか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RT2012 → RE2020：環境性能が第3の柱（ライフサイクルACV）</a:t>
            </a:r>
          </a:p>
          <a:p>
            <a:pPr>
              <a:defRPr sz="2000"/>
            </a:pPr>
            <a:r>
              <a:t>規制指標：GES（kgCO₂eq/m²）— 2025 -15% / 2028 -25% / 2031 -30〜40%</a:t>
            </a:r>
          </a:p>
          <a:p>
            <a:pPr>
              <a:defRPr sz="2000"/>
            </a:pPr>
            <a:r>
              <a:t>2022年〜段階適用（住宅→事務所・学校→小規模等）</a:t>
            </a:r>
          </a:p>
          <a:p>
            <a:pPr>
              <a:defRPr sz="2000"/>
            </a:pPr>
            <a:r>
              <a:t>データ基盤：INIES・FDES（フランスEPD）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なぜ「簡易動的LCA」か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狙い：排出タイミングを反映しつつ、既存静的LCA・EPDを活用</a:t>
            </a:r>
          </a:p>
          <a:p>
            <a:pPr>
              <a:defRPr sz="2000"/>
            </a:pPr>
            <a:r>
              <a:t>混合：建設前＝静的／建設以降（原則50年）＝簡易動的</a:t>
            </a:r>
          </a:p>
          <a:p>
            <a:pPr>
              <a:defRPr sz="2000"/>
            </a:pPr>
            <a:r>
              <a:t>時間原点 t=0：建物引渡し｜観測：建設から100年</a:t>
            </a:r>
          </a:p>
          <a:p>
            <a:pPr>
              <a:defRPr sz="2000"/>
            </a:pPr>
            <a:r>
              <a:t>算式：GWPdyn(t) = FRE2020(t) × GWPstat100</a:t>
            </a:r>
          </a:p>
          <a:p>
            <a:pPr>
              <a:defRPr sz="2000"/>
            </a:pPr>
            <a:r>
              <a:t>2021年：標準化手続き表明／大学勧告は係数・期間の修正を提案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数値で見る「時間地平」の威力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1kg CO₂を50年貯蔵：100年地平→0.42kg相当／150年→0.27kg（約35%減）</a:t>
            </a:r>
          </a:p>
          <a:p>
            <a:pPr>
              <a:defRPr sz="2000"/>
            </a:pPr>
            <a:r>
              <a:t>制度が選ぶ年数＝政策メッセージ（木材優位の度合いが変わる）</a:t>
            </a:r>
          </a:p>
          <a:p>
            <a:pPr>
              <a:defRPr sz="2000"/>
            </a:pPr>
            <a:r>
              <a:t>Ventura(2022)：50年時点で係数が最大約25%過大になり得る</a:t>
            </a:r>
          </a:p>
          <a:p>
            <a:pPr>
              <a:defRPr sz="2000"/>
            </a:pPr>
            <a:r>
              <a:t>木材団体＝支持｜セメント・金属等＝国際標準との不整合を主張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RE2020導入後の影響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設計：部材炭素が規制値と直結 → 木造CLT vs コンクリートの順位が変化</a:t>
            </a:r>
          </a:p>
          <a:p>
            <a:pPr>
              <a:defRPr sz="2000"/>
            </a:pPr>
            <a:r>
              <a:t>産業：FDES/INIES需要増・各素材団体の反対運動</a:t>
            </a:r>
          </a:p>
          <a:p>
            <a:pPr>
              <a:defRPr sz="2000"/>
            </a:pPr>
            <a:r>
              <a:t>政策：段階目標を動的GESでモニタリング</a:t>
            </a:r>
          </a:p>
          <a:p>
            <a:pPr>
              <a:defRPr sz="2000"/>
            </a:pPr>
            <a:r>
              <a:t>2025 Rivaton報告：ACVルール・データ品質・コストを評価し12項目勧告</a:t>
            </a:r>
          </a:p>
          <a:p>
            <a:pPr>
              <a:defRPr sz="2000"/>
            </a:pPr>
            <a:r>
              <a:t>国際：EN15804/PEF/ISO14067（一時貯蔵除外）との緊張が継続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アメリカ：同じ課題、異なる答え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建築法での動的LCA全国義務は未整備</a:t>
            </a:r>
          </a:p>
          <a:p>
            <a:pPr>
              <a:defRPr sz="2000"/>
            </a:pPr>
            <a:r>
              <a:t>Buy Clean：連邦調達で低炭素建材・EPD優先</a:t>
            </a:r>
          </a:p>
          <a:p>
            <a:pPr>
              <a:defRPr sz="2000"/>
            </a:pPr>
            <a:r>
              <a:t>EPA低炭素建材ラベル(2024)：PCR・バイオジェニック開示要件</a:t>
            </a:r>
          </a:p>
          <a:p>
            <a:pPr>
              <a:defRPr sz="2000"/>
            </a:pPr>
            <a:r>
              <a:t>LEED v5(2025〜)：エンボディド炭素LCAを前提化</a:t>
            </a:r>
          </a:p>
          <a:p>
            <a:pPr>
              <a:defRPr sz="2000"/>
            </a:pPr>
            <a:r>
              <a:t>州・都市条例は分断的 → 静的GWP＋開示から開始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フランス vs 米国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義務の形：規制(RE2020) vs 調達・認証・州法</a:t>
            </a:r>
          </a:p>
          <a:p>
            <a:pPr>
              <a:defRPr sz="2000"/>
            </a:pPr>
            <a:r>
              <a:t>時間軸：簡易動的LCA vs 原則静的GWP</a:t>
            </a:r>
          </a:p>
          <a:p>
            <a:pPr>
              <a:defRPr sz="2000"/>
            </a:pPr>
            <a:r>
              <a:t>木材：制度クレジット vs 開示・事例依存</a:t>
            </a:r>
          </a:p>
          <a:p>
            <a:pPr>
              <a:defRPr sz="2000"/>
            </a:pPr>
            <a:r>
              <a:t>産業政治：セメントvs木材の公開論戦 vs 鋼・コンクリート中心</a:t>
            </a:r>
          </a:p>
          <a:p>
            <a:pPr>
              <a:defRPr sz="2000"/>
            </a:pPr>
            <a:r>
              <a:t>日本示唆：年数・起点の合意と、段階導入・国DBをセット設計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EU・研究（補足）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EU Level(s)/EN15978：建築LCAの共通フレーム</a:t>
            </a:r>
          </a:p>
          <a:p>
            <a:pPr>
              <a:defRPr sz="2000"/>
            </a:pPr>
            <a:r>
              <a:t>動的LCAの統一義務はフランスが先行</a:t>
            </a:r>
          </a:p>
          <a:p>
            <a:pPr>
              <a:defRPr sz="2000"/>
            </a:pPr>
            <a:r>
              <a:t>CIRAIG DynCO₂：RE2020係数の理論的源流</a:t>
            </a:r>
          </a:p>
          <a:p>
            <a:pPr>
              <a:defRPr sz="2000"/>
            </a:pPr>
            <a:r>
              <a:t>参照時は「学術の完全版」と「規制の簡易版」を意図的に分離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日本の建築物LCA制度化への示唆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時間の設計が本体（THI/TOD・起点）→ 導入前の合意が必要</a:t>
            </a:r>
          </a:p>
          <a:p>
            <a:pPr>
              <a:defRPr sz="2000"/>
            </a:pPr>
            <a:r>
              <a:t>段階導入：静的＋簡易動的（仏）／開示・調達先行（米）</a:t>
            </a:r>
          </a:p>
          <a:p>
            <a:pPr>
              <a:defRPr sz="2000"/>
            </a:pPr>
            <a:r>
              <a:t>林野・木材：評価方法は木造インセンティブになり得るが、起源証明とセット</a:t>
            </a:r>
          </a:p>
          <a:p>
            <a:pPr>
              <a:defRPr sz="2000"/>
            </a:pPr>
            <a:r>
              <a:t>第3係：国DB・炭素フローとの接続が前提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まとめ・次ステップ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海外＝エンボディド炭素をLCAで制度・市場に載せるフェーズ</a:t>
            </a:r>
          </a:p>
          <a:p>
            <a:pPr>
              <a:defRPr sz="2000"/>
            </a:pPr>
            <a:r>
              <a:t>フランス＝簡易動的LCAを建築規制の中心に置いた先進事例</a:t>
            </a:r>
          </a:p>
          <a:p>
            <a:pPr>
              <a:defRPr sz="2000"/>
            </a:pPr>
            <a:r>
              <a:t>米国＝EPD・調達・LEEDで押上げ、動的統一は未整備</a:t>
            </a:r>
          </a:p>
          <a:p>
            <a:pPr>
              <a:defRPr sz="2000"/>
            </a:pPr>
            <a:r>
              <a:t>第1係次：政令照合・導入背景・Level(s)対照・ヒアリング論点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