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72" r:id="rId3"/>
    <p:sldId id="2146846821" r:id="rId4"/>
    <p:sldId id="2146846823" r:id="rId5"/>
    <p:sldId id="281" r:id="rId6"/>
    <p:sldId id="278" r:id="rId7"/>
    <p:sldId id="279" r:id="rId8"/>
    <p:sldId id="2146846822" r:id="rId9"/>
  </p:sldIdLst>
  <p:sldSz cx="10691813" cy="7559675"/>
  <p:notesSz cx="6858000" cy="9144000"/>
  <p:defaultTextStyle>
    <a:defPPr>
      <a:defRPr lang="ja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5940675A-B579-460E-94D1-54222C63F5D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91"/>
    <p:restoredTop sz="94688"/>
  </p:normalViewPr>
  <p:slideViewPr>
    <p:cSldViewPr snapToGrid="0">
      <p:cViewPr varScale="1">
        <p:scale>
          <a:sx n="71" d="100"/>
          <a:sy n="71" d="100"/>
        </p:scale>
        <p:origin x="192" y="1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2CB7F64A-8C42-F23D-D097-4B3EE8B24CED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游ゴシック"/>
              <a:ea typeface="游ゴシック" pitchFamily="34"/>
            </a:endParaRPr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2E6F7D04-8F56-CD64-BFCD-F14E41EEB8E2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游ゴシック"/>
              <a:ea typeface="游ゴシック" pitchFamily="34"/>
            </a:endParaRPr>
          </a:p>
        </p:txBody>
      </p:sp>
      <p:sp>
        <p:nvSpPr>
          <p:cNvPr id="4" name="スライド番号プレースホルダー 4">
            <a:extLst>
              <a:ext uri="{FF2B5EF4-FFF2-40B4-BE49-F238E27FC236}">
                <a16:creationId xmlns:a16="http://schemas.microsoft.com/office/drawing/2014/main" id="{4B2C9048-3CFF-BB2E-975E-0870AE2D895E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11708C4-0D70-2A4C-BC1F-5D3A25B5927A}" type="slidenum">
              <a:t>‹#›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游ゴシック"/>
              <a:ea typeface="游ゴシック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5134250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6B3E2819-15E5-1A71-6EFE-808AC8B9F8FF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D874EB0-160C-67CE-6359-880E7FCE0C48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fld id="{5BCBEECA-5209-B044-B147-1673C62B355A}" type="datetime1">
              <a:rPr lang="en-US"/>
              <a:pPr lvl="0"/>
              <a:t>6/2/26</a:t>
            </a:fld>
            <a:endParaRPr lang="en-US"/>
          </a:p>
        </p:txBody>
      </p:sp>
      <p:sp>
        <p:nvSpPr>
          <p:cNvPr id="4" name="スライド イメージ プレースホルダー 3">
            <a:extLst>
              <a:ext uri="{FF2B5EF4-FFF2-40B4-BE49-F238E27FC236}">
                <a16:creationId xmlns:a16="http://schemas.microsoft.com/office/drawing/2014/main" id="{5EE16A9D-61E6-5284-5944-5A0EAF71AF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46190" y="1143000"/>
            <a:ext cx="4365629" cy="3086100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ノート プレースホルダー 4">
            <a:extLst>
              <a:ext uri="{FF2B5EF4-FFF2-40B4-BE49-F238E27FC236}">
                <a16:creationId xmlns:a16="http://schemas.microsoft.com/office/drawing/2014/main" id="{0EABD5A5-3198-52EC-CF38-0FFCB24BC5EB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3EB6756-D48B-4F59-A3B8-7AAE24A8BC4A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53A7EC3-3B22-E725-ED7C-5CE28A6FEED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fld id="{B49AF10F-6C39-B848-B527-783F26C3383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798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1pPr>
    <a:lvl2pPr marL="497753" marR="0" lvl="1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2pPr>
    <a:lvl3pPr marL="995507" marR="0" lvl="2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3pPr>
    <a:lvl4pPr marL="1493260" marR="0" lvl="3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4pPr>
    <a:lvl5pPr marL="1991014" marR="0" lvl="4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5">
            <a:extLst>
              <a:ext uri="{FF2B5EF4-FFF2-40B4-BE49-F238E27FC236}">
                <a16:creationId xmlns:a16="http://schemas.microsoft.com/office/drawing/2014/main" id="{00DFD775-92BB-E6B5-0624-3AE0E5FA9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" y="0"/>
            <a:ext cx="10679012" cy="75543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2E5D412-069E-3478-FA61-023D85CE8DF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01883" y="3132670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7D8396E-022C-EAEC-A749-2D67E3CD92F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36477" y="3970580"/>
            <a:ext cx="8018858" cy="402482"/>
          </a:xfrm>
        </p:spPr>
        <p:txBody>
          <a:bodyPr anchorCtr="1"/>
          <a:lstStyle>
            <a:lvl1pPr marL="0" indent="0" algn="ctr">
              <a:buNone/>
              <a:defRPr lang="en-US" sz="2400"/>
            </a:lvl1pPr>
          </a:lstStyle>
          <a:p>
            <a:pPr lvl="0"/>
            <a:r>
              <a:rPr lang="en-US"/>
              <a:t>2026.00.00</a:t>
            </a:r>
          </a:p>
        </p:txBody>
      </p:sp>
      <p:sp>
        <p:nvSpPr>
          <p:cNvPr id="5" name="正方形/長方形 8">
            <a:extLst>
              <a:ext uri="{FF2B5EF4-FFF2-40B4-BE49-F238E27FC236}">
                <a16:creationId xmlns:a16="http://schemas.microsoft.com/office/drawing/2014/main" id="{E234C807-F569-8D78-AD27-C10A8C7872D9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6" name="直線コネクタ 9">
            <a:extLst>
              <a:ext uri="{FF2B5EF4-FFF2-40B4-BE49-F238E27FC236}">
                <a16:creationId xmlns:a16="http://schemas.microsoft.com/office/drawing/2014/main" id="{4F4B76E2-360E-DDF7-FE4D-2D6047E9B643}"/>
              </a:ext>
            </a:extLst>
          </p:cNvPr>
          <p:cNvCxnSpPr/>
          <p:nvPr/>
        </p:nvCxnSpPr>
        <p:spPr>
          <a:xfrm>
            <a:off x="-18470" y="7166518"/>
            <a:ext cx="1069199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7" name="Subtitle 2">
            <a:extLst>
              <a:ext uri="{FF2B5EF4-FFF2-40B4-BE49-F238E27FC236}">
                <a16:creationId xmlns:a16="http://schemas.microsoft.com/office/drawing/2014/main" id="{EF689ACB-A9D4-1D04-838C-CC2834123A79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  <p:pic>
        <p:nvPicPr>
          <p:cNvPr id="8" name="図 14">
            <a:extLst>
              <a:ext uri="{FF2B5EF4-FFF2-40B4-BE49-F238E27FC236}">
                <a16:creationId xmlns:a16="http://schemas.microsoft.com/office/drawing/2014/main" id="{9AA4B207-D3AE-090E-9747-03CEE615A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336" y="99468"/>
            <a:ext cx="2908304" cy="17779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正方形/長方形 15">
            <a:extLst>
              <a:ext uri="{FF2B5EF4-FFF2-40B4-BE49-F238E27FC236}">
                <a16:creationId xmlns:a16="http://schemas.microsoft.com/office/drawing/2014/main" id="{9E15BC65-8EB9-9393-F4FC-8178E9F58EA7}"/>
              </a:ext>
            </a:extLst>
          </p:cNvPr>
          <p:cNvSpPr/>
          <p:nvPr/>
        </p:nvSpPr>
        <p:spPr>
          <a:xfrm>
            <a:off x="3885404" y="378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0" name="正方形/長方形 16">
            <a:extLst>
              <a:ext uri="{FF2B5EF4-FFF2-40B4-BE49-F238E27FC236}">
                <a16:creationId xmlns:a16="http://schemas.microsoft.com/office/drawing/2014/main" id="{A9FF4FC7-202A-E8F7-6D0B-FFFB317FE180}"/>
              </a:ext>
            </a:extLst>
          </p:cNvPr>
          <p:cNvSpPr/>
          <p:nvPr/>
        </p:nvSpPr>
        <p:spPr>
          <a:xfrm>
            <a:off x="4605403" y="378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1" name="正方形/長方形 17">
            <a:extLst>
              <a:ext uri="{FF2B5EF4-FFF2-40B4-BE49-F238E27FC236}">
                <a16:creationId xmlns:a16="http://schemas.microsoft.com/office/drawing/2014/main" id="{957F8504-4F93-19E9-3EB5-4955FF3B6C95}"/>
              </a:ext>
            </a:extLst>
          </p:cNvPr>
          <p:cNvSpPr/>
          <p:nvPr/>
        </p:nvSpPr>
        <p:spPr>
          <a:xfrm>
            <a:off x="5325401" y="378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2" name="正方形/長方形 18">
            <a:extLst>
              <a:ext uri="{FF2B5EF4-FFF2-40B4-BE49-F238E27FC236}">
                <a16:creationId xmlns:a16="http://schemas.microsoft.com/office/drawing/2014/main" id="{1BF164A5-5F14-9707-AF41-3077187EC645}"/>
              </a:ext>
            </a:extLst>
          </p:cNvPr>
          <p:cNvSpPr/>
          <p:nvPr/>
        </p:nvSpPr>
        <p:spPr>
          <a:xfrm>
            <a:off x="6045409" y="378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pic>
        <p:nvPicPr>
          <p:cNvPr id="13" name="図 4">
            <a:extLst>
              <a:ext uri="{FF2B5EF4-FFF2-40B4-BE49-F238E27FC236}">
                <a16:creationId xmlns:a16="http://schemas.microsoft.com/office/drawing/2014/main" id="{3ACDDA9B-3767-2073-AB98-31F31C173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3639" y="5481123"/>
            <a:ext cx="5514536" cy="111755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図 20">
            <a:extLst>
              <a:ext uri="{FF2B5EF4-FFF2-40B4-BE49-F238E27FC236}">
                <a16:creationId xmlns:a16="http://schemas.microsoft.com/office/drawing/2014/main" id="{94BF1B61-FD64-B485-CE6A-D7053DF6D6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2837" y="5687055"/>
            <a:ext cx="699845" cy="81064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図 21">
            <a:extLst>
              <a:ext uri="{FF2B5EF4-FFF2-40B4-BE49-F238E27FC236}">
                <a16:creationId xmlns:a16="http://schemas.microsoft.com/office/drawing/2014/main" id="{F2F7E7B9-B82D-7573-7861-B43BDB1ADF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8969" y="6271394"/>
            <a:ext cx="3938137" cy="2443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43892608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見出し　水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1">
            <a:extLst>
              <a:ext uri="{FF2B5EF4-FFF2-40B4-BE49-F238E27FC236}">
                <a16:creationId xmlns:a16="http://schemas.microsoft.com/office/drawing/2014/main" id="{5C055667-FF3F-A6D2-BC77-F96F2CDAC7A8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正方形/長方形 1">
            <a:extLst>
              <a:ext uri="{FF2B5EF4-FFF2-40B4-BE49-F238E27FC236}">
                <a16:creationId xmlns:a16="http://schemas.microsoft.com/office/drawing/2014/main" id="{1CE64156-C7D9-C1F4-23D2-EB54DD509E8A}"/>
              </a:ext>
            </a:extLst>
          </p:cNvPr>
          <p:cNvSpPr/>
          <p:nvPr/>
        </p:nvSpPr>
        <p:spPr>
          <a:xfrm>
            <a:off x="666003" y="360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595A7E94-BB0C-E096-4FAF-69783B99C3E3}"/>
              </a:ext>
            </a:extLst>
          </p:cNvPr>
          <p:cNvSpPr/>
          <p:nvPr/>
        </p:nvSpPr>
        <p:spPr>
          <a:xfrm>
            <a:off x="1386001" y="360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9">
            <a:extLst>
              <a:ext uri="{FF2B5EF4-FFF2-40B4-BE49-F238E27FC236}">
                <a16:creationId xmlns:a16="http://schemas.microsoft.com/office/drawing/2014/main" id="{9EBFF0C2-6EBE-33F0-9B20-890B97C55AC8}"/>
              </a:ext>
            </a:extLst>
          </p:cNvPr>
          <p:cNvSpPr/>
          <p:nvPr/>
        </p:nvSpPr>
        <p:spPr>
          <a:xfrm>
            <a:off x="2106000" y="3600001"/>
            <a:ext cx="7200003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10">
            <a:extLst>
              <a:ext uri="{FF2B5EF4-FFF2-40B4-BE49-F238E27FC236}">
                <a16:creationId xmlns:a16="http://schemas.microsoft.com/office/drawing/2014/main" id="{84BE7162-FE6E-5B4B-2678-4DBB54DDE78D}"/>
              </a:ext>
            </a:extLst>
          </p:cNvPr>
          <p:cNvSpPr/>
          <p:nvPr/>
        </p:nvSpPr>
        <p:spPr>
          <a:xfrm>
            <a:off x="9305812" y="360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7" name="直線コネクタ 22">
            <a:extLst>
              <a:ext uri="{FF2B5EF4-FFF2-40B4-BE49-F238E27FC236}">
                <a16:creationId xmlns:a16="http://schemas.microsoft.com/office/drawing/2014/main" id="{2853C88F-AC5A-A21C-4AE8-A2348C622629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FFEDBDF8-C21B-8651-834C-E661C7D905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AF77E20-5376-7FBE-3404-653442A7242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BC2E31E-EC1D-2B77-7AE6-A69951739B7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E6A15C84-9E99-F84A-9F32-30BD8DF16F2E}" type="slidenum">
              <a:t>‹#›</a:t>
            </a:fld>
            <a:endParaRPr lang="en-US"/>
          </a:p>
        </p:txBody>
      </p:sp>
      <p:pic>
        <p:nvPicPr>
          <p:cNvPr id="11" name="図 13">
            <a:extLst>
              <a:ext uri="{FF2B5EF4-FFF2-40B4-BE49-F238E27FC236}">
                <a16:creationId xmlns:a16="http://schemas.microsoft.com/office/drawing/2014/main" id="{F0B7AA26-07FF-2486-968C-6B18BF0EE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114A61AB-3A8B-4340-E926-00F124F56435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752931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タイトルとコンテンツ　水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20">
            <a:extLst>
              <a:ext uri="{FF2B5EF4-FFF2-40B4-BE49-F238E27FC236}">
                <a16:creationId xmlns:a16="http://schemas.microsoft.com/office/drawing/2014/main" id="{0C70FEB0-BB23-F061-C82C-76923D610988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正方形/長方形 19">
            <a:extLst>
              <a:ext uri="{FF2B5EF4-FFF2-40B4-BE49-F238E27FC236}">
                <a16:creationId xmlns:a16="http://schemas.microsoft.com/office/drawing/2014/main" id="{B9EEE9E5-5775-AFA2-CA62-0DB27641D35B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D529EC-D259-6FE0-7A61-E061462AA0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3451834-AB87-829B-2B85-7C4A91514A3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pic>
        <p:nvPicPr>
          <p:cNvPr id="6" name="図 12">
            <a:extLst>
              <a:ext uri="{FF2B5EF4-FFF2-40B4-BE49-F238E27FC236}">
                <a16:creationId xmlns:a16="http://schemas.microsoft.com/office/drawing/2014/main" id="{254328DF-D719-8663-BC31-4DA264E32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正方形/長方形 15">
            <a:extLst>
              <a:ext uri="{FF2B5EF4-FFF2-40B4-BE49-F238E27FC236}">
                <a16:creationId xmlns:a16="http://schemas.microsoft.com/office/drawing/2014/main" id="{A39FAFF1-2227-FA9D-2DBB-0197937E9351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16">
            <a:extLst>
              <a:ext uri="{FF2B5EF4-FFF2-40B4-BE49-F238E27FC236}">
                <a16:creationId xmlns:a16="http://schemas.microsoft.com/office/drawing/2014/main" id="{B986A065-693B-989C-D8F1-F7CFAE55DF00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9" name="正方形/長方形 17">
            <a:extLst>
              <a:ext uri="{FF2B5EF4-FFF2-40B4-BE49-F238E27FC236}">
                <a16:creationId xmlns:a16="http://schemas.microsoft.com/office/drawing/2014/main" id="{E31B1BB8-371F-ABDD-429C-FAE7B3DFA146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10" name="直線コネクタ 8">
            <a:extLst>
              <a:ext uri="{FF2B5EF4-FFF2-40B4-BE49-F238E27FC236}">
                <a16:creationId xmlns:a16="http://schemas.microsoft.com/office/drawing/2014/main" id="{02398B39-7927-3FAD-F9F2-A7CFA73F050E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7FC1E9"/>
            </a:solidFill>
            <a:prstDash val="solid"/>
            <a:miter/>
          </a:ln>
        </p:spPr>
      </p:cxnSp>
      <p:cxnSp>
        <p:nvCxnSpPr>
          <p:cNvPr id="11" name="直線コネクタ 21">
            <a:extLst>
              <a:ext uri="{FF2B5EF4-FFF2-40B4-BE49-F238E27FC236}">
                <a16:creationId xmlns:a16="http://schemas.microsoft.com/office/drawing/2014/main" id="{2D2FB5DB-FC49-637F-F7BB-6B240658A767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A7E8F7A-89D9-AA3C-32CF-1C4BA18A8E5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DC9440C4-B12E-3B43-A1C7-6D65757BCCCE}" type="slidenum">
              <a:t>‹#›</a:t>
            </a:fld>
            <a:endParaRPr lang="en-US"/>
          </a:p>
        </p:txBody>
      </p:sp>
      <p:pic>
        <p:nvPicPr>
          <p:cNvPr id="13" name="図 4">
            <a:extLst>
              <a:ext uri="{FF2B5EF4-FFF2-40B4-BE49-F238E27FC236}">
                <a16:creationId xmlns:a16="http://schemas.microsoft.com/office/drawing/2014/main" id="{75AD77BE-7B72-625B-D638-067DDB499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5D2D8985-C6C2-E089-94A2-993E71C059B4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380921385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見出し　赤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7">
            <a:extLst>
              <a:ext uri="{FF2B5EF4-FFF2-40B4-BE49-F238E27FC236}">
                <a16:creationId xmlns:a16="http://schemas.microsoft.com/office/drawing/2014/main" id="{D737C941-8340-805C-E2FC-FDE9CDBE978C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3" name="直線コネクタ 22">
            <a:extLst>
              <a:ext uri="{FF2B5EF4-FFF2-40B4-BE49-F238E27FC236}">
                <a16:creationId xmlns:a16="http://schemas.microsoft.com/office/drawing/2014/main" id="{8E162812-4B4C-45EC-A6A7-EEB73F7C076C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4" name="正方形/長方形 11">
            <a:extLst>
              <a:ext uri="{FF2B5EF4-FFF2-40B4-BE49-F238E27FC236}">
                <a16:creationId xmlns:a16="http://schemas.microsoft.com/office/drawing/2014/main" id="{A87B75DB-D201-322A-1039-B4C3DC738CD4}"/>
              </a:ext>
            </a:extLst>
          </p:cNvPr>
          <p:cNvSpPr/>
          <p:nvPr/>
        </p:nvSpPr>
        <p:spPr>
          <a:xfrm>
            <a:off x="666003" y="3600001"/>
            <a:ext cx="7200003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12">
            <a:extLst>
              <a:ext uri="{FF2B5EF4-FFF2-40B4-BE49-F238E27FC236}">
                <a16:creationId xmlns:a16="http://schemas.microsoft.com/office/drawing/2014/main" id="{7C7F3183-9DC4-0454-FA0C-ADF08DE8FC19}"/>
              </a:ext>
            </a:extLst>
          </p:cNvPr>
          <p:cNvSpPr/>
          <p:nvPr/>
        </p:nvSpPr>
        <p:spPr>
          <a:xfrm>
            <a:off x="7865815" y="360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13">
            <a:extLst>
              <a:ext uri="{FF2B5EF4-FFF2-40B4-BE49-F238E27FC236}">
                <a16:creationId xmlns:a16="http://schemas.microsoft.com/office/drawing/2014/main" id="{BE2512E6-6095-7B8B-78DE-CE8F66E77D48}"/>
              </a:ext>
            </a:extLst>
          </p:cNvPr>
          <p:cNvSpPr/>
          <p:nvPr/>
        </p:nvSpPr>
        <p:spPr>
          <a:xfrm>
            <a:off x="8585813" y="360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14">
            <a:extLst>
              <a:ext uri="{FF2B5EF4-FFF2-40B4-BE49-F238E27FC236}">
                <a16:creationId xmlns:a16="http://schemas.microsoft.com/office/drawing/2014/main" id="{A648C6C3-319C-DBEB-7AC2-9806AFE09823}"/>
              </a:ext>
            </a:extLst>
          </p:cNvPr>
          <p:cNvSpPr/>
          <p:nvPr/>
        </p:nvSpPr>
        <p:spPr>
          <a:xfrm>
            <a:off x="9305812" y="360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C434057-A8E4-AA0E-92B0-3BCE4561FE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5C253A8-C666-AF30-8865-70DEA504763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31F7FDD-263E-DEC6-03B7-7FBD57AFC54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6CB24ED0-999C-FA4B-A574-35DA35442F87}" type="slidenum">
              <a:t>‹#›</a:t>
            </a:fld>
            <a:endParaRPr lang="en-US"/>
          </a:p>
        </p:txBody>
      </p:sp>
      <p:pic>
        <p:nvPicPr>
          <p:cNvPr id="11" name="図 19">
            <a:extLst>
              <a:ext uri="{FF2B5EF4-FFF2-40B4-BE49-F238E27FC236}">
                <a16:creationId xmlns:a16="http://schemas.microsoft.com/office/drawing/2014/main" id="{B2EA4662-7861-1D21-B499-105C8C8E4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AE299CCE-656B-5D61-7ABD-17E9FA404EFF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643505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　赤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5">
            <a:extLst>
              <a:ext uri="{FF2B5EF4-FFF2-40B4-BE49-F238E27FC236}">
                <a16:creationId xmlns:a16="http://schemas.microsoft.com/office/drawing/2014/main" id="{3E5BFDC3-D231-CD27-D97D-5AC0E97BC0AA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93D8A-5CD3-B489-34E8-74FAED79D5D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cxnSp>
        <p:nvCxnSpPr>
          <p:cNvPr id="4" name="直線コネクタ 21">
            <a:extLst>
              <a:ext uri="{FF2B5EF4-FFF2-40B4-BE49-F238E27FC236}">
                <a16:creationId xmlns:a16="http://schemas.microsoft.com/office/drawing/2014/main" id="{63661C5A-934F-9232-121C-C866CDB9104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5" name="正方形/長方形 24">
            <a:extLst>
              <a:ext uri="{FF2B5EF4-FFF2-40B4-BE49-F238E27FC236}">
                <a16:creationId xmlns:a16="http://schemas.microsoft.com/office/drawing/2014/main" id="{6D47856A-2FDF-E0A5-FD18-95420F2B5A35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25">
            <a:extLst>
              <a:ext uri="{FF2B5EF4-FFF2-40B4-BE49-F238E27FC236}">
                <a16:creationId xmlns:a16="http://schemas.microsoft.com/office/drawing/2014/main" id="{185ABE00-7578-A98A-7C51-6F7E96F6BACB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26">
            <a:extLst>
              <a:ext uri="{FF2B5EF4-FFF2-40B4-BE49-F238E27FC236}">
                <a16:creationId xmlns:a16="http://schemas.microsoft.com/office/drawing/2014/main" id="{F8A120AD-6007-A81C-D9CC-09E75BE18372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27">
            <a:extLst>
              <a:ext uri="{FF2B5EF4-FFF2-40B4-BE49-F238E27FC236}">
                <a16:creationId xmlns:a16="http://schemas.microsoft.com/office/drawing/2014/main" id="{A501AB16-AD01-DE9F-3BD8-FD13497C03BD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9" name="直線コネクタ 28">
            <a:extLst>
              <a:ext uri="{FF2B5EF4-FFF2-40B4-BE49-F238E27FC236}">
                <a16:creationId xmlns:a16="http://schemas.microsoft.com/office/drawing/2014/main" id="{097650C1-ECBE-78A3-4BDD-4C0A6F6BC0EE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EF9B86"/>
            </a:solidFill>
            <a:prstDash val="solid"/>
            <a:miter/>
          </a:ln>
        </p:spPr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CFF8012E-CBB7-27D4-8F33-9E10BDF8FF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pic>
        <p:nvPicPr>
          <p:cNvPr id="11" name="図 16">
            <a:extLst>
              <a:ext uri="{FF2B5EF4-FFF2-40B4-BE49-F238E27FC236}">
                <a16:creationId xmlns:a16="http://schemas.microsoft.com/office/drawing/2014/main" id="{126766B6-139E-377A-5F57-C1D2A7CF2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07F548-19D3-7AF8-E987-31B082CA61F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358B1DF8-205D-8442-846A-336D324D003F}" type="slidenum">
              <a:t>‹#›</a:t>
            </a:fld>
            <a:endParaRPr lang="en-US"/>
          </a:p>
        </p:txBody>
      </p:sp>
      <p:pic>
        <p:nvPicPr>
          <p:cNvPr id="13" name="図 19">
            <a:extLst>
              <a:ext uri="{FF2B5EF4-FFF2-40B4-BE49-F238E27FC236}">
                <a16:creationId xmlns:a16="http://schemas.microsoft.com/office/drawing/2014/main" id="{8EAE1946-BC42-512C-5B53-66C901975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054DABCD-2DD1-6754-6224-EE65F688F8B5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046630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見出し　黄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2">
            <a:extLst>
              <a:ext uri="{FF2B5EF4-FFF2-40B4-BE49-F238E27FC236}">
                <a16:creationId xmlns:a16="http://schemas.microsoft.com/office/drawing/2014/main" id="{0AC44670-59C5-118F-09C0-13E1013BADC0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3" name="直線コネクタ 22">
            <a:extLst>
              <a:ext uri="{FF2B5EF4-FFF2-40B4-BE49-F238E27FC236}">
                <a16:creationId xmlns:a16="http://schemas.microsoft.com/office/drawing/2014/main" id="{638FDF16-444E-F7B0-4C82-B354C69342E0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4" name="正方形/長方形 18">
            <a:extLst>
              <a:ext uri="{FF2B5EF4-FFF2-40B4-BE49-F238E27FC236}">
                <a16:creationId xmlns:a16="http://schemas.microsoft.com/office/drawing/2014/main" id="{F09DEF46-456E-073B-CCE0-E7BCF7E60F59}"/>
              </a:ext>
            </a:extLst>
          </p:cNvPr>
          <p:cNvSpPr/>
          <p:nvPr/>
        </p:nvSpPr>
        <p:spPr>
          <a:xfrm>
            <a:off x="666003" y="360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19">
            <a:extLst>
              <a:ext uri="{FF2B5EF4-FFF2-40B4-BE49-F238E27FC236}">
                <a16:creationId xmlns:a16="http://schemas.microsoft.com/office/drawing/2014/main" id="{E034D930-53ED-7AB1-553F-40A4C13ACF55}"/>
              </a:ext>
            </a:extLst>
          </p:cNvPr>
          <p:cNvSpPr/>
          <p:nvPr/>
        </p:nvSpPr>
        <p:spPr>
          <a:xfrm>
            <a:off x="1386001" y="3600001"/>
            <a:ext cx="7200003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20">
            <a:extLst>
              <a:ext uri="{FF2B5EF4-FFF2-40B4-BE49-F238E27FC236}">
                <a16:creationId xmlns:a16="http://schemas.microsoft.com/office/drawing/2014/main" id="{A7E29FAA-A7BA-82B6-848C-317871A9A312}"/>
              </a:ext>
            </a:extLst>
          </p:cNvPr>
          <p:cNvSpPr/>
          <p:nvPr/>
        </p:nvSpPr>
        <p:spPr>
          <a:xfrm>
            <a:off x="8585813" y="360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21">
            <a:extLst>
              <a:ext uri="{FF2B5EF4-FFF2-40B4-BE49-F238E27FC236}">
                <a16:creationId xmlns:a16="http://schemas.microsoft.com/office/drawing/2014/main" id="{E7D4FB5F-A735-42F1-E51A-0172A714BDA4}"/>
              </a:ext>
            </a:extLst>
          </p:cNvPr>
          <p:cNvSpPr/>
          <p:nvPr/>
        </p:nvSpPr>
        <p:spPr>
          <a:xfrm>
            <a:off x="9305812" y="360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05C94E-06B4-91A5-F199-60561F4076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688ACD0-C4A2-7A06-5793-758767BA1BA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B6F54BB-5223-3D71-BBD0-E70A960B230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14B42BB4-DF6D-DD46-B6C0-55E5AE9A0BAF}" type="slidenum">
              <a:t>‹#›</a:t>
            </a:fld>
            <a:endParaRPr lang="en-US"/>
          </a:p>
        </p:txBody>
      </p:sp>
      <p:pic>
        <p:nvPicPr>
          <p:cNvPr id="11" name="図 14">
            <a:extLst>
              <a:ext uri="{FF2B5EF4-FFF2-40B4-BE49-F238E27FC236}">
                <a16:creationId xmlns:a16="http://schemas.microsoft.com/office/drawing/2014/main" id="{6ECC769D-1A52-7F1D-4E7C-678D16662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2BECF958-01B5-5507-725A-CBBC7DCBE617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395324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タイトルとコンテンツ　黄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5">
            <a:extLst>
              <a:ext uri="{FF2B5EF4-FFF2-40B4-BE49-F238E27FC236}">
                <a16:creationId xmlns:a16="http://schemas.microsoft.com/office/drawing/2014/main" id="{660CB1BF-6AA6-86C2-296A-29C6A6503787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06437-7BB9-1C30-57BB-633455F678AE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cxnSp>
        <p:nvCxnSpPr>
          <p:cNvPr id="4" name="直線コネクタ 21">
            <a:extLst>
              <a:ext uri="{FF2B5EF4-FFF2-40B4-BE49-F238E27FC236}">
                <a16:creationId xmlns:a16="http://schemas.microsoft.com/office/drawing/2014/main" id="{7D35736C-2A65-DA57-92C4-7DE8D7D65EC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cxnSp>
        <p:nvCxnSpPr>
          <p:cNvPr id="5" name="直線コネクタ 19">
            <a:extLst>
              <a:ext uri="{FF2B5EF4-FFF2-40B4-BE49-F238E27FC236}">
                <a16:creationId xmlns:a16="http://schemas.microsoft.com/office/drawing/2014/main" id="{CF9774FE-8A34-3B4C-9530-5D03D58FA0B1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FBD13E"/>
            </a:solidFill>
            <a:prstDash val="solid"/>
            <a:miter/>
          </a:ln>
        </p:spPr>
      </p:cxnSp>
      <p:sp>
        <p:nvSpPr>
          <p:cNvPr id="6" name="正方形/長方形 20">
            <a:extLst>
              <a:ext uri="{FF2B5EF4-FFF2-40B4-BE49-F238E27FC236}">
                <a16:creationId xmlns:a16="http://schemas.microsoft.com/office/drawing/2014/main" id="{ACDA631B-C71A-693B-01EF-29ABCB17FCEE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30">
            <a:extLst>
              <a:ext uri="{FF2B5EF4-FFF2-40B4-BE49-F238E27FC236}">
                <a16:creationId xmlns:a16="http://schemas.microsoft.com/office/drawing/2014/main" id="{1CCD2D0F-B1CC-2452-283E-87024A5696A9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31">
            <a:extLst>
              <a:ext uri="{FF2B5EF4-FFF2-40B4-BE49-F238E27FC236}">
                <a16:creationId xmlns:a16="http://schemas.microsoft.com/office/drawing/2014/main" id="{F8A86C24-62C4-E53C-6E90-1E299C24E9AF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9" name="正方形/長方形 32">
            <a:extLst>
              <a:ext uri="{FF2B5EF4-FFF2-40B4-BE49-F238E27FC236}">
                <a16:creationId xmlns:a16="http://schemas.microsoft.com/office/drawing/2014/main" id="{0C2D7AAC-C2D6-0652-8123-C757CAC24A98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238CAA4-DC42-9839-E021-F40BEB1F14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pic>
        <p:nvPicPr>
          <p:cNvPr id="11" name="図 16">
            <a:extLst>
              <a:ext uri="{FF2B5EF4-FFF2-40B4-BE49-F238E27FC236}">
                <a16:creationId xmlns:a16="http://schemas.microsoft.com/office/drawing/2014/main" id="{5F835099-F6B0-3B7E-3466-3AD3F3162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216A5D1-FA66-7D20-68B4-AFED86D9950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369F36D1-5BAD-4045-B7CE-54E3857C8555}" type="slidenum">
              <a:t>‹#›</a:t>
            </a:fld>
            <a:endParaRPr lang="en-US"/>
          </a:p>
        </p:txBody>
      </p:sp>
      <p:pic>
        <p:nvPicPr>
          <p:cNvPr id="13" name="図 22">
            <a:extLst>
              <a:ext uri="{FF2B5EF4-FFF2-40B4-BE49-F238E27FC236}">
                <a16:creationId xmlns:a16="http://schemas.microsoft.com/office/drawing/2014/main" id="{CC2E54AB-C0B9-2D43-6EA0-D20EAA287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7E5230E8-E9DA-2902-4B9A-A7C22C457293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00162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見出し　紺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7">
            <a:extLst>
              <a:ext uri="{FF2B5EF4-FFF2-40B4-BE49-F238E27FC236}">
                <a16:creationId xmlns:a16="http://schemas.microsoft.com/office/drawing/2014/main" id="{A0BBB0A7-1268-58A4-AE30-311E375B4862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3" name="直線コネクタ 22">
            <a:extLst>
              <a:ext uri="{FF2B5EF4-FFF2-40B4-BE49-F238E27FC236}">
                <a16:creationId xmlns:a16="http://schemas.microsoft.com/office/drawing/2014/main" id="{12A8B6B4-3500-C99D-C3AD-507026CC4F5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4" name="正方形/長方形 11">
            <a:extLst>
              <a:ext uri="{FF2B5EF4-FFF2-40B4-BE49-F238E27FC236}">
                <a16:creationId xmlns:a16="http://schemas.microsoft.com/office/drawing/2014/main" id="{529F83BB-F53A-1D89-6292-D26F8EDFBC6E}"/>
              </a:ext>
            </a:extLst>
          </p:cNvPr>
          <p:cNvSpPr/>
          <p:nvPr/>
        </p:nvSpPr>
        <p:spPr>
          <a:xfrm>
            <a:off x="666003" y="360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12">
            <a:extLst>
              <a:ext uri="{FF2B5EF4-FFF2-40B4-BE49-F238E27FC236}">
                <a16:creationId xmlns:a16="http://schemas.microsoft.com/office/drawing/2014/main" id="{60920373-5EDE-A216-8A67-FABE22CAAA38}"/>
              </a:ext>
            </a:extLst>
          </p:cNvPr>
          <p:cNvSpPr/>
          <p:nvPr/>
        </p:nvSpPr>
        <p:spPr>
          <a:xfrm>
            <a:off x="1386001" y="360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13">
            <a:extLst>
              <a:ext uri="{FF2B5EF4-FFF2-40B4-BE49-F238E27FC236}">
                <a16:creationId xmlns:a16="http://schemas.microsoft.com/office/drawing/2014/main" id="{087D90BB-4DB6-DB0D-B4BF-2CB67A7B025E}"/>
              </a:ext>
            </a:extLst>
          </p:cNvPr>
          <p:cNvSpPr/>
          <p:nvPr/>
        </p:nvSpPr>
        <p:spPr>
          <a:xfrm>
            <a:off x="2106000" y="360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14">
            <a:extLst>
              <a:ext uri="{FF2B5EF4-FFF2-40B4-BE49-F238E27FC236}">
                <a16:creationId xmlns:a16="http://schemas.microsoft.com/office/drawing/2014/main" id="{A75BD476-2392-0A14-1B15-FC8DB1D109FD}"/>
              </a:ext>
            </a:extLst>
          </p:cNvPr>
          <p:cNvSpPr/>
          <p:nvPr/>
        </p:nvSpPr>
        <p:spPr>
          <a:xfrm>
            <a:off x="2825998" y="3600001"/>
            <a:ext cx="7200003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0F4A9DB-358F-2508-9062-0CCCAD14A6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136E5E6-A9DF-F21E-8CBC-BA7EF75D631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7383AC-38B2-02F0-A94E-39A9DA924C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D45FB087-3075-514E-BD00-C91A3BA8C070}" type="slidenum">
              <a:t>‹#›</a:t>
            </a:fld>
            <a:endParaRPr lang="en-US"/>
          </a:p>
        </p:txBody>
      </p:sp>
      <p:pic>
        <p:nvPicPr>
          <p:cNvPr id="11" name="図 19">
            <a:extLst>
              <a:ext uri="{FF2B5EF4-FFF2-40B4-BE49-F238E27FC236}">
                <a16:creationId xmlns:a16="http://schemas.microsoft.com/office/drawing/2014/main" id="{8BDC95A1-4088-1888-66A5-CA9CADE89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83E128C5-B258-14B6-D9E9-40DDAB0AA88D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2137082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　紺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5">
            <a:extLst>
              <a:ext uri="{FF2B5EF4-FFF2-40B4-BE49-F238E27FC236}">
                <a16:creationId xmlns:a16="http://schemas.microsoft.com/office/drawing/2014/main" id="{7A091449-DD3A-4C7B-FE8D-A52B658D8B1F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F61DD-0F79-4E97-1B1F-81429212034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cxnSp>
        <p:nvCxnSpPr>
          <p:cNvPr id="4" name="直線コネクタ 21">
            <a:extLst>
              <a:ext uri="{FF2B5EF4-FFF2-40B4-BE49-F238E27FC236}">
                <a16:creationId xmlns:a16="http://schemas.microsoft.com/office/drawing/2014/main" id="{965C57A0-5929-8DD3-CE11-A13335F2A19E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5" name="正方形/長方形 24">
            <a:extLst>
              <a:ext uri="{FF2B5EF4-FFF2-40B4-BE49-F238E27FC236}">
                <a16:creationId xmlns:a16="http://schemas.microsoft.com/office/drawing/2014/main" id="{7548250C-068C-D1BA-CDE1-EE3094F2EF72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25">
            <a:extLst>
              <a:ext uri="{FF2B5EF4-FFF2-40B4-BE49-F238E27FC236}">
                <a16:creationId xmlns:a16="http://schemas.microsoft.com/office/drawing/2014/main" id="{E124B373-2FD2-6C9B-A777-D59E5C1BEDB3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26">
            <a:extLst>
              <a:ext uri="{FF2B5EF4-FFF2-40B4-BE49-F238E27FC236}">
                <a16:creationId xmlns:a16="http://schemas.microsoft.com/office/drawing/2014/main" id="{0EB5AE2C-9B0A-37DD-12FF-9F2125E9C063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27">
            <a:extLst>
              <a:ext uri="{FF2B5EF4-FFF2-40B4-BE49-F238E27FC236}">
                <a16:creationId xmlns:a16="http://schemas.microsoft.com/office/drawing/2014/main" id="{B5720E76-DED6-DF25-9618-D06434E82574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9" name="直線コネクタ 28">
            <a:extLst>
              <a:ext uri="{FF2B5EF4-FFF2-40B4-BE49-F238E27FC236}">
                <a16:creationId xmlns:a16="http://schemas.microsoft.com/office/drawing/2014/main" id="{F41C3561-1EC7-5536-7233-911B314C35B6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0057BA"/>
            </a:solidFill>
            <a:prstDash val="solid"/>
            <a:miter/>
          </a:ln>
        </p:spPr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B8F57C4F-A389-56CF-A75C-00D0A90A23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pic>
        <p:nvPicPr>
          <p:cNvPr id="11" name="図 16">
            <a:extLst>
              <a:ext uri="{FF2B5EF4-FFF2-40B4-BE49-F238E27FC236}">
                <a16:creationId xmlns:a16="http://schemas.microsoft.com/office/drawing/2014/main" id="{B0A72B1B-5DA4-E188-C207-65B6263D8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FCC3E58-FBB1-8F5E-0CE8-C6917C4C1AF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53B3784E-79CC-4540-8FBC-123B41A378A3}" type="slidenum">
              <a:t>‹#›</a:t>
            </a:fld>
            <a:endParaRPr lang="en-US"/>
          </a:p>
        </p:txBody>
      </p:sp>
      <p:pic>
        <p:nvPicPr>
          <p:cNvPr id="13" name="図 19">
            <a:extLst>
              <a:ext uri="{FF2B5EF4-FFF2-40B4-BE49-F238E27FC236}">
                <a16:creationId xmlns:a16="http://schemas.microsoft.com/office/drawing/2014/main" id="{90E2B475-1FDC-6BAB-DE5F-64D69355E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94B34B0F-3A95-35D1-2FB7-98E16240E6E9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369125371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最終ページ　機構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2">
            <a:extLst>
              <a:ext uri="{FF2B5EF4-FFF2-40B4-BE49-F238E27FC236}">
                <a16:creationId xmlns:a16="http://schemas.microsoft.com/office/drawing/2014/main" id="{75082A31-C168-D6C6-AC8A-A3773D30AC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8723" y="-134389"/>
            <a:ext cx="10697894" cy="755967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正方形/長方形 17">
            <a:extLst>
              <a:ext uri="{FF2B5EF4-FFF2-40B4-BE49-F238E27FC236}">
                <a16:creationId xmlns:a16="http://schemas.microsoft.com/office/drawing/2014/main" id="{A8DD3423-FB3B-937B-2C87-80D077A11B0D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4" name="直線コネクタ 18">
            <a:extLst>
              <a:ext uri="{FF2B5EF4-FFF2-40B4-BE49-F238E27FC236}">
                <a16:creationId xmlns:a16="http://schemas.microsoft.com/office/drawing/2014/main" id="{027AEC8D-9664-EC85-66CC-ADE8AFAD344A}"/>
              </a:ext>
            </a:extLst>
          </p:cNvPr>
          <p:cNvCxnSpPr/>
          <p:nvPr/>
        </p:nvCxnSpPr>
        <p:spPr>
          <a:xfrm>
            <a:off x="-5779" y="4171895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cxnSp>
        <p:nvCxnSpPr>
          <p:cNvPr id="5" name="直線コネクタ 19">
            <a:extLst>
              <a:ext uri="{FF2B5EF4-FFF2-40B4-BE49-F238E27FC236}">
                <a16:creationId xmlns:a16="http://schemas.microsoft.com/office/drawing/2014/main" id="{0555994C-B100-08B3-29B2-0B5250F54793}"/>
              </a:ext>
            </a:extLst>
          </p:cNvPr>
          <p:cNvCxnSpPr/>
          <p:nvPr/>
        </p:nvCxnSpPr>
        <p:spPr>
          <a:xfrm>
            <a:off x="-103025" y="7155938"/>
            <a:ext cx="10692005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66145D53-E3C5-D7E8-12A1-2565394935FB}"/>
              </a:ext>
            </a:extLst>
          </p:cNvPr>
          <p:cNvSpPr txBox="1"/>
          <p:nvPr/>
        </p:nvSpPr>
        <p:spPr>
          <a:xfrm>
            <a:off x="1349087" y="1790925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心豊かな未来を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SuMPO</a:t>
            </a: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の業で創ります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14CF2F4-0B6E-163E-4B33-4C1B6F51AB42}"/>
              </a:ext>
            </a:extLst>
          </p:cNvPr>
          <p:cNvSpPr txBox="1"/>
          <p:nvPr/>
        </p:nvSpPr>
        <p:spPr>
          <a:xfrm>
            <a:off x="4894627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さんぽ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2C953A5-1E8D-0F53-1798-AFA724638ABA}"/>
              </a:ext>
            </a:extLst>
          </p:cNvPr>
          <p:cNvSpPr txBox="1"/>
          <p:nvPr/>
        </p:nvSpPr>
        <p:spPr>
          <a:xfrm>
            <a:off x="5664625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わざ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B574452-C370-8DDC-1DE3-8044FC8A6E6F}"/>
              </a:ext>
            </a:extLst>
          </p:cNvPr>
          <p:cNvSpPr txBox="1"/>
          <p:nvPr/>
        </p:nvSpPr>
        <p:spPr>
          <a:xfrm>
            <a:off x="1349087" y="4238271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20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一般社団法人サステナブル経営推進機構</a:t>
            </a:r>
            <a:endParaRPr lang="en-US" sz="20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0" name="正方形/長方形 21">
            <a:extLst>
              <a:ext uri="{FF2B5EF4-FFF2-40B4-BE49-F238E27FC236}">
                <a16:creationId xmlns:a16="http://schemas.microsoft.com/office/drawing/2014/main" id="{0FE38F54-769B-A094-5467-3B03A8C1F2A0}"/>
              </a:ext>
            </a:extLst>
          </p:cNvPr>
          <p:cNvSpPr/>
          <p:nvPr/>
        </p:nvSpPr>
        <p:spPr>
          <a:xfrm>
            <a:off x="-10543" y="-136785"/>
            <a:ext cx="10705914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pic>
        <p:nvPicPr>
          <p:cNvPr id="11" name="図 15">
            <a:extLst>
              <a:ext uri="{FF2B5EF4-FFF2-40B4-BE49-F238E27FC236}">
                <a16:creationId xmlns:a16="http://schemas.microsoft.com/office/drawing/2014/main" id="{25C6B963-7DB3-B742-5FCA-366FBC4F7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604" y="3855156"/>
            <a:ext cx="4223823" cy="26205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2076600F-9FF1-C355-019F-6DB5BE3BB1B2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D2311CE0-1963-D5F6-EDA3-D8F010A5702B}"/>
              </a:ext>
            </a:extLst>
          </p:cNvPr>
          <p:cNvSpPr txBox="1"/>
          <p:nvPr/>
        </p:nvSpPr>
        <p:spPr>
          <a:xfrm>
            <a:off x="1309420" y="5012813"/>
            <a:ext cx="3910870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101-0047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東京都千代田区内神田一丁目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8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KANDA SQUARE GATE 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F125F4B3-F12D-65EE-F467-FB0313C9FE0B}"/>
              </a:ext>
            </a:extLst>
          </p:cNvPr>
          <p:cNvSpPr txBox="1"/>
          <p:nvPr/>
        </p:nvSpPr>
        <p:spPr>
          <a:xfrm>
            <a:off x="5769982" y="5003779"/>
            <a:ext cx="4084048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101-0052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東京都千代田区神田小川町二丁目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16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いちご神田小川町ビル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 3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F0E8206B-9BB3-7424-AAC8-5D8AF3DC028A}"/>
              </a:ext>
            </a:extLst>
          </p:cNvPr>
          <p:cNvSpPr txBox="1"/>
          <p:nvPr/>
        </p:nvSpPr>
        <p:spPr>
          <a:xfrm>
            <a:off x="1142113" y="4700528"/>
            <a:ext cx="88801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本部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918FB4D1-38C2-F4B2-46E0-1025729B2310}"/>
              </a:ext>
            </a:extLst>
          </p:cNvPr>
          <p:cNvSpPr txBox="1"/>
          <p:nvPr/>
        </p:nvSpPr>
        <p:spPr>
          <a:xfrm>
            <a:off x="5664195" y="4705237"/>
            <a:ext cx="217949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神田小川町オフィス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29A33360-DF0E-2759-6ACC-68974DEFF633}"/>
              </a:ext>
            </a:extLst>
          </p:cNvPr>
          <p:cNvSpPr txBox="1"/>
          <p:nvPr/>
        </p:nvSpPr>
        <p:spPr>
          <a:xfrm>
            <a:off x="1309420" y="6130859"/>
            <a:ext cx="4181926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460-0022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愛知県名古屋市中区金山一丁目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12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金山総合ビル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7F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（株式会社フルハシ環境総合研究所内）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B27D49FC-C2C5-9A08-EE2E-498FBAE20BF0}"/>
              </a:ext>
            </a:extLst>
          </p:cNvPr>
          <p:cNvSpPr txBox="1"/>
          <p:nvPr/>
        </p:nvSpPr>
        <p:spPr>
          <a:xfrm>
            <a:off x="5769982" y="6120280"/>
            <a:ext cx="4369496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700-0082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岡山県岡山市北区津島中一丁目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岡山大インキュベータ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210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号室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FC5C4648-AE37-311B-DFAB-ACFEB10D0101}"/>
              </a:ext>
            </a:extLst>
          </p:cNvPr>
          <p:cNvSpPr txBox="1"/>
          <p:nvPr/>
        </p:nvSpPr>
        <p:spPr>
          <a:xfrm>
            <a:off x="1142113" y="5818574"/>
            <a:ext cx="1886215" cy="33278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名古屋オフィス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D1AA7C8E-6849-A1AA-EBA7-0F841EC3ABF0}"/>
              </a:ext>
            </a:extLst>
          </p:cNvPr>
          <p:cNvSpPr txBox="1"/>
          <p:nvPr/>
        </p:nvSpPr>
        <p:spPr>
          <a:xfrm>
            <a:off x="5358512" y="5823283"/>
            <a:ext cx="217949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岡山オフィス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21" name="テキスト ボックス 22">
            <a:extLst>
              <a:ext uri="{FF2B5EF4-FFF2-40B4-BE49-F238E27FC236}">
                <a16:creationId xmlns:a16="http://schemas.microsoft.com/office/drawing/2014/main" id="{1831CEE1-23E0-5344-066F-1FC7989AE4A8}"/>
              </a:ext>
            </a:extLst>
          </p:cNvPr>
          <p:cNvSpPr txBox="1"/>
          <p:nvPr/>
        </p:nvSpPr>
        <p:spPr>
          <a:xfrm>
            <a:off x="2634980" y="6840864"/>
            <a:ext cx="5447071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ホームページ　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https://sumpo.or.jp</a:t>
            </a:r>
          </a:p>
        </p:txBody>
      </p:sp>
    </p:spTree>
    <p:extLst>
      <p:ext uri="{BB962C8B-B14F-4D97-AF65-F5344CB8AC3E}">
        <p14:creationId xmlns:p14="http://schemas.microsoft.com/office/powerpoint/2010/main" val="4209846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最終ページ　機構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2">
            <a:extLst>
              <a:ext uri="{FF2B5EF4-FFF2-40B4-BE49-F238E27FC236}">
                <a16:creationId xmlns:a16="http://schemas.microsoft.com/office/drawing/2014/main" id="{29FCEB5A-F733-3BBC-BE63-14AAB7ADE6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8723" y="-134389"/>
            <a:ext cx="10697894" cy="755967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正方形/長方形 17">
            <a:extLst>
              <a:ext uri="{FF2B5EF4-FFF2-40B4-BE49-F238E27FC236}">
                <a16:creationId xmlns:a16="http://schemas.microsoft.com/office/drawing/2014/main" id="{FED3A17C-71C7-2378-4788-53755792FE31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4" name="直線コネクタ 18">
            <a:extLst>
              <a:ext uri="{FF2B5EF4-FFF2-40B4-BE49-F238E27FC236}">
                <a16:creationId xmlns:a16="http://schemas.microsoft.com/office/drawing/2014/main" id="{45B9F432-410E-DEC8-8047-C12AB8E1E85F}"/>
              </a:ext>
            </a:extLst>
          </p:cNvPr>
          <p:cNvCxnSpPr/>
          <p:nvPr/>
        </p:nvCxnSpPr>
        <p:spPr>
          <a:xfrm>
            <a:off x="-5779" y="4171895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cxnSp>
        <p:nvCxnSpPr>
          <p:cNvPr id="5" name="直線コネクタ 19">
            <a:extLst>
              <a:ext uri="{FF2B5EF4-FFF2-40B4-BE49-F238E27FC236}">
                <a16:creationId xmlns:a16="http://schemas.microsoft.com/office/drawing/2014/main" id="{F3CD5F99-ABE8-9733-269B-68F95428F73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65417C54-FC89-2897-7665-9849960C9256}"/>
              </a:ext>
            </a:extLst>
          </p:cNvPr>
          <p:cNvSpPr txBox="1"/>
          <p:nvPr/>
        </p:nvSpPr>
        <p:spPr>
          <a:xfrm>
            <a:off x="1349087" y="1790925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心豊かな未来を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SuMPO</a:t>
            </a: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の業で創ります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CF4EC6C-41AD-D77F-6EFF-99B1171BF8FF}"/>
              </a:ext>
            </a:extLst>
          </p:cNvPr>
          <p:cNvSpPr txBox="1"/>
          <p:nvPr/>
        </p:nvSpPr>
        <p:spPr>
          <a:xfrm>
            <a:off x="4894627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さんぽ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9FDF73D-E664-3C3C-AECB-BED49BFD30A7}"/>
              </a:ext>
            </a:extLst>
          </p:cNvPr>
          <p:cNvSpPr txBox="1"/>
          <p:nvPr/>
        </p:nvSpPr>
        <p:spPr>
          <a:xfrm>
            <a:off x="5664625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わざ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C3D1659-CE44-8022-CAFD-01B1620116EA}"/>
              </a:ext>
            </a:extLst>
          </p:cNvPr>
          <p:cNvSpPr txBox="1"/>
          <p:nvPr/>
        </p:nvSpPr>
        <p:spPr>
          <a:xfrm>
            <a:off x="1349087" y="4661053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20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一般社団法人サステナブル経営推進機構</a:t>
            </a:r>
            <a:endParaRPr lang="en-US" sz="20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0" name="正方形/長方形 21">
            <a:extLst>
              <a:ext uri="{FF2B5EF4-FFF2-40B4-BE49-F238E27FC236}">
                <a16:creationId xmlns:a16="http://schemas.microsoft.com/office/drawing/2014/main" id="{45E436FA-314E-3CDF-3D96-4B0D0E4628ED}"/>
              </a:ext>
            </a:extLst>
          </p:cNvPr>
          <p:cNvSpPr/>
          <p:nvPr/>
        </p:nvSpPr>
        <p:spPr>
          <a:xfrm>
            <a:off x="-10543" y="-136785"/>
            <a:ext cx="10705914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pic>
        <p:nvPicPr>
          <p:cNvPr id="11" name="図 15">
            <a:extLst>
              <a:ext uri="{FF2B5EF4-FFF2-40B4-BE49-F238E27FC236}">
                <a16:creationId xmlns:a16="http://schemas.microsoft.com/office/drawing/2014/main" id="{F6180DD1-9A9C-93FC-F7C4-E1ED34433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604" y="3855156"/>
            <a:ext cx="4223823" cy="26205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5F7BD7BA-1D30-135F-4744-28DFFC5F3AE0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34EFD97-38BE-DBE4-F6FF-2806D277C0CB}"/>
              </a:ext>
            </a:extLst>
          </p:cNvPr>
          <p:cNvSpPr txBox="1"/>
          <p:nvPr/>
        </p:nvSpPr>
        <p:spPr>
          <a:xfrm>
            <a:off x="1309420" y="5557567"/>
            <a:ext cx="3910870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101-0047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東京都千代田区内神田一丁目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8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KANDA SQUARE GATE 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8959A6F-0AFC-4A10-2D1C-CF8F2826F3D9}"/>
              </a:ext>
            </a:extLst>
          </p:cNvPr>
          <p:cNvSpPr txBox="1"/>
          <p:nvPr/>
        </p:nvSpPr>
        <p:spPr>
          <a:xfrm>
            <a:off x="5769982" y="5548524"/>
            <a:ext cx="4084048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101-0052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東京都千代田区神田小川町二丁目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16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いちご神田小川町ビル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 3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C160C8B6-3D5D-4592-24CC-E4B82F0356FA}"/>
              </a:ext>
            </a:extLst>
          </p:cNvPr>
          <p:cNvSpPr txBox="1"/>
          <p:nvPr/>
        </p:nvSpPr>
        <p:spPr>
          <a:xfrm>
            <a:off x="1142113" y="5245272"/>
            <a:ext cx="88801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本部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7CCADF7E-89CA-0222-9E71-C80402759BB8}"/>
              </a:ext>
            </a:extLst>
          </p:cNvPr>
          <p:cNvSpPr txBox="1"/>
          <p:nvPr/>
        </p:nvSpPr>
        <p:spPr>
          <a:xfrm>
            <a:off x="5664195" y="5249981"/>
            <a:ext cx="217949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神田小川町オフィス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7" name="テキスト ボックス 7">
            <a:extLst>
              <a:ext uri="{FF2B5EF4-FFF2-40B4-BE49-F238E27FC236}">
                <a16:creationId xmlns:a16="http://schemas.microsoft.com/office/drawing/2014/main" id="{5FE3A010-C0D0-5CB2-C9EF-941F0345E8FB}"/>
              </a:ext>
            </a:extLst>
          </p:cNvPr>
          <p:cNvSpPr txBox="1"/>
          <p:nvPr/>
        </p:nvSpPr>
        <p:spPr>
          <a:xfrm>
            <a:off x="2634980" y="6618134"/>
            <a:ext cx="5447071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ホームページ　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https://sumpo.or.jp</a:t>
            </a:r>
          </a:p>
        </p:txBody>
      </p:sp>
    </p:spTree>
    <p:extLst>
      <p:ext uri="{BB962C8B-B14F-4D97-AF65-F5344CB8AC3E}">
        <p14:creationId xmlns:p14="http://schemas.microsoft.com/office/powerpoint/2010/main" val="269360541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最終ページ　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2">
            <a:extLst>
              <a:ext uri="{FF2B5EF4-FFF2-40B4-BE49-F238E27FC236}">
                <a16:creationId xmlns:a16="http://schemas.microsoft.com/office/drawing/2014/main" id="{183D6CEF-9D75-58BF-8167-5A46A4EEFF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8723" y="-134389"/>
            <a:ext cx="10697894" cy="755967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正方形/長方形 7">
            <a:extLst>
              <a:ext uri="{FF2B5EF4-FFF2-40B4-BE49-F238E27FC236}">
                <a16:creationId xmlns:a16="http://schemas.microsoft.com/office/drawing/2014/main" id="{4A07C37B-5D61-5914-7102-6F926E18DC3F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4" name="直線コネクタ 19">
            <a:extLst>
              <a:ext uri="{FF2B5EF4-FFF2-40B4-BE49-F238E27FC236}">
                <a16:creationId xmlns:a16="http://schemas.microsoft.com/office/drawing/2014/main" id="{330D6E9B-C6EE-A0DC-4821-3BC9554E561F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5" name="正方形/長方形 21">
            <a:extLst>
              <a:ext uri="{FF2B5EF4-FFF2-40B4-BE49-F238E27FC236}">
                <a16:creationId xmlns:a16="http://schemas.microsoft.com/office/drawing/2014/main" id="{9DF1F77C-A335-EC48-6482-28D553137F7F}"/>
              </a:ext>
            </a:extLst>
          </p:cNvPr>
          <p:cNvSpPr/>
          <p:nvPr/>
        </p:nvSpPr>
        <p:spPr>
          <a:xfrm>
            <a:off x="-10543" y="-136785"/>
            <a:ext cx="10705914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テキスト ボックス 15">
            <a:extLst>
              <a:ext uri="{FF2B5EF4-FFF2-40B4-BE49-F238E27FC236}">
                <a16:creationId xmlns:a16="http://schemas.microsoft.com/office/drawing/2014/main" id="{C3D35E23-7379-4534-887E-02BB67C6F24E}"/>
              </a:ext>
            </a:extLst>
          </p:cNvPr>
          <p:cNvSpPr txBox="1"/>
          <p:nvPr/>
        </p:nvSpPr>
        <p:spPr>
          <a:xfrm>
            <a:off x="2381874" y="3880420"/>
            <a:ext cx="5916707" cy="4001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2060"/>
                </a:solidFill>
                <a:uFillTx/>
                <a:latin typeface="Calibri"/>
                <a:ea typeface="游ゴシック" pitchFamily="34"/>
              </a:rPr>
              <a:t>Thank you for your attention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64D9FDF-E252-4CE4-2E5E-F8D62F7E303C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3299828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CA11BB-0FCA-14E5-77E7-6D3C641CED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058" y="402482"/>
            <a:ext cx="9221687" cy="146118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C7445-7560-C19C-0A60-EF5222A19A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5058" y="2012411"/>
            <a:ext cx="9221687" cy="47965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F0E83-D2A2-BAF3-C441-4C624011FF33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735058" y="7006699"/>
            <a:ext cx="2405658" cy="4024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23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游ゴシック" pitchFamily="34"/>
              </a:defRPr>
            </a:lvl1pPr>
          </a:lstStyle>
          <a:p>
            <a:pPr lvl="0"/>
            <a:fld id="{CC786BA6-7B56-F543-9072-18E670050153}" type="datetime1">
              <a:rPr lang="en-US"/>
              <a:pPr lvl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ACB77-1F57-9A54-BD63-2A64E4AD477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541663" y="7006699"/>
            <a:ext cx="3608487" cy="4024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23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游ゴシック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9809A-6A04-37EE-29EA-F6680BBD473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551096" y="7006699"/>
            <a:ext cx="2405658" cy="4024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23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游ゴシック" pitchFamily="34"/>
              </a:defRPr>
            </a:lvl1pPr>
          </a:lstStyle>
          <a:p>
            <a:pPr lvl="0"/>
            <a:fld id="{205576F5-C101-5640-84CE-C69780011BCD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1007943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ja-JP" sz="4850" b="0" i="0" u="none" strike="noStrike" kern="1200" cap="none" spc="0" baseline="0">
          <a:solidFill>
            <a:srgbClr val="000000"/>
          </a:solidFill>
          <a:uFillTx/>
          <a:latin typeface="Calibri Light"/>
          <a:ea typeface="游ゴシック Light" pitchFamily="34"/>
        </a:defRPr>
      </a:lvl1pPr>
    </p:titleStyle>
    <p:bodyStyle>
      <a:lvl1pPr marL="251990" marR="0" lvl="0" indent="-251990" algn="l" defTabSz="1007943" rtl="0" fontAlgn="auto" hangingPunct="1">
        <a:lnSpc>
          <a:spcPct val="90000"/>
        </a:lnSpc>
        <a:spcBef>
          <a:spcPts val="1100"/>
        </a:spcBef>
        <a:spcAft>
          <a:spcPts val="0"/>
        </a:spcAft>
        <a:buSzPct val="100000"/>
        <a:buFont typeface="Arial" pitchFamily="34"/>
        <a:buChar char="•"/>
        <a:tabLst/>
        <a:defRPr lang="ja-JP" sz="3086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1pPr>
      <a:lvl2pPr marL="755952" marR="0" lvl="1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2646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2pPr>
      <a:lvl3pPr marL="1259933" marR="0" lvl="2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2205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3pPr>
      <a:lvl4pPr marL="1763895" marR="0" lvl="3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1984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4pPr>
      <a:lvl5pPr marL="2267867" marR="0" lvl="4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1984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17D019-FC36-F0D1-D01A-52F8B40B47F1}"/>
              </a:ext>
            </a:extLst>
          </p:cNvPr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>
                <a:solidFill>
                  <a:srgbClr val="125486"/>
                </a:solidFill>
              </a:rPr>
              <a:t>調査ブロック</a:t>
            </a:r>
            <a:r>
              <a:rPr lang="en-US" altLang="ja-JP" dirty="0">
                <a:solidFill>
                  <a:srgbClr val="125486"/>
                </a:solidFill>
              </a:rPr>
              <a:t>①</a:t>
            </a:r>
            <a:r>
              <a:rPr lang="ja-JP" altLang="en-US">
                <a:solidFill>
                  <a:srgbClr val="125486"/>
                </a:solidFill>
              </a:rPr>
              <a:t>　政策及び制度調査報告</a:t>
            </a:r>
            <a:endParaRPr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2DF0FDD-E431-897B-FF96-EB80B54A73D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36477" y="3970579"/>
            <a:ext cx="8018858" cy="744855"/>
          </a:xfrm>
        </p:spPr>
        <p:txBody>
          <a:bodyPr>
            <a:normAutofit fontScale="85000" lnSpcReduction="10000"/>
          </a:bodyPr>
          <a:lstStyle/>
          <a:p>
            <a:r>
              <a:rPr lang="ja-JP" altLang="en-US">
                <a:solidFill>
                  <a:srgbClr val="444444"/>
                </a:solidFill>
              </a:rPr>
              <a:t>フランス</a:t>
            </a:r>
            <a:r>
              <a:rPr lang="en-GB" altLang="ja-JP" dirty="0">
                <a:solidFill>
                  <a:srgbClr val="444444"/>
                </a:solidFill>
              </a:rPr>
              <a:t>RE2020</a:t>
            </a:r>
            <a:r>
              <a:rPr lang="ja-JP" altLang="en-US">
                <a:solidFill>
                  <a:srgbClr val="444444"/>
                </a:solidFill>
              </a:rPr>
              <a:t>における動的</a:t>
            </a:r>
            <a:r>
              <a:rPr lang="en-GB" altLang="ja-JP" dirty="0">
                <a:solidFill>
                  <a:srgbClr val="444444"/>
                </a:solidFill>
              </a:rPr>
              <a:t>LCA</a:t>
            </a:r>
            <a:r>
              <a:rPr lang="ja-JP" altLang="en-US">
                <a:solidFill>
                  <a:srgbClr val="444444"/>
                </a:solidFill>
              </a:rPr>
              <a:t>制度の全体構造と導入背景
一般社団法人サステナブル経営推進機構（</a:t>
            </a:r>
            <a:r>
              <a:rPr lang="en-GB" altLang="ja-JP" dirty="0" err="1">
                <a:solidFill>
                  <a:srgbClr val="444444"/>
                </a:solidFill>
              </a:rPr>
              <a:t>SuMPO</a:t>
            </a:r>
            <a:r>
              <a:rPr lang="ja-JP" altLang="en-GB">
                <a:solidFill>
                  <a:srgbClr val="444444"/>
                </a:solidFill>
              </a:rPr>
              <a:t>）　</a:t>
            </a:r>
            <a:r>
              <a:rPr lang="en-GB" altLang="ja-JP" dirty="0">
                <a:solidFill>
                  <a:srgbClr val="444444"/>
                </a:solidFill>
              </a:rPr>
              <a:t>2026</a:t>
            </a:r>
            <a:r>
              <a:rPr lang="ja-JP" altLang="en-US">
                <a:solidFill>
                  <a:srgbClr val="444444"/>
                </a:solidFill>
              </a:rPr>
              <a:t>年</a:t>
            </a:r>
            <a:r>
              <a:rPr lang="en-US" altLang="ja-JP" dirty="0">
                <a:solidFill>
                  <a:srgbClr val="444444"/>
                </a:solidFill>
              </a:rPr>
              <a:t>6</a:t>
            </a:r>
            <a:r>
              <a:rPr lang="ja-JP" altLang="en-US">
                <a:solidFill>
                  <a:srgbClr val="444444"/>
                </a:solidFill>
              </a:rPr>
              <a:t>月</a:t>
            </a:r>
          </a:p>
          <a:p>
            <a:endParaRPr lang="ja-JP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61A18-A6D2-0AC0-8668-97F043CB408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2400"/>
              <a:t>Color Palette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A0465F1-9CF3-29DE-BF92-A1ACB925673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B8071ED-0B65-7E49-9070-67B4EC350A95}" type="slidenum">
              <a:t>1</a:t>
            </a:fld>
            <a:endParaRPr lang="en-US"/>
          </a:p>
        </p:txBody>
      </p:sp>
      <p:sp>
        <p:nvSpPr>
          <p:cNvPr id="4" name="TextBox 18">
            <a:extLst>
              <a:ext uri="{FF2B5EF4-FFF2-40B4-BE49-F238E27FC236}">
                <a16:creationId xmlns:a16="http://schemas.microsoft.com/office/drawing/2014/main" id="{78599F8E-C4CA-965E-D88B-115E256438F5}"/>
              </a:ext>
            </a:extLst>
          </p:cNvPr>
          <p:cNvSpPr txBox="1"/>
          <p:nvPr/>
        </p:nvSpPr>
        <p:spPr>
          <a:xfrm>
            <a:off x="459111" y="1758226"/>
            <a:ext cx="998963" cy="3385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Primary</a:t>
            </a:r>
          </a:p>
        </p:txBody>
      </p:sp>
      <p:sp>
        <p:nvSpPr>
          <p:cNvPr id="5" name="TextBox 32">
            <a:extLst>
              <a:ext uri="{FF2B5EF4-FFF2-40B4-BE49-F238E27FC236}">
                <a16:creationId xmlns:a16="http://schemas.microsoft.com/office/drawing/2014/main" id="{AE8675EB-A7CE-8662-93C0-5ACD8168DBA9}"/>
              </a:ext>
            </a:extLst>
          </p:cNvPr>
          <p:cNvSpPr txBox="1"/>
          <p:nvPr/>
        </p:nvSpPr>
        <p:spPr>
          <a:xfrm>
            <a:off x="459111" y="2849764"/>
            <a:ext cx="1364723" cy="3385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Secondary</a:t>
            </a:r>
          </a:p>
        </p:txBody>
      </p:sp>
      <p:sp>
        <p:nvSpPr>
          <p:cNvPr id="6" name="Rectangle 49">
            <a:extLst>
              <a:ext uri="{FF2B5EF4-FFF2-40B4-BE49-F238E27FC236}">
                <a16:creationId xmlns:a16="http://schemas.microsoft.com/office/drawing/2014/main" id="{2C38C0B5-FC09-10E9-3197-17A599802BFE}"/>
              </a:ext>
            </a:extLst>
          </p:cNvPr>
          <p:cNvSpPr/>
          <p:nvPr/>
        </p:nvSpPr>
        <p:spPr>
          <a:xfrm>
            <a:off x="1806753" y="1819820"/>
            <a:ext cx="1274371" cy="691469"/>
          </a:xfrm>
          <a:prstGeom prst="rect">
            <a:avLst/>
          </a:prstGeom>
          <a:solidFill>
            <a:srgbClr val="D6E5D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Willow Brook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HEX #D6E5D0</a:t>
            </a:r>
          </a:p>
        </p:txBody>
      </p:sp>
      <p:sp>
        <p:nvSpPr>
          <p:cNvPr id="7" name="Rectangle 55">
            <a:extLst>
              <a:ext uri="{FF2B5EF4-FFF2-40B4-BE49-F238E27FC236}">
                <a16:creationId xmlns:a16="http://schemas.microsoft.com/office/drawing/2014/main" id="{BBF66D2B-C33E-3525-8336-B72ADF92E38C}"/>
              </a:ext>
            </a:extLst>
          </p:cNvPr>
          <p:cNvSpPr/>
          <p:nvPr/>
        </p:nvSpPr>
        <p:spPr>
          <a:xfrm>
            <a:off x="3219876" y="1819820"/>
            <a:ext cx="1274371" cy="691469"/>
          </a:xfrm>
          <a:prstGeom prst="rect">
            <a:avLst/>
          </a:prstGeom>
          <a:solidFill>
            <a:srgbClr val="B2D5B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Gum Leaf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HEX #B2D5BD</a:t>
            </a:r>
          </a:p>
        </p:txBody>
      </p:sp>
      <p:sp>
        <p:nvSpPr>
          <p:cNvPr id="8" name="Rectangle 56">
            <a:extLst>
              <a:ext uri="{FF2B5EF4-FFF2-40B4-BE49-F238E27FC236}">
                <a16:creationId xmlns:a16="http://schemas.microsoft.com/office/drawing/2014/main" id="{BDD5FDBF-A94F-300F-8642-60F1A5714EED}"/>
              </a:ext>
            </a:extLst>
          </p:cNvPr>
          <p:cNvSpPr/>
          <p:nvPr/>
        </p:nvSpPr>
        <p:spPr>
          <a:xfrm>
            <a:off x="4632990" y="1819820"/>
            <a:ext cx="1274371" cy="691469"/>
          </a:xfrm>
          <a:prstGeom prst="rect">
            <a:avLst/>
          </a:prstGeom>
          <a:solidFill>
            <a:srgbClr val="5AA28C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Polished Pine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HEX #5AA28C</a:t>
            </a:r>
          </a:p>
        </p:txBody>
      </p:sp>
      <p:sp>
        <p:nvSpPr>
          <p:cNvPr id="9" name="Rectangle 57">
            <a:extLst>
              <a:ext uri="{FF2B5EF4-FFF2-40B4-BE49-F238E27FC236}">
                <a16:creationId xmlns:a16="http://schemas.microsoft.com/office/drawing/2014/main" id="{4C4B578D-E057-0BE6-8BE7-C735CA6F436C}"/>
              </a:ext>
            </a:extLst>
          </p:cNvPr>
          <p:cNvSpPr/>
          <p:nvPr/>
        </p:nvSpPr>
        <p:spPr>
          <a:xfrm>
            <a:off x="6046113" y="1819820"/>
            <a:ext cx="1274371" cy="691469"/>
          </a:xfrm>
          <a:prstGeom prst="rect">
            <a:avLst/>
          </a:prstGeom>
          <a:solidFill>
            <a:srgbClr val="016D7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Mosque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HEX #016D77</a:t>
            </a:r>
          </a:p>
        </p:txBody>
      </p:sp>
      <p:sp>
        <p:nvSpPr>
          <p:cNvPr id="10" name="Rectangle 62">
            <a:extLst>
              <a:ext uri="{FF2B5EF4-FFF2-40B4-BE49-F238E27FC236}">
                <a16:creationId xmlns:a16="http://schemas.microsoft.com/office/drawing/2014/main" id="{16AE1A32-037B-6F15-3600-170F758DB6A2}"/>
              </a:ext>
            </a:extLst>
          </p:cNvPr>
          <p:cNvSpPr/>
          <p:nvPr/>
        </p:nvSpPr>
        <p:spPr>
          <a:xfrm>
            <a:off x="1806753" y="2936741"/>
            <a:ext cx="1274371" cy="691469"/>
          </a:xfrm>
          <a:prstGeom prst="rect">
            <a:avLst/>
          </a:prstGeom>
          <a:solidFill>
            <a:srgbClr val="2F485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Pickled Bluewood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HEX #2F485E</a:t>
            </a:r>
          </a:p>
        </p:txBody>
      </p:sp>
      <p:sp>
        <p:nvSpPr>
          <p:cNvPr id="11" name="Rectangle 63">
            <a:extLst>
              <a:ext uri="{FF2B5EF4-FFF2-40B4-BE49-F238E27FC236}">
                <a16:creationId xmlns:a16="http://schemas.microsoft.com/office/drawing/2014/main" id="{12A3298E-612D-4DE0-9C2C-8D4C1D90F4D5}"/>
              </a:ext>
            </a:extLst>
          </p:cNvPr>
          <p:cNvSpPr/>
          <p:nvPr/>
        </p:nvSpPr>
        <p:spPr>
          <a:xfrm>
            <a:off x="3219876" y="2936741"/>
            <a:ext cx="1274371" cy="691469"/>
          </a:xfrm>
          <a:prstGeom prst="rect">
            <a:avLst/>
          </a:prstGeom>
          <a:solidFill>
            <a:srgbClr val="19395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Nile Blue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HEX #193950</a:t>
            </a:r>
          </a:p>
        </p:txBody>
      </p:sp>
      <p:sp>
        <p:nvSpPr>
          <p:cNvPr id="12" name="Rectangle 64">
            <a:extLst>
              <a:ext uri="{FF2B5EF4-FFF2-40B4-BE49-F238E27FC236}">
                <a16:creationId xmlns:a16="http://schemas.microsoft.com/office/drawing/2014/main" id="{A1C2BED2-FB9E-DCEE-AF58-943E9C6A3969}"/>
              </a:ext>
            </a:extLst>
          </p:cNvPr>
          <p:cNvSpPr/>
          <p:nvPr/>
        </p:nvSpPr>
        <p:spPr>
          <a:xfrm>
            <a:off x="4632990" y="2936741"/>
            <a:ext cx="1274371" cy="691469"/>
          </a:xfrm>
          <a:prstGeom prst="rect">
            <a:avLst/>
          </a:prstGeom>
          <a:solidFill>
            <a:srgbClr val="BCE392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Yellow Green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HEX #BCE392</a:t>
            </a:r>
          </a:p>
        </p:txBody>
      </p:sp>
      <p:sp>
        <p:nvSpPr>
          <p:cNvPr id="13" name="Rectangle 65">
            <a:extLst>
              <a:ext uri="{FF2B5EF4-FFF2-40B4-BE49-F238E27FC236}">
                <a16:creationId xmlns:a16="http://schemas.microsoft.com/office/drawing/2014/main" id="{3AB4AB0C-E4CB-8B91-615B-730A4F85B7B7}"/>
              </a:ext>
            </a:extLst>
          </p:cNvPr>
          <p:cNvSpPr/>
          <p:nvPr/>
        </p:nvSpPr>
        <p:spPr>
          <a:xfrm>
            <a:off x="6046113" y="2936741"/>
            <a:ext cx="1274371" cy="691469"/>
          </a:xfrm>
          <a:prstGeom prst="rect">
            <a:avLst/>
          </a:prstGeom>
          <a:solidFill>
            <a:srgbClr val="1254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Chathams Blue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HEX #125486</a:t>
            </a:r>
          </a:p>
        </p:txBody>
      </p:sp>
      <p:sp>
        <p:nvSpPr>
          <p:cNvPr id="14" name="Rectangle 68">
            <a:extLst>
              <a:ext uri="{FF2B5EF4-FFF2-40B4-BE49-F238E27FC236}">
                <a16:creationId xmlns:a16="http://schemas.microsoft.com/office/drawing/2014/main" id="{AED73272-8DBB-B87F-0831-3768AA22A999}"/>
              </a:ext>
            </a:extLst>
          </p:cNvPr>
          <p:cNvSpPr/>
          <p:nvPr/>
        </p:nvSpPr>
        <p:spPr>
          <a:xfrm>
            <a:off x="7448309" y="2936741"/>
            <a:ext cx="1274371" cy="691469"/>
          </a:xfrm>
          <a:prstGeom prst="rect">
            <a:avLst/>
          </a:prstGeom>
          <a:solidFill>
            <a:srgbClr val="5CA1B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Fountain Blue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HEX #5CA1BE</a:t>
            </a:r>
          </a:p>
        </p:txBody>
      </p:sp>
      <p:sp>
        <p:nvSpPr>
          <p:cNvPr id="15" name="TextBox 69">
            <a:extLst>
              <a:ext uri="{FF2B5EF4-FFF2-40B4-BE49-F238E27FC236}">
                <a16:creationId xmlns:a16="http://schemas.microsoft.com/office/drawing/2014/main" id="{30AB3AB5-1C39-5E9F-9212-58FBB90F2A54}"/>
              </a:ext>
            </a:extLst>
          </p:cNvPr>
          <p:cNvSpPr txBox="1"/>
          <p:nvPr/>
        </p:nvSpPr>
        <p:spPr>
          <a:xfrm>
            <a:off x="459111" y="3983985"/>
            <a:ext cx="1364723" cy="3385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Tertiary</a:t>
            </a:r>
          </a:p>
        </p:txBody>
      </p:sp>
      <p:sp>
        <p:nvSpPr>
          <p:cNvPr id="16" name="Rectangle 70">
            <a:extLst>
              <a:ext uri="{FF2B5EF4-FFF2-40B4-BE49-F238E27FC236}">
                <a16:creationId xmlns:a16="http://schemas.microsoft.com/office/drawing/2014/main" id="{4C076497-B0DC-9E56-950F-23B6FC526E8A}"/>
              </a:ext>
            </a:extLst>
          </p:cNvPr>
          <p:cNvSpPr/>
          <p:nvPr/>
        </p:nvSpPr>
        <p:spPr>
          <a:xfrm>
            <a:off x="1806753" y="4049584"/>
            <a:ext cx="1274371" cy="691469"/>
          </a:xfrm>
          <a:prstGeom prst="rect">
            <a:avLst/>
          </a:prstGeom>
          <a:solidFill>
            <a:srgbClr val="494D51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Abbey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HEX #494D51</a:t>
            </a:r>
          </a:p>
        </p:txBody>
      </p:sp>
      <p:sp>
        <p:nvSpPr>
          <p:cNvPr id="17" name="Rectangle 71">
            <a:extLst>
              <a:ext uri="{FF2B5EF4-FFF2-40B4-BE49-F238E27FC236}">
                <a16:creationId xmlns:a16="http://schemas.microsoft.com/office/drawing/2014/main" id="{4BB86FF4-C98B-E94C-7857-D3200B8A24AC}"/>
              </a:ext>
            </a:extLst>
          </p:cNvPr>
          <p:cNvSpPr/>
          <p:nvPr/>
        </p:nvSpPr>
        <p:spPr>
          <a:xfrm>
            <a:off x="3219876" y="4049584"/>
            <a:ext cx="1274371" cy="691469"/>
          </a:xfrm>
          <a:prstGeom prst="rect">
            <a:avLst/>
          </a:prstGeom>
          <a:solidFill>
            <a:srgbClr val="989DA3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Manatee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HEX #989DA3</a:t>
            </a:r>
          </a:p>
        </p:txBody>
      </p:sp>
      <p:sp>
        <p:nvSpPr>
          <p:cNvPr id="18" name="Rectangle 72">
            <a:extLst>
              <a:ext uri="{FF2B5EF4-FFF2-40B4-BE49-F238E27FC236}">
                <a16:creationId xmlns:a16="http://schemas.microsoft.com/office/drawing/2014/main" id="{44C5D655-AC39-1522-421B-46FD15FE0F2C}"/>
              </a:ext>
            </a:extLst>
          </p:cNvPr>
          <p:cNvSpPr/>
          <p:nvPr/>
        </p:nvSpPr>
        <p:spPr>
          <a:xfrm>
            <a:off x="4632990" y="4056415"/>
            <a:ext cx="1274371" cy="691469"/>
          </a:xfrm>
          <a:prstGeom prst="rect">
            <a:avLst/>
          </a:prstGeom>
          <a:solidFill>
            <a:srgbClr val="C5C9C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Silver Sand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HEX #C5C9CD</a:t>
            </a:r>
          </a:p>
        </p:txBody>
      </p:sp>
      <p:sp>
        <p:nvSpPr>
          <p:cNvPr id="19" name="TextBox 75">
            <a:extLst>
              <a:ext uri="{FF2B5EF4-FFF2-40B4-BE49-F238E27FC236}">
                <a16:creationId xmlns:a16="http://schemas.microsoft.com/office/drawing/2014/main" id="{CA066B03-33FE-69F7-B452-78C292632489}"/>
              </a:ext>
            </a:extLst>
          </p:cNvPr>
          <p:cNvSpPr txBox="1"/>
          <p:nvPr/>
        </p:nvSpPr>
        <p:spPr>
          <a:xfrm>
            <a:off x="459111" y="5150769"/>
            <a:ext cx="998963" cy="584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SuMPO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Color</a:t>
            </a:r>
          </a:p>
        </p:txBody>
      </p:sp>
      <p:sp>
        <p:nvSpPr>
          <p:cNvPr id="20" name="Rectangle 76">
            <a:extLst>
              <a:ext uri="{FF2B5EF4-FFF2-40B4-BE49-F238E27FC236}">
                <a16:creationId xmlns:a16="http://schemas.microsoft.com/office/drawing/2014/main" id="{0A626048-E259-0FCF-0534-CB92A8782FD1}"/>
              </a:ext>
            </a:extLst>
          </p:cNvPr>
          <p:cNvSpPr/>
          <p:nvPr/>
        </p:nvSpPr>
        <p:spPr>
          <a:xfrm>
            <a:off x="1806753" y="5212363"/>
            <a:ext cx="1274371" cy="69146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Seagull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HEX #7FC1E9</a:t>
            </a:r>
          </a:p>
        </p:txBody>
      </p:sp>
      <p:sp>
        <p:nvSpPr>
          <p:cNvPr id="21" name="Rectangle 77">
            <a:extLst>
              <a:ext uri="{FF2B5EF4-FFF2-40B4-BE49-F238E27FC236}">
                <a16:creationId xmlns:a16="http://schemas.microsoft.com/office/drawing/2014/main" id="{E0F1FFBC-6BC4-3E3B-0AA8-58891C3A886A}"/>
              </a:ext>
            </a:extLst>
          </p:cNvPr>
          <p:cNvSpPr/>
          <p:nvPr/>
        </p:nvSpPr>
        <p:spPr>
          <a:xfrm>
            <a:off x="3219876" y="5212372"/>
            <a:ext cx="1274371" cy="69146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Apricot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HEX #EF9B86</a:t>
            </a:r>
          </a:p>
        </p:txBody>
      </p:sp>
      <p:sp>
        <p:nvSpPr>
          <p:cNvPr id="22" name="Rectangle 78">
            <a:extLst>
              <a:ext uri="{FF2B5EF4-FFF2-40B4-BE49-F238E27FC236}">
                <a16:creationId xmlns:a16="http://schemas.microsoft.com/office/drawing/2014/main" id="{48D1EFEB-ED41-9FC5-3E58-0B8433F2EFCA}"/>
              </a:ext>
            </a:extLst>
          </p:cNvPr>
          <p:cNvSpPr/>
          <p:nvPr/>
        </p:nvSpPr>
        <p:spPr>
          <a:xfrm>
            <a:off x="4632990" y="5212372"/>
            <a:ext cx="1274371" cy="69146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Bright Sun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HEX #FBD13E</a:t>
            </a:r>
          </a:p>
        </p:txBody>
      </p:sp>
      <p:sp>
        <p:nvSpPr>
          <p:cNvPr id="23" name="Rectangle 79">
            <a:extLst>
              <a:ext uri="{FF2B5EF4-FFF2-40B4-BE49-F238E27FC236}">
                <a16:creationId xmlns:a16="http://schemas.microsoft.com/office/drawing/2014/main" id="{ED302E90-8C2C-F312-8BC6-146DFBC28A9A}"/>
              </a:ext>
            </a:extLst>
          </p:cNvPr>
          <p:cNvSpPr/>
          <p:nvPr/>
        </p:nvSpPr>
        <p:spPr>
          <a:xfrm>
            <a:off x="6046113" y="5212372"/>
            <a:ext cx="1274371" cy="691469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Absolute Zero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HEX #0057BA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68465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07FDF-DF03-CAF4-76AF-E8A1879C52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2400"/>
              <a:t>Shapes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0E0FBF54-B5C7-8AD5-E8AE-13DB487DC0F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AB2E5210-50C8-1F46-BC57-2CBA46BE4E34}" type="slidenum">
              <a:rPr lang="en-US"/>
              <a:t>2</a:t>
            </a:fld>
            <a:endParaRPr lang="en-US"/>
          </a:p>
        </p:txBody>
      </p:sp>
      <p:sp>
        <p:nvSpPr>
          <p:cNvPr id="4" name="二等辺三角形 2">
            <a:extLst>
              <a:ext uri="{FF2B5EF4-FFF2-40B4-BE49-F238E27FC236}">
                <a16:creationId xmlns:a16="http://schemas.microsoft.com/office/drawing/2014/main" id="{4E348DE9-2A56-7605-44CE-35C05500321F}"/>
              </a:ext>
            </a:extLst>
          </p:cNvPr>
          <p:cNvSpPr/>
          <p:nvPr/>
        </p:nvSpPr>
        <p:spPr>
          <a:xfrm rot="10799991">
            <a:off x="742190" y="1265337"/>
            <a:ext cx="184736" cy="138796"/>
          </a:xfrm>
          <a:custGeom>
            <a:avLst>
              <a:gd name="f8" fmla="val 500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50000"/>
              <a:gd name="f9" fmla="+- 0 0 -360"/>
              <a:gd name="f10" fmla="+- 0 0 -270"/>
              <a:gd name="f11" fmla="+- 0 0 -180"/>
              <a:gd name="f12" fmla="+- 0 0 -90"/>
              <a:gd name="f13" fmla="abs f4"/>
              <a:gd name="f14" fmla="abs f5"/>
              <a:gd name="f15" fmla="abs f6"/>
              <a:gd name="f16" fmla="val f7"/>
              <a:gd name="f17" fmla="val f8"/>
              <a:gd name="f18" fmla="*/ f9 f1 1"/>
              <a:gd name="f19" fmla="*/ f10 f1 1"/>
              <a:gd name="f20" fmla="*/ f11 f1 1"/>
              <a:gd name="f21" fmla="*/ f12 f1 1"/>
              <a:gd name="f22" fmla="?: f13 f4 1"/>
              <a:gd name="f23" fmla="?: f14 f5 1"/>
              <a:gd name="f24" fmla="?: f15 f6 1"/>
              <a:gd name="f25" fmla="*/ f18 1 f3"/>
              <a:gd name="f26" fmla="*/ f19 1 f3"/>
              <a:gd name="f27" fmla="*/ f20 1 f3"/>
              <a:gd name="f28" fmla="*/ f21 1 f3"/>
              <a:gd name="f29" fmla="*/ f22 1 21600"/>
              <a:gd name="f30" fmla="*/ f23 1 21600"/>
              <a:gd name="f31" fmla="*/ 21600 f22 1"/>
              <a:gd name="f32" fmla="*/ 21600 f23 1"/>
              <a:gd name="f33" fmla="+- f25 0 f2"/>
              <a:gd name="f34" fmla="+- f26 0 f2"/>
              <a:gd name="f35" fmla="+- f27 0 f2"/>
              <a:gd name="f36" fmla="+- f28 0 f2"/>
              <a:gd name="f37" fmla="min f30 f29"/>
              <a:gd name="f38" fmla="*/ f31 1 f24"/>
              <a:gd name="f39" fmla="*/ f32 1 f24"/>
              <a:gd name="f40" fmla="val f38"/>
              <a:gd name="f41" fmla="val f39"/>
              <a:gd name="f42" fmla="*/ f16 f37 1"/>
              <a:gd name="f43" fmla="+- f41 0 f16"/>
              <a:gd name="f44" fmla="+- f40 0 f16"/>
              <a:gd name="f45" fmla="*/ f41 f37 1"/>
              <a:gd name="f46" fmla="*/ f40 f37 1"/>
              <a:gd name="f47" fmla="*/ f43 1 2"/>
              <a:gd name="f48" fmla="*/ f44 1 2"/>
              <a:gd name="f49" fmla="*/ f44 f17 1"/>
              <a:gd name="f50" fmla="+- f16 f47 0"/>
              <a:gd name="f51" fmla="*/ f49 1 200000"/>
              <a:gd name="f52" fmla="*/ f49 1 100000"/>
              <a:gd name="f53" fmla="+- f51 f48 0"/>
              <a:gd name="f54" fmla="*/ f51 f37 1"/>
              <a:gd name="f55" fmla="*/ f50 f37 1"/>
              <a:gd name="f56" fmla="*/ f52 f37 1"/>
              <a:gd name="f57" fmla="*/ f53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56" y="f42"/>
              </a:cxn>
              <a:cxn ang="f34">
                <a:pos x="f54" y="f55"/>
              </a:cxn>
              <a:cxn ang="f35">
                <a:pos x="f42" y="f45"/>
              </a:cxn>
              <a:cxn ang="f35">
                <a:pos x="f56" y="f45"/>
              </a:cxn>
              <a:cxn ang="f35">
                <a:pos x="f46" y="f45"/>
              </a:cxn>
              <a:cxn ang="f36">
                <a:pos x="f57" y="f55"/>
              </a:cxn>
            </a:cxnLst>
            <a:rect l="f54" t="f55" r="f57" b="f45"/>
            <a:pathLst>
              <a:path>
                <a:moveTo>
                  <a:pt x="f42" y="f45"/>
                </a:moveTo>
                <a:lnTo>
                  <a:pt x="f56" y="f42"/>
                </a:lnTo>
                <a:lnTo>
                  <a:pt x="f46" y="f45"/>
                </a:lnTo>
                <a:close/>
              </a:path>
            </a:pathLst>
          </a:custGeom>
          <a:solidFill>
            <a:srgbClr val="D9D9D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右大かっこ 5">
            <a:extLst>
              <a:ext uri="{FF2B5EF4-FFF2-40B4-BE49-F238E27FC236}">
                <a16:creationId xmlns:a16="http://schemas.microsoft.com/office/drawing/2014/main" id="{4032E202-BABA-4075-1A76-61C3A162ACB5}"/>
              </a:ext>
            </a:extLst>
          </p:cNvPr>
          <p:cNvSpPr/>
          <p:nvPr/>
        </p:nvSpPr>
        <p:spPr>
          <a:xfrm rot="10799991">
            <a:off x="399519" y="1265347"/>
            <a:ext cx="183236" cy="538270"/>
          </a:xfrm>
          <a:custGeom>
            <a:avLst>
              <a:gd name="f10" fmla="val 0"/>
            </a:avLst>
            <a:gdLst>
              <a:gd name="f1" fmla="val 10800000"/>
              <a:gd name="f2" fmla="val 5400000"/>
              <a:gd name="f3" fmla="val 16200000"/>
              <a:gd name="f4" fmla="val 180"/>
              <a:gd name="f5" fmla="val w"/>
              <a:gd name="f6" fmla="val h"/>
              <a:gd name="f7" fmla="val ss"/>
              <a:gd name="f8" fmla="val 0"/>
              <a:gd name="f9" fmla="*/ 5419351 1 1725033"/>
              <a:gd name="f10" fmla="val 0"/>
              <a:gd name="f11" fmla="+- 0 0 -180"/>
              <a:gd name="f12" fmla="+- 0 0 -360"/>
              <a:gd name="f13" fmla="+- 0 0 -270"/>
              <a:gd name="f14" fmla="abs f5"/>
              <a:gd name="f15" fmla="abs f6"/>
              <a:gd name="f16" fmla="abs f7"/>
              <a:gd name="f17" fmla="val f8"/>
              <a:gd name="f18" fmla="val f10"/>
              <a:gd name="f19" fmla="+- 2700000 f2 0"/>
              <a:gd name="f20" fmla="*/ f11 f1 1"/>
              <a:gd name="f21" fmla="*/ f12 f1 1"/>
              <a:gd name="f22" fmla="*/ f13 f1 1"/>
              <a:gd name="f23" fmla="?: f14 f5 1"/>
              <a:gd name="f24" fmla="?: f15 f6 1"/>
              <a:gd name="f25" fmla="?: f16 f7 1"/>
              <a:gd name="f26" fmla="*/ f19 f9 1"/>
              <a:gd name="f27" fmla="*/ f20 1 f4"/>
              <a:gd name="f28" fmla="*/ f21 1 f4"/>
              <a:gd name="f29" fmla="*/ f22 1 f4"/>
              <a:gd name="f30" fmla="*/ f23 1 21600"/>
              <a:gd name="f31" fmla="*/ f24 1 21600"/>
              <a:gd name="f32" fmla="*/ 21600 f23 1"/>
              <a:gd name="f33" fmla="*/ 21600 f24 1"/>
              <a:gd name="f34" fmla="*/ f26 1 f1"/>
              <a:gd name="f35" fmla="+- f27 0 f2"/>
              <a:gd name="f36" fmla="+- f28 0 f2"/>
              <a:gd name="f37" fmla="+- f29 0 f2"/>
              <a:gd name="f38" fmla="min f31 f30"/>
              <a:gd name="f39" fmla="*/ f32 1 f25"/>
              <a:gd name="f40" fmla="*/ f33 1 f25"/>
              <a:gd name="f41" fmla="+- 0 0 f34"/>
              <a:gd name="f42" fmla="val f39"/>
              <a:gd name="f43" fmla="val f40"/>
              <a:gd name="f44" fmla="+- 0 0 f41"/>
              <a:gd name="f45" fmla="*/ f17 f38 1"/>
              <a:gd name="f46" fmla="+- f43 0 f17"/>
              <a:gd name="f47" fmla="+- f42 0 f17"/>
              <a:gd name="f48" fmla="*/ f44 f1 1"/>
              <a:gd name="f49" fmla="*/ f42 f38 1"/>
              <a:gd name="f50" fmla="*/ f43 f38 1"/>
              <a:gd name="f51" fmla="*/ f46 1 2"/>
              <a:gd name="f52" fmla="min f47 f46"/>
              <a:gd name="f53" fmla="*/ f48 1 f9"/>
              <a:gd name="f54" fmla="*/ f47 f38 1"/>
              <a:gd name="f55" fmla="+- f17 f51 0"/>
              <a:gd name="f56" fmla="*/ f52 f18 1"/>
              <a:gd name="f57" fmla="+- f53 0 f2"/>
              <a:gd name="f58" fmla="*/ f56 1 100000"/>
              <a:gd name="f59" fmla="cos 1 f57"/>
              <a:gd name="f60" fmla="sin 1 f57"/>
              <a:gd name="f61" fmla="*/ f55 f38 1"/>
              <a:gd name="f62" fmla="+- f43 0 f58"/>
              <a:gd name="f63" fmla="+- 0 0 f59"/>
              <a:gd name="f64" fmla="+- 0 0 f60"/>
              <a:gd name="f65" fmla="*/ f58 f38 1"/>
              <a:gd name="f66" fmla="+- 0 0 f63"/>
              <a:gd name="f67" fmla="+- 0 0 f64"/>
              <a:gd name="f68" fmla="*/ f62 f38 1"/>
              <a:gd name="f69" fmla="*/ f66 f47 1"/>
              <a:gd name="f70" fmla="*/ f67 f58 1"/>
              <a:gd name="f71" fmla="+- f17 f69 0"/>
              <a:gd name="f72" fmla="+- f58 0 f70"/>
              <a:gd name="f73" fmla="+- f43 f70 0"/>
              <a:gd name="f74" fmla="+- f73 0 f58"/>
              <a:gd name="f75" fmla="*/ f72 f38 1"/>
              <a:gd name="f76" fmla="*/ f71 f38 1"/>
              <a:gd name="f77" fmla="*/ f74 f3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5">
                <a:pos x="f45" y="f45"/>
              </a:cxn>
              <a:cxn ang="f36">
                <a:pos x="f45" y="f50"/>
              </a:cxn>
              <a:cxn ang="f37">
                <a:pos x="f49" y="f61"/>
              </a:cxn>
            </a:cxnLst>
            <a:rect l="f45" t="f75" r="f76" b="f77"/>
            <a:pathLst>
              <a:path stroke="0">
                <a:moveTo>
                  <a:pt x="f45" y="f45"/>
                </a:moveTo>
                <a:arcTo wR="f54" hR="f65" stAng="f3" swAng="f2"/>
                <a:lnTo>
                  <a:pt x="f49" y="f68"/>
                </a:lnTo>
                <a:arcTo wR="f54" hR="f65" stAng="f8" swAng="f2"/>
                <a:close/>
              </a:path>
              <a:path fill="none">
                <a:moveTo>
                  <a:pt x="f45" y="f45"/>
                </a:moveTo>
                <a:arcTo wR="f54" hR="f65" stAng="f3" swAng="f2"/>
                <a:lnTo>
                  <a:pt x="f49" y="f68"/>
                </a:lnTo>
                <a:arcTo wR="f54" hR="f65" stAng="f8" swAng="f2"/>
              </a:path>
            </a:pathLst>
          </a:custGeom>
          <a:noFill/>
          <a:ln w="28575" cap="flat">
            <a:solidFill>
              <a:srgbClr val="A6A6A6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二等辺三角形 6">
            <a:extLst>
              <a:ext uri="{FF2B5EF4-FFF2-40B4-BE49-F238E27FC236}">
                <a16:creationId xmlns:a16="http://schemas.microsoft.com/office/drawing/2014/main" id="{DDFB3A93-4410-310E-20B4-1AFE1E511EE2}"/>
              </a:ext>
            </a:extLst>
          </p:cNvPr>
          <p:cNvSpPr/>
          <p:nvPr/>
        </p:nvSpPr>
        <p:spPr>
          <a:xfrm rot="10799991">
            <a:off x="742190" y="1436028"/>
            <a:ext cx="184736" cy="138796"/>
          </a:xfrm>
          <a:custGeom>
            <a:avLst>
              <a:gd name="f8" fmla="val 500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50000"/>
              <a:gd name="f9" fmla="+- 0 0 -360"/>
              <a:gd name="f10" fmla="+- 0 0 -270"/>
              <a:gd name="f11" fmla="+- 0 0 -180"/>
              <a:gd name="f12" fmla="+- 0 0 -90"/>
              <a:gd name="f13" fmla="abs f4"/>
              <a:gd name="f14" fmla="abs f5"/>
              <a:gd name="f15" fmla="abs f6"/>
              <a:gd name="f16" fmla="val f7"/>
              <a:gd name="f17" fmla="val f8"/>
              <a:gd name="f18" fmla="*/ f9 f1 1"/>
              <a:gd name="f19" fmla="*/ f10 f1 1"/>
              <a:gd name="f20" fmla="*/ f11 f1 1"/>
              <a:gd name="f21" fmla="*/ f12 f1 1"/>
              <a:gd name="f22" fmla="?: f13 f4 1"/>
              <a:gd name="f23" fmla="?: f14 f5 1"/>
              <a:gd name="f24" fmla="?: f15 f6 1"/>
              <a:gd name="f25" fmla="*/ f18 1 f3"/>
              <a:gd name="f26" fmla="*/ f19 1 f3"/>
              <a:gd name="f27" fmla="*/ f20 1 f3"/>
              <a:gd name="f28" fmla="*/ f21 1 f3"/>
              <a:gd name="f29" fmla="*/ f22 1 21600"/>
              <a:gd name="f30" fmla="*/ f23 1 21600"/>
              <a:gd name="f31" fmla="*/ 21600 f22 1"/>
              <a:gd name="f32" fmla="*/ 21600 f23 1"/>
              <a:gd name="f33" fmla="+- f25 0 f2"/>
              <a:gd name="f34" fmla="+- f26 0 f2"/>
              <a:gd name="f35" fmla="+- f27 0 f2"/>
              <a:gd name="f36" fmla="+- f28 0 f2"/>
              <a:gd name="f37" fmla="min f30 f29"/>
              <a:gd name="f38" fmla="*/ f31 1 f24"/>
              <a:gd name="f39" fmla="*/ f32 1 f24"/>
              <a:gd name="f40" fmla="val f38"/>
              <a:gd name="f41" fmla="val f39"/>
              <a:gd name="f42" fmla="*/ f16 f37 1"/>
              <a:gd name="f43" fmla="+- f41 0 f16"/>
              <a:gd name="f44" fmla="+- f40 0 f16"/>
              <a:gd name="f45" fmla="*/ f41 f37 1"/>
              <a:gd name="f46" fmla="*/ f40 f37 1"/>
              <a:gd name="f47" fmla="*/ f43 1 2"/>
              <a:gd name="f48" fmla="*/ f44 1 2"/>
              <a:gd name="f49" fmla="*/ f44 f17 1"/>
              <a:gd name="f50" fmla="+- f16 f47 0"/>
              <a:gd name="f51" fmla="*/ f49 1 200000"/>
              <a:gd name="f52" fmla="*/ f49 1 100000"/>
              <a:gd name="f53" fmla="+- f51 f48 0"/>
              <a:gd name="f54" fmla="*/ f51 f37 1"/>
              <a:gd name="f55" fmla="*/ f50 f37 1"/>
              <a:gd name="f56" fmla="*/ f52 f37 1"/>
              <a:gd name="f57" fmla="*/ f53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56" y="f42"/>
              </a:cxn>
              <a:cxn ang="f34">
                <a:pos x="f54" y="f55"/>
              </a:cxn>
              <a:cxn ang="f35">
                <a:pos x="f42" y="f45"/>
              </a:cxn>
              <a:cxn ang="f35">
                <a:pos x="f56" y="f45"/>
              </a:cxn>
              <a:cxn ang="f35">
                <a:pos x="f46" y="f45"/>
              </a:cxn>
              <a:cxn ang="f36">
                <a:pos x="f57" y="f55"/>
              </a:cxn>
            </a:cxnLst>
            <a:rect l="f54" t="f55" r="f57" b="f45"/>
            <a:pathLst>
              <a:path>
                <a:moveTo>
                  <a:pt x="f42" y="f45"/>
                </a:moveTo>
                <a:lnTo>
                  <a:pt x="f56" y="f42"/>
                </a:lnTo>
                <a:lnTo>
                  <a:pt x="f46" y="f45"/>
                </a:lnTo>
                <a:close/>
              </a:path>
            </a:pathLst>
          </a:custGeom>
          <a:solidFill>
            <a:srgbClr val="D9D9D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二等辺三角形 7">
            <a:extLst>
              <a:ext uri="{FF2B5EF4-FFF2-40B4-BE49-F238E27FC236}">
                <a16:creationId xmlns:a16="http://schemas.microsoft.com/office/drawing/2014/main" id="{E6DFB37F-D05E-2341-0983-DF03C40CD19E}"/>
              </a:ext>
            </a:extLst>
          </p:cNvPr>
          <p:cNvSpPr/>
          <p:nvPr/>
        </p:nvSpPr>
        <p:spPr>
          <a:xfrm rot="10799991">
            <a:off x="742190" y="1606719"/>
            <a:ext cx="184736" cy="138796"/>
          </a:xfrm>
          <a:custGeom>
            <a:avLst>
              <a:gd name="f8" fmla="val 500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50000"/>
              <a:gd name="f9" fmla="+- 0 0 -360"/>
              <a:gd name="f10" fmla="+- 0 0 -270"/>
              <a:gd name="f11" fmla="+- 0 0 -180"/>
              <a:gd name="f12" fmla="+- 0 0 -90"/>
              <a:gd name="f13" fmla="abs f4"/>
              <a:gd name="f14" fmla="abs f5"/>
              <a:gd name="f15" fmla="abs f6"/>
              <a:gd name="f16" fmla="val f7"/>
              <a:gd name="f17" fmla="val f8"/>
              <a:gd name="f18" fmla="*/ f9 f1 1"/>
              <a:gd name="f19" fmla="*/ f10 f1 1"/>
              <a:gd name="f20" fmla="*/ f11 f1 1"/>
              <a:gd name="f21" fmla="*/ f12 f1 1"/>
              <a:gd name="f22" fmla="?: f13 f4 1"/>
              <a:gd name="f23" fmla="?: f14 f5 1"/>
              <a:gd name="f24" fmla="?: f15 f6 1"/>
              <a:gd name="f25" fmla="*/ f18 1 f3"/>
              <a:gd name="f26" fmla="*/ f19 1 f3"/>
              <a:gd name="f27" fmla="*/ f20 1 f3"/>
              <a:gd name="f28" fmla="*/ f21 1 f3"/>
              <a:gd name="f29" fmla="*/ f22 1 21600"/>
              <a:gd name="f30" fmla="*/ f23 1 21600"/>
              <a:gd name="f31" fmla="*/ 21600 f22 1"/>
              <a:gd name="f32" fmla="*/ 21600 f23 1"/>
              <a:gd name="f33" fmla="+- f25 0 f2"/>
              <a:gd name="f34" fmla="+- f26 0 f2"/>
              <a:gd name="f35" fmla="+- f27 0 f2"/>
              <a:gd name="f36" fmla="+- f28 0 f2"/>
              <a:gd name="f37" fmla="min f30 f29"/>
              <a:gd name="f38" fmla="*/ f31 1 f24"/>
              <a:gd name="f39" fmla="*/ f32 1 f24"/>
              <a:gd name="f40" fmla="val f38"/>
              <a:gd name="f41" fmla="val f39"/>
              <a:gd name="f42" fmla="*/ f16 f37 1"/>
              <a:gd name="f43" fmla="+- f41 0 f16"/>
              <a:gd name="f44" fmla="+- f40 0 f16"/>
              <a:gd name="f45" fmla="*/ f41 f37 1"/>
              <a:gd name="f46" fmla="*/ f40 f37 1"/>
              <a:gd name="f47" fmla="*/ f43 1 2"/>
              <a:gd name="f48" fmla="*/ f44 1 2"/>
              <a:gd name="f49" fmla="*/ f44 f17 1"/>
              <a:gd name="f50" fmla="+- f16 f47 0"/>
              <a:gd name="f51" fmla="*/ f49 1 200000"/>
              <a:gd name="f52" fmla="*/ f49 1 100000"/>
              <a:gd name="f53" fmla="+- f51 f48 0"/>
              <a:gd name="f54" fmla="*/ f51 f37 1"/>
              <a:gd name="f55" fmla="*/ f50 f37 1"/>
              <a:gd name="f56" fmla="*/ f52 f37 1"/>
              <a:gd name="f57" fmla="*/ f53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56" y="f42"/>
              </a:cxn>
              <a:cxn ang="f34">
                <a:pos x="f54" y="f55"/>
              </a:cxn>
              <a:cxn ang="f35">
                <a:pos x="f42" y="f45"/>
              </a:cxn>
              <a:cxn ang="f35">
                <a:pos x="f56" y="f45"/>
              </a:cxn>
              <a:cxn ang="f35">
                <a:pos x="f46" y="f45"/>
              </a:cxn>
              <a:cxn ang="f36">
                <a:pos x="f57" y="f55"/>
              </a:cxn>
            </a:cxnLst>
            <a:rect l="f54" t="f55" r="f57" b="f45"/>
            <a:pathLst>
              <a:path>
                <a:moveTo>
                  <a:pt x="f42" y="f45"/>
                </a:moveTo>
                <a:lnTo>
                  <a:pt x="f56" y="f42"/>
                </a:lnTo>
                <a:lnTo>
                  <a:pt x="f46" y="f45"/>
                </a:lnTo>
                <a:close/>
              </a:path>
            </a:pathLst>
          </a:custGeom>
          <a:solidFill>
            <a:srgbClr val="D9D9D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pic>
        <p:nvPicPr>
          <p:cNvPr id="8" name="グラフィックス 8" descr="チェック マーク 単色塗りつぶし">
            <a:extLst>
              <a:ext uri="{FF2B5EF4-FFF2-40B4-BE49-F238E27FC236}">
                <a16:creationId xmlns:a16="http://schemas.microsoft.com/office/drawing/2014/main" id="{BD4E9A54-F4F7-57EB-494A-C511E19796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9369" y="2163058"/>
            <a:ext cx="264865" cy="2648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正方形/長方形 4">
            <a:extLst>
              <a:ext uri="{FF2B5EF4-FFF2-40B4-BE49-F238E27FC236}">
                <a16:creationId xmlns:a16="http://schemas.microsoft.com/office/drawing/2014/main" id="{D151C988-FE7C-D7A6-C5B5-6F489EDDFD18}"/>
              </a:ext>
            </a:extLst>
          </p:cNvPr>
          <p:cNvSpPr/>
          <p:nvPr/>
        </p:nvSpPr>
        <p:spPr>
          <a:xfrm flipH="1" flipV="1">
            <a:off x="433571" y="3009043"/>
            <a:ext cx="149193" cy="157724"/>
          </a:xfrm>
          <a:prstGeom prst="rect">
            <a:avLst/>
          </a:prstGeom>
          <a:solidFill>
            <a:srgbClr val="2F485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1" i="0" u="none" strike="noStrike" kern="1200" cap="none" spc="0" baseline="0">
              <a:solidFill>
                <a:srgbClr val="FFFFFF"/>
              </a:solidFill>
              <a:uFillTx/>
              <a:latin typeface="游ゴシック" pitchFamily="34"/>
              <a:ea typeface="游ゴシック" pitchFamily="3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68465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4047A2-FD40-B837-1EBA-F8A1332FB0B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D90F21-B9A8-19D6-FA6D-1D6CCEF5B9E7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altLang="ja-JP" sz="3600" dirty="0"/>
              <a:t>① </a:t>
            </a:r>
            <a:r>
              <a:rPr lang="ja-JP" altLang="en-US" sz="3600"/>
              <a:t>建築環境性能評価制度の全体構造         </a:t>
            </a:r>
            <a:r>
              <a:rPr lang="en-GB" altLang="ja-JP" sz="3600" dirty="0"/>
              <a:t>No.1-3</a:t>
            </a:r>
            <a:r>
              <a:rPr lang="ja-JP" altLang="en-GB" sz="3600"/>
              <a:t>・</a:t>
            </a:r>
            <a:r>
              <a:rPr lang="en-GB" altLang="ja-JP" sz="3600" dirty="0"/>
              <a:t>8</a:t>
            </a:r>
          </a:p>
          <a:p>
            <a:pPr>
              <a:spcAft>
                <a:spcPts val="100"/>
              </a:spcAft>
            </a:pPr>
            <a:r>
              <a:rPr lang="en-GB" altLang="ja-JP" sz="3200" dirty="0">
                <a:solidFill>
                  <a:srgbClr val="444444"/>
                </a:solidFill>
              </a:rPr>
              <a:t>RE2020</a:t>
            </a:r>
            <a:r>
              <a:rPr lang="ja-JP" altLang="en-US" sz="3200">
                <a:solidFill>
                  <a:srgbClr val="444444"/>
                </a:solidFill>
              </a:rPr>
              <a:t>の制度的位置付けと</a:t>
            </a:r>
            <a:r>
              <a:rPr lang="en-US" altLang="ja-JP" sz="3200" dirty="0">
                <a:solidFill>
                  <a:srgbClr val="444444"/>
                </a:solidFill>
              </a:rPr>
              <a:t>3</a:t>
            </a:r>
            <a:r>
              <a:rPr lang="ja-JP" altLang="en-US" sz="3200">
                <a:solidFill>
                  <a:srgbClr val="444444"/>
                </a:solidFill>
              </a:rPr>
              <a:t>評価指標</a:t>
            </a:r>
            <a:endParaRPr lang="en-US" altLang="ja-JP" sz="3200" dirty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lang="ja-JP" altLang="en-US" sz="3200">
                <a:solidFill>
                  <a:srgbClr val="444444"/>
                </a:solidFill>
              </a:rPr>
              <a:t>段階的</a:t>
            </a:r>
            <a:r>
              <a:rPr lang="en-GB" altLang="ja-JP" sz="3200" dirty="0" err="1">
                <a:solidFill>
                  <a:srgbClr val="444444"/>
                </a:solidFill>
              </a:rPr>
              <a:t>seuil</a:t>
            </a:r>
            <a:r>
              <a:rPr lang="ja-JP" altLang="en-US" sz="3200">
                <a:solidFill>
                  <a:srgbClr val="444444"/>
                </a:solidFill>
              </a:rPr>
              <a:t>値・</a:t>
            </a:r>
            <a:r>
              <a:rPr lang="en-GB" altLang="ja-JP" sz="3200" dirty="0">
                <a:solidFill>
                  <a:srgbClr val="444444"/>
                </a:solidFill>
              </a:rPr>
              <a:t>Level(s)</a:t>
            </a:r>
            <a:r>
              <a:rPr lang="ja-JP" altLang="en-GB" sz="3200">
                <a:solidFill>
                  <a:srgbClr val="444444"/>
                </a:solidFill>
              </a:rPr>
              <a:t>・</a:t>
            </a:r>
            <a:r>
              <a:rPr lang="en-GB" altLang="ja-JP" sz="3200" dirty="0">
                <a:solidFill>
                  <a:srgbClr val="444444"/>
                </a:solidFill>
              </a:rPr>
              <a:t>EN15978</a:t>
            </a:r>
            <a:r>
              <a:rPr lang="ja-JP" altLang="en-US" sz="3200">
                <a:solidFill>
                  <a:srgbClr val="444444"/>
                </a:solidFill>
              </a:rPr>
              <a:t>との関係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en-US" altLang="ja-JP" sz="3600" dirty="0"/>
              <a:t>② </a:t>
            </a:r>
            <a:r>
              <a:rPr lang="ja-JP" altLang="en-US" sz="3600"/>
              <a:t>ダイナミック</a:t>
            </a:r>
            <a:r>
              <a:rPr lang="en-GB" altLang="ja-JP" sz="3600" dirty="0"/>
              <a:t>LCA</a:t>
            </a:r>
            <a:r>
              <a:rPr lang="ja-JP" altLang="en-US" sz="3600"/>
              <a:t>の要件整理              </a:t>
            </a:r>
            <a:r>
              <a:rPr lang="en-GB" altLang="ja-JP" sz="3600" dirty="0"/>
              <a:t>No.9-11</a:t>
            </a:r>
          </a:p>
          <a:p>
            <a:pPr>
              <a:spcAft>
                <a:spcPts val="100"/>
              </a:spcAft>
            </a:pPr>
            <a:r>
              <a:rPr lang="ja-JP" altLang="en-US" sz="3200">
                <a:solidFill>
                  <a:srgbClr val="444444"/>
                </a:solidFill>
              </a:rPr>
              <a:t>動的</a:t>
            </a:r>
            <a:r>
              <a:rPr lang="en-GB" altLang="ja-JP" sz="3200" dirty="0">
                <a:solidFill>
                  <a:srgbClr val="444444"/>
                </a:solidFill>
              </a:rPr>
              <a:t>LCA</a:t>
            </a:r>
            <a:r>
              <a:rPr lang="ja-JP" altLang="en-US" sz="3200">
                <a:solidFill>
                  <a:srgbClr val="444444"/>
                </a:solidFill>
              </a:rPr>
              <a:t>制度要件・</a:t>
            </a:r>
            <a:r>
              <a:rPr lang="en-GB" altLang="ja-JP" sz="3200" dirty="0">
                <a:solidFill>
                  <a:srgbClr val="444444"/>
                </a:solidFill>
              </a:rPr>
              <a:t>DCF</a:t>
            </a:r>
            <a:r>
              <a:rPr lang="ja-JP" altLang="en-GB" sz="3200">
                <a:solidFill>
                  <a:srgbClr val="444444"/>
                </a:solidFill>
              </a:rPr>
              <a:t>・</a:t>
            </a:r>
            <a:r>
              <a:rPr lang="en-GB" altLang="ja-JP" sz="3200" dirty="0">
                <a:solidFill>
                  <a:srgbClr val="444444"/>
                </a:solidFill>
              </a:rPr>
              <a:t>FRE2020(t)</a:t>
            </a:r>
            <a:r>
              <a:rPr lang="ja-JP" altLang="en-US" sz="3200">
                <a:solidFill>
                  <a:srgbClr val="444444"/>
                </a:solidFill>
              </a:rPr>
              <a:t>算定根拠</a:t>
            </a:r>
          </a:p>
          <a:p>
            <a:pPr>
              <a:spcAft>
                <a:spcPts val="100"/>
              </a:spcAft>
            </a:pPr>
            <a:r>
              <a:rPr lang="ja-JP" altLang="en-US" sz="3200">
                <a:solidFill>
                  <a:srgbClr val="444444"/>
                </a:solidFill>
              </a:rPr>
              <a:t>段階施行スケジュールと主要パラメータ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en-US" altLang="ja-JP" sz="3600" dirty="0"/>
              <a:t>③ </a:t>
            </a:r>
            <a:r>
              <a:rPr lang="ja-JP" altLang="en-US" sz="3600"/>
              <a:t>生物由来炭素・炭素貯蔵の制度的位置付け  </a:t>
            </a:r>
            <a:r>
              <a:rPr lang="en-GB" altLang="ja-JP" sz="3600" dirty="0"/>
              <a:t>No.12-14</a:t>
            </a:r>
          </a:p>
          <a:p>
            <a:pPr>
              <a:spcAft>
                <a:spcPts val="100"/>
              </a:spcAft>
            </a:pPr>
            <a:r>
              <a:rPr lang="en-GB" altLang="ja-JP" sz="3200" dirty="0" err="1">
                <a:solidFill>
                  <a:srgbClr val="444444"/>
                </a:solidFill>
              </a:rPr>
              <a:t>StockC</a:t>
            </a:r>
            <a:r>
              <a:rPr lang="ja-JP" altLang="en-US" sz="3200">
                <a:solidFill>
                  <a:srgbClr val="444444"/>
                </a:solidFill>
              </a:rPr>
              <a:t>算定方法・評価期間（</a:t>
            </a:r>
            <a:r>
              <a:rPr lang="en-GB" altLang="ja-JP" sz="3200" dirty="0">
                <a:solidFill>
                  <a:srgbClr val="444444"/>
                </a:solidFill>
              </a:rPr>
              <a:t>DO</a:t>
            </a:r>
            <a:r>
              <a:rPr lang="ja-JP" altLang="en-GB" sz="3200">
                <a:solidFill>
                  <a:srgbClr val="444444"/>
                </a:solidFill>
              </a:rPr>
              <a:t>）</a:t>
            </a:r>
            <a:r>
              <a:rPr lang="ja-JP" altLang="en-US" sz="3200">
                <a:solidFill>
                  <a:srgbClr val="444444"/>
                </a:solidFill>
              </a:rPr>
              <a:t>の根拠</a:t>
            </a:r>
          </a:p>
          <a:p>
            <a:pPr>
              <a:spcAft>
                <a:spcPts val="100"/>
              </a:spcAft>
            </a:pPr>
            <a:r>
              <a:rPr lang="ja-JP" altLang="en-US" sz="3200">
                <a:solidFill>
                  <a:srgbClr val="444444"/>
                </a:solidFill>
              </a:rPr>
              <a:t>解体・再利用シナリオ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en-US" altLang="ja-JP" sz="3600" dirty="0"/>
              <a:t>④ </a:t>
            </a:r>
            <a:r>
              <a:rPr lang="ja-JP" altLang="en-US" sz="3600"/>
              <a:t>制度導入の背景および検討プロセス        </a:t>
            </a:r>
            <a:r>
              <a:rPr lang="en-GB" altLang="ja-JP" sz="3600" dirty="0"/>
              <a:t>No.4-7</a:t>
            </a:r>
          </a:p>
          <a:p>
            <a:pPr>
              <a:spcAft>
                <a:spcPts val="100"/>
              </a:spcAft>
            </a:pPr>
            <a:r>
              <a:rPr lang="en-GB" altLang="ja-JP" sz="3200" dirty="0">
                <a:solidFill>
                  <a:srgbClr val="444444"/>
                </a:solidFill>
              </a:rPr>
              <a:t>4</a:t>
            </a:r>
            <a:r>
              <a:rPr lang="ja-JP" altLang="en-US" sz="3200">
                <a:solidFill>
                  <a:srgbClr val="444444"/>
                </a:solidFill>
              </a:rPr>
              <a:t>条件収束・</a:t>
            </a:r>
            <a:r>
              <a:rPr lang="en-US" altLang="ja-JP" sz="3200" dirty="0">
                <a:solidFill>
                  <a:srgbClr val="444444"/>
                </a:solidFill>
              </a:rPr>
              <a:t>15</a:t>
            </a:r>
            <a:r>
              <a:rPr lang="ja-JP" altLang="en-US" sz="3200">
                <a:solidFill>
                  <a:srgbClr val="444444"/>
                </a:solidFill>
              </a:rPr>
              <a:t>年の経緯・</a:t>
            </a:r>
            <a:r>
              <a:rPr lang="en-GB" altLang="ja-JP" sz="3200" dirty="0">
                <a:solidFill>
                  <a:srgbClr val="444444"/>
                </a:solidFill>
              </a:rPr>
              <a:t>Loi </a:t>
            </a:r>
            <a:r>
              <a:rPr lang="en-GB" altLang="ja-JP" sz="3200" dirty="0" err="1">
                <a:solidFill>
                  <a:srgbClr val="444444"/>
                </a:solidFill>
              </a:rPr>
              <a:t>Climat</a:t>
            </a:r>
            <a:endParaRPr lang="en-GB" altLang="ja-JP" sz="3200" dirty="0">
              <a:solidFill>
                <a:srgbClr val="444444"/>
              </a:solidFill>
            </a:endParaRPr>
          </a:p>
          <a:p>
            <a:pPr>
              <a:spcAft>
                <a:spcPts val="100"/>
              </a:spcAft>
            </a:pPr>
            <a:r>
              <a:rPr lang="ja-JP" altLang="en-US" sz="3200">
                <a:solidFill>
                  <a:srgbClr val="444444"/>
                </a:solidFill>
              </a:rPr>
              <a:t>産業界の対立と調停・代替案比較・国際戦略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en-US" altLang="ja-JP" sz="3600" dirty="0"/>
              <a:t>⑤ </a:t>
            </a:r>
            <a:r>
              <a:rPr lang="ja-JP" altLang="en-US" sz="3600"/>
              <a:t>日本への示唆・まとめ・参考文献</a:t>
            </a:r>
          </a:p>
          <a:p>
            <a:pPr marL="0" indent="0">
              <a:buNone/>
            </a:pP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F07AF2D-8E53-A0D8-7D80-C6AB587D72C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D3CAF9D1-3A7F-C84E-B990-8C6BA425AF96}" type="slidenum">
              <a:rPr/>
              <a:t>3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3">
            <a:extLst>
              <a:ext uri="{FF2B5EF4-FFF2-40B4-BE49-F238E27FC236}">
                <a16:creationId xmlns:a16="http://schemas.microsoft.com/office/drawing/2014/main" id="{4D88A63B-BA24-F9FA-8F5A-498CFB8F896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8736AAB-4563-F445-8854-55A644A25180}" type="slidenum">
              <a:t>4</a:t>
            </a:fld>
            <a:endParaRPr 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50CEFFD-0A06-66CA-85FF-13F8A90B37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050" y="430216"/>
            <a:ext cx="10101267" cy="612776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ja-JP" sz="1800"/>
              <a:t>【調査実績サマリ】</a:t>
            </a:r>
            <a:br>
              <a:rPr lang="en-US" sz="1800"/>
            </a:br>
            <a:r>
              <a:rPr lang="en-US" sz="1800"/>
              <a:t>  </a:t>
            </a:r>
            <a:r>
              <a:rPr lang="ja-JP" sz="2000"/>
              <a:t>○○に関する</a:t>
            </a:r>
            <a:r>
              <a:rPr lang="en-US" sz="2000"/>
              <a:t>SuMPO</a:t>
            </a:r>
            <a:r>
              <a:rPr lang="ja-JP" sz="2000"/>
              <a:t>調査実績</a:t>
            </a: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99B4935E-69F7-B61B-8AE6-DC0E421F91E9}"/>
              </a:ext>
            </a:extLst>
          </p:cNvPr>
          <p:cNvSpPr txBox="1"/>
          <p:nvPr/>
        </p:nvSpPr>
        <p:spPr>
          <a:xfrm>
            <a:off x="399528" y="1393207"/>
            <a:ext cx="1077218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0" tIns="45720" rIns="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125486"/>
                </a:solidFill>
                <a:uFillTx/>
                <a:latin typeface="Calibri"/>
                <a:ea typeface="游ゴシック" pitchFamily="34"/>
              </a:rPr>
              <a:t>調査実績の概要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F97A25-B3A9-B221-02F5-1CD602110E58}"/>
              </a:ext>
            </a:extLst>
          </p:cNvPr>
          <p:cNvSpPr/>
          <p:nvPr/>
        </p:nvSpPr>
        <p:spPr>
          <a:xfrm>
            <a:off x="463829" y="1782412"/>
            <a:ext cx="1012917" cy="276999"/>
          </a:xfrm>
          <a:prstGeom prst="rect">
            <a:avLst/>
          </a:prstGeom>
          <a:solidFill>
            <a:srgbClr val="494D51"/>
          </a:solidFill>
          <a:ln w="12701" cap="flat">
            <a:solidFill>
              <a:srgbClr val="2F528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4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業務名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EDCDFF64-7E31-2AA3-7BA8-DE43ABC2C459}"/>
              </a:ext>
            </a:extLst>
          </p:cNvPr>
          <p:cNvSpPr/>
          <p:nvPr/>
        </p:nvSpPr>
        <p:spPr>
          <a:xfrm>
            <a:off x="3213649" y="1782412"/>
            <a:ext cx="6765234" cy="276999"/>
          </a:xfrm>
          <a:prstGeom prst="rect">
            <a:avLst/>
          </a:prstGeom>
          <a:solidFill>
            <a:srgbClr val="494D51"/>
          </a:solidFill>
          <a:ln w="12701" cap="flat">
            <a:solidFill>
              <a:srgbClr val="2F528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4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業務概要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0E47BA98-696E-4763-DD51-7A88E51A359E}"/>
              </a:ext>
            </a:extLst>
          </p:cNvPr>
          <p:cNvSpPr txBox="1"/>
          <p:nvPr/>
        </p:nvSpPr>
        <p:spPr>
          <a:xfrm>
            <a:off x="463829" y="2171626"/>
            <a:ext cx="1012917" cy="493885"/>
          </a:xfrm>
          <a:prstGeom prst="rect">
            <a:avLst/>
          </a:prstGeom>
          <a:solidFill>
            <a:srgbClr val="C5C9CD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BA489807-916C-78D6-DF8C-DFC27C11FCB7}"/>
              </a:ext>
            </a:extLst>
          </p:cNvPr>
          <p:cNvSpPr txBox="1"/>
          <p:nvPr/>
        </p:nvSpPr>
        <p:spPr>
          <a:xfrm>
            <a:off x="3213649" y="2171626"/>
            <a:ext cx="6765234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1561D3A6-BB31-316C-1E2B-4ACE319BDF36}"/>
              </a:ext>
            </a:extLst>
          </p:cNvPr>
          <p:cNvSpPr/>
          <p:nvPr/>
        </p:nvSpPr>
        <p:spPr>
          <a:xfrm>
            <a:off x="1608402" y="1782412"/>
            <a:ext cx="1479362" cy="276999"/>
          </a:xfrm>
          <a:prstGeom prst="rect">
            <a:avLst/>
          </a:prstGeom>
          <a:solidFill>
            <a:srgbClr val="494D51"/>
          </a:solidFill>
          <a:ln w="12701" cap="flat">
            <a:solidFill>
              <a:srgbClr val="2F528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4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業務提供先</a:t>
            </a:r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040658D5-835A-9CD0-B389-450FE9A4B59C}"/>
              </a:ext>
            </a:extLst>
          </p:cNvPr>
          <p:cNvSpPr txBox="1"/>
          <p:nvPr/>
        </p:nvSpPr>
        <p:spPr>
          <a:xfrm>
            <a:off x="1608402" y="2171626"/>
            <a:ext cx="1479362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1" name="TextBox 22">
            <a:extLst>
              <a:ext uri="{FF2B5EF4-FFF2-40B4-BE49-F238E27FC236}">
                <a16:creationId xmlns:a16="http://schemas.microsoft.com/office/drawing/2014/main" id="{274E158D-142E-E505-5568-23B42C72FA00}"/>
              </a:ext>
            </a:extLst>
          </p:cNvPr>
          <p:cNvSpPr txBox="1"/>
          <p:nvPr/>
        </p:nvSpPr>
        <p:spPr>
          <a:xfrm>
            <a:off x="463829" y="2693410"/>
            <a:ext cx="1012917" cy="493885"/>
          </a:xfrm>
          <a:prstGeom prst="rect">
            <a:avLst/>
          </a:prstGeom>
          <a:solidFill>
            <a:srgbClr val="C5C9CD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2" name="TextBox 23">
            <a:extLst>
              <a:ext uri="{FF2B5EF4-FFF2-40B4-BE49-F238E27FC236}">
                <a16:creationId xmlns:a16="http://schemas.microsoft.com/office/drawing/2014/main" id="{60F2B96A-9C16-35AC-43F5-263856C8655E}"/>
              </a:ext>
            </a:extLst>
          </p:cNvPr>
          <p:cNvSpPr txBox="1"/>
          <p:nvPr/>
        </p:nvSpPr>
        <p:spPr>
          <a:xfrm>
            <a:off x="3213649" y="2693410"/>
            <a:ext cx="6765234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3" name="TextBox 24">
            <a:extLst>
              <a:ext uri="{FF2B5EF4-FFF2-40B4-BE49-F238E27FC236}">
                <a16:creationId xmlns:a16="http://schemas.microsoft.com/office/drawing/2014/main" id="{73589255-B7AF-FE9A-9902-A86E974152E7}"/>
              </a:ext>
            </a:extLst>
          </p:cNvPr>
          <p:cNvSpPr txBox="1"/>
          <p:nvPr/>
        </p:nvSpPr>
        <p:spPr>
          <a:xfrm>
            <a:off x="1608402" y="2693410"/>
            <a:ext cx="1479362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4" name="TextBox 25">
            <a:extLst>
              <a:ext uri="{FF2B5EF4-FFF2-40B4-BE49-F238E27FC236}">
                <a16:creationId xmlns:a16="http://schemas.microsoft.com/office/drawing/2014/main" id="{CFCB2D8E-3EEF-AB57-2D12-814EAACD6F73}"/>
              </a:ext>
            </a:extLst>
          </p:cNvPr>
          <p:cNvSpPr txBox="1"/>
          <p:nvPr/>
        </p:nvSpPr>
        <p:spPr>
          <a:xfrm>
            <a:off x="463829" y="3215194"/>
            <a:ext cx="1012917" cy="493885"/>
          </a:xfrm>
          <a:prstGeom prst="rect">
            <a:avLst/>
          </a:prstGeom>
          <a:solidFill>
            <a:srgbClr val="C5C9CD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5" name="TextBox 26">
            <a:extLst>
              <a:ext uri="{FF2B5EF4-FFF2-40B4-BE49-F238E27FC236}">
                <a16:creationId xmlns:a16="http://schemas.microsoft.com/office/drawing/2014/main" id="{C541AE6B-EEBF-D7A6-D214-453C30CED234}"/>
              </a:ext>
            </a:extLst>
          </p:cNvPr>
          <p:cNvSpPr txBox="1"/>
          <p:nvPr/>
        </p:nvSpPr>
        <p:spPr>
          <a:xfrm>
            <a:off x="3213649" y="3215194"/>
            <a:ext cx="6765234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6" name="TextBox 27">
            <a:extLst>
              <a:ext uri="{FF2B5EF4-FFF2-40B4-BE49-F238E27FC236}">
                <a16:creationId xmlns:a16="http://schemas.microsoft.com/office/drawing/2014/main" id="{EFCDE94E-39C1-8326-4A70-A731D6F7B4AD}"/>
              </a:ext>
            </a:extLst>
          </p:cNvPr>
          <p:cNvSpPr txBox="1"/>
          <p:nvPr/>
        </p:nvSpPr>
        <p:spPr>
          <a:xfrm>
            <a:off x="1608402" y="3215194"/>
            <a:ext cx="1479362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7" name="TextBox 28">
            <a:extLst>
              <a:ext uri="{FF2B5EF4-FFF2-40B4-BE49-F238E27FC236}">
                <a16:creationId xmlns:a16="http://schemas.microsoft.com/office/drawing/2014/main" id="{A0B3B37D-7EA6-3C77-C0F1-CAA2549281F8}"/>
              </a:ext>
            </a:extLst>
          </p:cNvPr>
          <p:cNvSpPr txBox="1"/>
          <p:nvPr/>
        </p:nvSpPr>
        <p:spPr>
          <a:xfrm>
            <a:off x="463829" y="3736988"/>
            <a:ext cx="1012917" cy="493885"/>
          </a:xfrm>
          <a:prstGeom prst="rect">
            <a:avLst/>
          </a:prstGeom>
          <a:solidFill>
            <a:srgbClr val="C5C9CD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8" name="TextBox 29">
            <a:extLst>
              <a:ext uri="{FF2B5EF4-FFF2-40B4-BE49-F238E27FC236}">
                <a16:creationId xmlns:a16="http://schemas.microsoft.com/office/drawing/2014/main" id="{9EE3274F-C3BC-704A-8238-2958A6C72687}"/>
              </a:ext>
            </a:extLst>
          </p:cNvPr>
          <p:cNvSpPr txBox="1"/>
          <p:nvPr/>
        </p:nvSpPr>
        <p:spPr>
          <a:xfrm>
            <a:off x="3213649" y="3736988"/>
            <a:ext cx="6765234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9" name="TextBox 30">
            <a:extLst>
              <a:ext uri="{FF2B5EF4-FFF2-40B4-BE49-F238E27FC236}">
                <a16:creationId xmlns:a16="http://schemas.microsoft.com/office/drawing/2014/main" id="{8D363855-93A0-AF67-BE7F-900877DD01AD}"/>
              </a:ext>
            </a:extLst>
          </p:cNvPr>
          <p:cNvSpPr txBox="1"/>
          <p:nvPr/>
        </p:nvSpPr>
        <p:spPr>
          <a:xfrm>
            <a:off x="1608402" y="3736988"/>
            <a:ext cx="1479362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20" name="TextBox 31">
            <a:extLst>
              <a:ext uri="{FF2B5EF4-FFF2-40B4-BE49-F238E27FC236}">
                <a16:creationId xmlns:a16="http://schemas.microsoft.com/office/drawing/2014/main" id="{C5F661A6-FF46-D21D-B4BC-0D21AE619E55}"/>
              </a:ext>
            </a:extLst>
          </p:cNvPr>
          <p:cNvSpPr txBox="1"/>
          <p:nvPr/>
        </p:nvSpPr>
        <p:spPr>
          <a:xfrm>
            <a:off x="457200" y="4258772"/>
            <a:ext cx="1012917" cy="493885"/>
          </a:xfrm>
          <a:prstGeom prst="rect">
            <a:avLst/>
          </a:prstGeom>
          <a:solidFill>
            <a:srgbClr val="C5C9CD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21" name="TextBox 32">
            <a:extLst>
              <a:ext uri="{FF2B5EF4-FFF2-40B4-BE49-F238E27FC236}">
                <a16:creationId xmlns:a16="http://schemas.microsoft.com/office/drawing/2014/main" id="{D1CFAD31-AE0E-1902-A4B9-6CD0B792CF38}"/>
              </a:ext>
            </a:extLst>
          </p:cNvPr>
          <p:cNvSpPr txBox="1"/>
          <p:nvPr/>
        </p:nvSpPr>
        <p:spPr>
          <a:xfrm>
            <a:off x="3207029" y="4258772"/>
            <a:ext cx="6765234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22" name="TextBox 33">
            <a:extLst>
              <a:ext uri="{FF2B5EF4-FFF2-40B4-BE49-F238E27FC236}">
                <a16:creationId xmlns:a16="http://schemas.microsoft.com/office/drawing/2014/main" id="{DF0E0DEC-20A1-65FD-6F20-3524DEDC05E6}"/>
              </a:ext>
            </a:extLst>
          </p:cNvPr>
          <p:cNvSpPr txBox="1"/>
          <p:nvPr/>
        </p:nvSpPr>
        <p:spPr>
          <a:xfrm>
            <a:off x="1601772" y="4258772"/>
            <a:ext cx="1479362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23" name="TextBox 34">
            <a:extLst>
              <a:ext uri="{FF2B5EF4-FFF2-40B4-BE49-F238E27FC236}">
                <a16:creationId xmlns:a16="http://schemas.microsoft.com/office/drawing/2014/main" id="{92FB9E73-83B9-5C93-FF14-EED4552B176E}"/>
              </a:ext>
            </a:extLst>
          </p:cNvPr>
          <p:cNvSpPr txBox="1"/>
          <p:nvPr/>
        </p:nvSpPr>
        <p:spPr>
          <a:xfrm>
            <a:off x="457200" y="4780556"/>
            <a:ext cx="1012917" cy="493885"/>
          </a:xfrm>
          <a:prstGeom prst="rect">
            <a:avLst/>
          </a:prstGeom>
          <a:solidFill>
            <a:srgbClr val="C5C9CD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24" name="TextBox 35">
            <a:extLst>
              <a:ext uri="{FF2B5EF4-FFF2-40B4-BE49-F238E27FC236}">
                <a16:creationId xmlns:a16="http://schemas.microsoft.com/office/drawing/2014/main" id="{037AFF64-47F1-5FB8-58EA-3D12BED76862}"/>
              </a:ext>
            </a:extLst>
          </p:cNvPr>
          <p:cNvSpPr txBox="1"/>
          <p:nvPr/>
        </p:nvSpPr>
        <p:spPr>
          <a:xfrm>
            <a:off x="3207029" y="4780556"/>
            <a:ext cx="6765234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25" name="TextBox 36">
            <a:extLst>
              <a:ext uri="{FF2B5EF4-FFF2-40B4-BE49-F238E27FC236}">
                <a16:creationId xmlns:a16="http://schemas.microsoft.com/office/drawing/2014/main" id="{96F1CDA4-AACD-8CAB-9232-DB6317CC4DBC}"/>
              </a:ext>
            </a:extLst>
          </p:cNvPr>
          <p:cNvSpPr txBox="1"/>
          <p:nvPr/>
        </p:nvSpPr>
        <p:spPr>
          <a:xfrm>
            <a:off x="1601772" y="4780556"/>
            <a:ext cx="1479362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26" name="TextBox 37">
            <a:extLst>
              <a:ext uri="{FF2B5EF4-FFF2-40B4-BE49-F238E27FC236}">
                <a16:creationId xmlns:a16="http://schemas.microsoft.com/office/drawing/2014/main" id="{489CBCB1-40F9-8410-0002-1AB95CEF597F}"/>
              </a:ext>
            </a:extLst>
          </p:cNvPr>
          <p:cNvSpPr txBox="1"/>
          <p:nvPr/>
        </p:nvSpPr>
        <p:spPr>
          <a:xfrm>
            <a:off x="457200" y="5302340"/>
            <a:ext cx="1012917" cy="493885"/>
          </a:xfrm>
          <a:prstGeom prst="rect">
            <a:avLst/>
          </a:prstGeom>
          <a:solidFill>
            <a:srgbClr val="C5C9CD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27" name="TextBox 38">
            <a:extLst>
              <a:ext uri="{FF2B5EF4-FFF2-40B4-BE49-F238E27FC236}">
                <a16:creationId xmlns:a16="http://schemas.microsoft.com/office/drawing/2014/main" id="{F7D6463D-A93D-6295-B6A2-9A2B2124B0C7}"/>
              </a:ext>
            </a:extLst>
          </p:cNvPr>
          <p:cNvSpPr txBox="1"/>
          <p:nvPr/>
        </p:nvSpPr>
        <p:spPr>
          <a:xfrm>
            <a:off x="3207029" y="5302340"/>
            <a:ext cx="6765234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28" name="TextBox 39">
            <a:extLst>
              <a:ext uri="{FF2B5EF4-FFF2-40B4-BE49-F238E27FC236}">
                <a16:creationId xmlns:a16="http://schemas.microsoft.com/office/drawing/2014/main" id="{265019C8-B9CA-6216-3F8F-272B1DB12DBC}"/>
              </a:ext>
            </a:extLst>
          </p:cNvPr>
          <p:cNvSpPr txBox="1"/>
          <p:nvPr/>
        </p:nvSpPr>
        <p:spPr>
          <a:xfrm>
            <a:off x="1601772" y="5302340"/>
            <a:ext cx="1479362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29" name="TextBox 40">
            <a:extLst>
              <a:ext uri="{FF2B5EF4-FFF2-40B4-BE49-F238E27FC236}">
                <a16:creationId xmlns:a16="http://schemas.microsoft.com/office/drawing/2014/main" id="{E85820E6-7990-74FE-B825-D38D1B0F8D6B}"/>
              </a:ext>
            </a:extLst>
          </p:cNvPr>
          <p:cNvSpPr txBox="1"/>
          <p:nvPr/>
        </p:nvSpPr>
        <p:spPr>
          <a:xfrm>
            <a:off x="457200" y="5824124"/>
            <a:ext cx="1012917" cy="493885"/>
          </a:xfrm>
          <a:prstGeom prst="rect">
            <a:avLst/>
          </a:prstGeom>
          <a:solidFill>
            <a:srgbClr val="C5C9CD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0" name="TextBox 41">
            <a:extLst>
              <a:ext uri="{FF2B5EF4-FFF2-40B4-BE49-F238E27FC236}">
                <a16:creationId xmlns:a16="http://schemas.microsoft.com/office/drawing/2014/main" id="{D9B1E9EA-B250-D99B-28D2-04FACE3746EB}"/>
              </a:ext>
            </a:extLst>
          </p:cNvPr>
          <p:cNvSpPr txBox="1"/>
          <p:nvPr/>
        </p:nvSpPr>
        <p:spPr>
          <a:xfrm>
            <a:off x="3207029" y="5824124"/>
            <a:ext cx="6765234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1" name="TextBox 42">
            <a:extLst>
              <a:ext uri="{FF2B5EF4-FFF2-40B4-BE49-F238E27FC236}">
                <a16:creationId xmlns:a16="http://schemas.microsoft.com/office/drawing/2014/main" id="{44E49C4A-D565-0AEC-B648-E30D9F06062F}"/>
              </a:ext>
            </a:extLst>
          </p:cNvPr>
          <p:cNvSpPr txBox="1"/>
          <p:nvPr/>
        </p:nvSpPr>
        <p:spPr>
          <a:xfrm>
            <a:off x="1601772" y="5824124"/>
            <a:ext cx="1479362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2" name="TextBox 43">
            <a:extLst>
              <a:ext uri="{FF2B5EF4-FFF2-40B4-BE49-F238E27FC236}">
                <a16:creationId xmlns:a16="http://schemas.microsoft.com/office/drawing/2014/main" id="{D8BAEA58-338E-AE26-30C8-F5A404D5FB59}"/>
              </a:ext>
            </a:extLst>
          </p:cNvPr>
          <p:cNvSpPr txBox="1"/>
          <p:nvPr/>
        </p:nvSpPr>
        <p:spPr>
          <a:xfrm>
            <a:off x="457200" y="6354924"/>
            <a:ext cx="1012917" cy="493885"/>
          </a:xfrm>
          <a:prstGeom prst="rect">
            <a:avLst/>
          </a:prstGeom>
          <a:solidFill>
            <a:srgbClr val="C5C9CD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3" name="TextBox 44">
            <a:extLst>
              <a:ext uri="{FF2B5EF4-FFF2-40B4-BE49-F238E27FC236}">
                <a16:creationId xmlns:a16="http://schemas.microsoft.com/office/drawing/2014/main" id="{DC015D5A-601E-6E0D-26D2-1A57C7E5669D}"/>
              </a:ext>
            </a:extLst>
          </p:cNvPr>
          <p:cNvSpPr txBox="1"/>
          <p:nvPr/>
        </p:nvSpPr>
        <p:spPr>
          <a:xfrm>
            <a:off x="3207029" y="6354924"/>
            <a:ext cx="6765234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4" name="TextBox 45">
            <a:extLst>
              <a:ext uri="{FF2B5EF4-FFF2-40B4-BE49-F238E27FC236}">
                <a16:creationId xmlns:a16="http://schemas.microsoft.com/office/drawing/2014/main" id="{295FFBF4-6447-7CEE-38F7-0918E2239670}"/>
              </a:ext>
            </a:extLst>
          </p:cNvPr>
          <p:cNvSpPr txBox="1"/>
          <p:nvPr/>
        </p:nvSpPr>
        <p:spPr>
          <a:xfrm>
            <a:off x="1601772" y="6354924"/>
            <a:ext cx="1479362" cy="493885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3">
            <a:extLst>
              <a:ext uri="{FF2B5EF4-FFF2-40B4-BE49-F238E27FC236}">
                <a16:creationId xmlns:a16="http://schemas.microsoft.com/office/drawing/2014/main" id="{F61DF030-DBB7-FEB3-8414-5ED64DEC37E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A08C8629-9718-014A-8886-4B4AA19F3528}" type="slidenum">
              <a:t>5</a:t>
            </a:fld>
            <a:endParaRPr 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918D473E-590E-983E-110E-0F66BDC0D5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050" y="430216"/>
            <a:ext cx="10101267" cy="612776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ja-JP" sz="1800"/>
              <a:t>【調査結果サマリ】</a:t>
            </a:r>
            <a:br>
              <a:rPr lang="en-US" sz="1800"/>
            </a:br>
            <a:r>
              <a:rPr lang="en-US" sz="1800"/>
              <a:t>  </a:t>
            </a:r>
            <a:r>
              <a:rPr lang="ja-JP" sz="2000"/>
              <a:t>サマリを</a:t>
            </a:r>
            <a:r>
              <a:rPr lang="en-US" sz="2000"/>
              <a:t>1</a:t>
            </a:r>
            <a:r>
              <a:rPr lang="ja-JP" sz="2000"/>
              <a:t>文章追記する</a:t>
            </a: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BD035066-B0B9-CC77-A2C2-49C4455E0954}"/>
              </a:ext>
            </a:extLst>
          </p:cNvPr>
          <p:cNvSpPr txBox="1"/>
          <p:nvPr/>
        </p:nvSpPr>
        <p:spPr>
          <a:xfrm>
            <a:off x="399528" y="1393207"/>
            <a:ext cx="1077218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0" tIns="45720" rIns="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125486"/>
                </a:solidFill>
                <a:uFillTx/>
                <a:latin typeface="Calibri"/>
                <a:ea typeface="游ゴシック" pitchFamily="34"/>
              </a:rPr>
              <a:t>調査内容の概要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B3C60E-FF70-E758-3B7D-5388FDB01888}"/>
              </a:ext>
            </a:extLst>
          </p:cNvPr>
          <p:cNvSpPr/>
          <p:nvPr/>
        </p:nvSpPr>
        <p:spPr>
          <a:xfrm>
            <a:off x="463829" y="1782412"/>
            <a:ext cx="2471531" cy="276999"/>
          </a:xfrm>
          <a:prstGeom prst="rect">
            <a:avLst/>
          </a:prstGeom>
          <a:solidFill>
            <a:srgbClr val="494D51"/>
          </a:solidFill>
          <a:ln w="12701" cap="flat">
            <a:solidFill>
              <a:srgbClr val="2F528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4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概要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936A7DD7-73D9-BBA5-FE28-202CFC9D36AE}"/>
              </a:ext>
            </a:extLst>
          </p:cNvPr>
          <p:cNvSpPr/>
          <p:nvPr/>
        </p:nvSpPr>
        <p:spPr>
          <a:xfrm>
            <a:off x="3213649" y="1782412"/>
            <a:ext cx="6765234" cy="276999"/>
          </a:xfrm>
          <a:prstGeom prst="rect">
            <a:avLst/>
          </a:prstGeom>
          <a:solidFill>
            <a:srgbClr val="494D51"/>
          </a:solidFill>
          <a:ln w="12701" cap="flat">
            <a:solidFill>
              <a:srgbClr val="2F528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4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調査結果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A0090D1E-BABB-0745-43CE-38E39406936C}"/>
              </a:ext>
            </a:extLst>
          </p:cNvPr>
          <p:cNvSpPr txBox="1"/>
          <p:nvPr/>
        </p:nvSpPr>
        <p:spPr>
          <a:xfrm>
            <a:off x="463829" y="2171626"/>
            <a:ext cx="2471531" cy="1398108"/>
          </a:xfrm>
          <a:prstGeom prst="rect">
            <a:avLst/>
          </a:prstGeom>
          <a:solidFill>
            <a:srgbClr val="C5C9CD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91E6121A-8ED4-C73E-706E-23084F6F9F86}"/>
              </a:ext>
            </a:extLst>
          </p:cNvPr>
          <p:cNvSpPr txBox="1"/>
          <p:nvPr/>
        </p:nvSpPr>
        <p:spPr>
          <a:xfrm>
            <a:off x="463829" y="3681941"/>
            <a:ext cx="2471531" cy="1398108"/>
          </a:xfrm>
          <a:prstGeom prst="rect">
            <a:avLst/>
          </a:prstGeom>
          <a:solidFill>
            <a:srgbClr val="C5C9CD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6EB0E530-0D09-F4E6-029F-9F80A0D3B1E9}"/>
              </a:ext>
            </a:extLst>
          </p:cNvPr>
          <p:cNvSpPr txBox="1"/>
          <p:nvPr/>
        </p:nvSpPr>
        <p:spPr>
          <a:xfrm>
            <a:off x="463829" y="5192255"/>
            <a:ext cx="2471531" cy="1398108"/>
          </a:xfrm>
          <a:prstGeom prst="rect">
            <a:avLst/>
          </a:prstGeom>
          <a:solidFill>
            <a:srgbClr val="C5C9CD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D0AA1993-DFE7-F272-AC65-8F9596FFD9FA}"/>
              </a:ext>
            </a:extLst>
          </p:cNvPr>
          <p:cNvSpPr txBox="1"/>
          <p:nvPr/>
        </p:nvSpPr>
        <p:spPr>
          <a:xfrm>
            <a:off x="3213649" y="2171626"/>
            <a:ext cx="6765234" cy="1398108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CB02C4B4-E4AB-28E1-BDAC-2F70526BAD68}"/>
              </a:ext>
            </a:extLst>
          </p:cNvPr>
          <p:cNvSpPr txBox="1"/>
          <p:nvPr/>
        </p:nvSpPr>
        <p:spPr>
          <a:xfrm>
            <a:off x="3213649" y="3681941"/>
            <a:ext cx="6765234" cy="1398108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2" name="TextBox 19">
            <a:extLst>
              <a:ext uri="{FF2B5EF4-FFF2-40B4-BE49-F238E27FC236}">
                <a16:creationId xmlns:a16="http://schemas.microsoft.com/office/drawing/2014/main" id="{CE4E3920-7286-311D-88B5-D146FE46A1C7}"/>
              </a:ext>
            </a:extLst>
          </p:cNvPr>
          <p:cNvSpPr txBox="1"/>
          <p:nvPr/>
        </p:nvSpPr>
        <p:spPr>
          <a:xfrm>
            <a:off x="3213649" y="5192255"/>
            <a:ext cx="6765234" cy="1398108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3">
            <a:extLst>
              <a:ext uri="{FF2B5EF4-FFF2-40B4-BE49-F238E27FC236}">
                <a16:creationId xmlns:a16="http://schemas.microsoft.com/office/drawing/2014/main" id="{815D9D51-3F41-9D1D-EE53-E8806592FA4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A84590B4-47B6-1448-B2AC-E590B6702AF3}" type="slidenum">
              <a:t>6</a:t>
            </a:fld>
            <a:endParaRPr 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089D1C2-9326-BE4E-807F-7892CFA78E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050" y="430216"/>
            <a:ext cx="10101267" cy="612776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ja-JP" sz="1800"/>
              <a:t>【調査結果サマリ】</a:t>
            </a:r>
            <a:br>
              <a:rPr lang="en-US" sz="1800"/>
            </a:br>
            <a:r>
              <a:rPr lang="en-US" sz="1800"/>
              <a:t>  </a:t>
            </a:r>
            <a:r>
              <a:rPr lang="ja-JP" sz="2000"/>
              <a:t>サマリを</a:t>
            </a:r>
            <a:r>
              <a:rPr lang="en-US" sz="2000"/>
              <a:t>1</a:t>
            </a:r>
            <a:r>
              <a:rPr lang="ja-JP" sz="2000"/>
              <a:t>文章追記する</a:t>
            </a: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7AC6AA2C-2F3C-A57D-B18D-25B6AAF13146}"/>
              </a:ext>
            </a:extLst>
          </p:cNvPr>
          <p:cNvSpPr txBox="1"/>
          <p:nvPr/>
        </p:nvSpPr>
        <p:spPr>
          <a:xfrm>
            <a:off x="399528" y="1393207"/>
            <a:ext cx="1077218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0" tIns="45720" rIns="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125486"/>
                </a:solidFill>
                <a:uFillTx/>
                <a:latin typeface="Calibri"/>
                <a:ea typeface="游ゴシック" pitchFamily="34"/>
              </a:rPr>
              <a:t>調査内容の概要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431412-DF2C-BA50-880C-9020CA07CBE9}"/>
              </a:ext>
            </a:extLst>
          </p:cNvPr>
          <p:cNvSpPr/>
          <p:nvPr/>
        </p:nvSpPr>
        <p:spPr>
          <a:xfrm>
            <a:off x="463829" y="1782412"/>
            <a:ext cx="1398108" cy="276999"/>
          </a:xfrm>
          <a:prstGeom prst="rect">
            <a:avLst/>
          </a:prstGeom>
          <a:solidFill>
            <a:srgbClr val="494D51"/>
          </a:solidFill>
          <a:ln w="12701" cap="flat">
            <a:solidFill>
              <a:srgbClr val="2F528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4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実施内容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8474C78-5C60-C4F5-05A4-618A13F2970F}"/>
              </a:ext>
            </a:extLst>
          </p:cNvPr>
          <p:cNvSpPr/>
          <p:nvPr/>
        </p:nvSpPr>
        <p:spPr>
          <a:xfrm>
            <a:off x="1974573" y="1782412"/>
            <a:ext cx="2683562" cy="276999"/>
          </a:xfrm>
          <a:prstGeom prst="rect">
            <a:avLst/>
          </a:prstGeom>
          <a:solidFill>
            <a:srgbClr val="494D51"/>
          </a:solidFill>
          <a:ln w="12701" cap="flat">
            <a:solidFill>
              <a:srgbClr val="2F528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4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実施方法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9D4B42D2-4298-495F-B0D0-8E012CC763CF}"/>
              </a:ext>
            </a:extLst>
          </p:cNvPr>
          <p:cNvSpPr txBox="1"/>
          <p:nvPr/>
        </p:nvSpPr>
        <p:spPr>
          <a:xfrm>
            <a:off x="463829" y="2171626"/>
            <a:ext cx="1398108" cy="1398108"/>
          </a:xfrm>
          <a:prstGeom prst="rect">
            <a:avLst/>
          </a:prstGeom>
          <a:solidFill>
            <a:srgbClr val="C5C9CD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40E64FF2-31E5-8C4C-3BF1-6428FD85148A}"/>
              </a:ext>
            </a:extLst>
          </p:cNvPr>
          <p:cNvSpPr txBox="1"/>
          <p:nvPr/>
        </p:nvSpPr>
        <p:spPr>
          <a:xfrm>
            <a:off x="463829" y="3681941"/>
            <a:ext cx="1398108" cy="1398108"/>
          </a:xfrm>
          <a:prstGeom prst="rect">
            <a:avLst/>
          </a:prstGeom>
          <a:solidFill>
            <a:srgbClr val="C5C9CD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529D2F24-EC9C-D5AE-F01B-2C88AC025020}"/>
              </a:ext>
            </a:extLst>
          </p:cNvPr>
          <p:cNvSpPr txBox="1"/>
          <p:nvPr/>
        </p:nvSpPr>
        <p:spPr>
          <a:xfrm>
            <a:off x="463829" y="5196462"/>
            <a:ext cx="1398108" cy="1398108"/>
          </a:xfrm>
          <a:prstGeom prst="rect">
            <a:avLst/>
          </a:prstGeom>
          <a:solidFill>
            <a:srgbClr val="C5C9CD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AAFE1F9D-525D-8581-6A9F-A68706485043}"/>
              </a:ext>
            </a:extLst>
          </p:cNvPr>
          <p:cNvSpPr txBox="1"/>
          <p:nvPr/>
        </p:nvSpPr>
        <p:spPr>
          <a:xfrm>
            <a:off x="4770781" y="2171626"/>
            <a:ext cx="5208102" cy="1398108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6BF7B8BF-ADAF-9917-7DC9-E540FCDDFE50}"/>
              </a:ext>
            </a:extLst>
          </p:cNvPr>
          <p:cNvSpPr txBox="1"/>
          <p:nvPr/>
        </p:nvSpPr>
        <p:spPr>
          <a:xfrm>
            <a:off x="4770781" y="3681941"/>
            <a:ext cx="5208102" cy="1398108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2" name="TextBox 19">
            <a:extLst>
              <a:ext uri="{FF2B5EF4-FFF2-40B4-BE49-F238E27FC236}">
                <a16:creationId xmlns:a16="http://schemas.microsoft.com/office/drawing/2014/main" id="{F923165C-3094-5124-7553-AF8F2FDC0887}"/>
              </a:ext>
            </a:extLst>
          </p:cNvPr>
          <p:cNvSpPr txBox="1"/>
          <p:nvPr/>
        </p:nvSpPr>
        <p:spPr>
          <a:xfrm>
            <a:off x="4770781" y="5192255"/>
            <a:ext cx="5208102" cy="1398108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0262F6E-BB40-186D-1E29-E457B9A9855E}"/>
              </a:ext>
            </a:extLst>
          </p:cNvPr>
          <p:cNvSpPr txBox="1"/>
          <p:nvPr/>
        </p:nvSpPr>
        <p:spPr>
          <a:xfrm>
            <a:off x="1974573" y="2171626"/>
            <a:ext cx="2683562" cy="1398108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955CE21-C59E-2793-5F4E-20DCB4F6D49B}"/>
              </a:ext>
            </a:extLst>
          </p:cNvPr>
          <p:cNvSpPr txBox="1"/>
          <p:nvPr/>
        </p:nvSpPr>
        <p:spPr>
          <a:xfrm>
            <a:off x="1974573" y="3681941"/>
            <a:ext cx="2683562" cy="1398108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5" name="TextBox 20">
            <a:extLst>
              <a:ext uri="{FF2B5EF4-FFF2-40B4-BE49-F238E27FC236}">
                <a16:creationId xmlns:a16="http://schemas.microsoft.com/office/drawing/2014/main" id="{CE5233F8-DE61-BE20-C65C-972A385A997F}"/>
              </a:ext>
            </a:extLst>
          </p:cNvPr>
          <p:cNvSpPr txBox="1"/>
          <p:nvPr/>
        </p:nvSpPr>
        <p:spPr>
          <a:xfrm>
            <a:off x="1974573" y="5192255"/>
            <a:ext cx="2683562" cy="1398108"/>
          </a:xfrm>
          <a:prstGeom prst="rect">
            <a:avLst/>
          </a:prstGeom>
          <a:noFill/>
          <a:ln w="19046" cap="flat">
            <a:solidFill>
              <a:srgbClr val="C5C9C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6" name="Rectangle 21">
            <a:extLst>
              <a:ext uri="{FF2B5EF4-FFF2-40B4-BE49-F238E27FC236}">
                <a16:creationId xmlns:a16="http://schemas.microsoft.com/office/drawing/2014/main" id="{36A2BDAD-1EEA-B079-64D5-9B63DA272111}"/>
              </a:ext>
            </a:extLst>
          </p:cNvPr>
          <p:cNvSpPr/>
          <p:nvPr/>
        </p:nvSpPr>
        <p:spPr>
          <a:xfrm>
            <a:off x="4770781" y="1782412"/>
            <a:ext cx="5208102" cy="276999"/>
          </a:xfrm>
          <a:prstGeom prst="rect">
            <a:avLst/>
          </a:prstGeom>
          <a:solidFill>
            <a:srgbClr val="494D51"/>
          </a:solidFill>
          <a:ln w="12701" cap="flat">
            <a:solidFill>
              <a:srgbClr val="2F528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4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游ゴシック" pitchFamily="34"/>
              </a:rPr>
              <a:t>調査結果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68465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Office%20Theme</Template>
  <TotalTime>1273</TotalTime>
  <Words>325</Words>
  <Application>Microsoft Macintosh PowerPoint</Application>
  <PresentationFormat>ユーザー設定</PresentationFormat>
  <Paragraphs>74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5" baseType="lpstr">
      <vt:lpstr>Hiragino Kaku Gothic Std W3</vt:lpstr>
      <vt:lpstr>游ゴシック</vt:lpstr>
      <vt:lpstr>Aptos</vt:lpstr>
      <vt:lpstr>Arial</vt:lpstr>
      <vt:lpstr>Calibri</vt:lpstr>
      <vt:lpstr>Calibri Light</vt:lpstr>
      <vt:lpstr>Office テーマ</vt:lpstr>
      <vt:lpstr>調査ブロック①　政策及び制度調査報告</vt:lpstr>
      <vt:lpstr>Color Palette</vt:lpstr>
      <vt:lpstr>Shapes</vt:lpstr>
      <vt:lpstr>PowerPoint プレゼンテーション</vt:lpstr>
      <vt:lpstr>【調査実績サマリ】   ○○に関するSuMPO調査実績</vt:lpstr>
      <vt:lpstr>【調査結果サマリ】   サマリを1文章追記する</vt:lpstr>
      <vt:lpstr>【調査結果サマリ】   サマリを1文章追記する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KAKKAR-21</dc:creator>
  <cp:lastModifiedBy>根岸 光司</cp:lastModifiedBy>
  <cp:revision>126</cp:revision>
  <cp:lastPrinted>2020-02-21T03:07:58Z</cp:lastPrinted>
  <dcterms:created xsi:type="dcterms:W3CDTF">2019-11-29T07:02:30Z</dcterms:created>
  <dcterms:modified xsi:type="dcterms:W3CDTF">2026-06-02T06:00:16Z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0x01010066933BD81F2A764CB761560FCEB60138</vt:lpwstr>
  </property>
</Properties>
</file>