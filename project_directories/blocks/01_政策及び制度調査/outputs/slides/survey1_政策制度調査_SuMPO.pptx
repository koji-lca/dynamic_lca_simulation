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0691813" cy="7559675"/>
  <p:notesSz cx="6858000" cy="9144000"/>
  <p:defaultTextStyle>
    <a:defPPr>
      <a:defRPr lang="ja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5940675A-B579-460E-94D1-54222C63F5D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57"/>
    <p:restoredTop sz="94688"/>
  </p:normalViewPr>
  <p:slideViewPr>
    <p:cSldViewPr snapToGrid="0">
      <p:cViewPr varScale="1">
        <p:scale>
          <a:sx n="66" d="100"/>
          <a:sy n="66" d="100"/>
        </p:scale>
        <p:origin x="192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2CB7F64A-8C42-F23D-D097-4B3EE8B24CE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2E6F7D04-8F56-CD64-BFCD-F14E41EEB8E2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  <p:sp>
        <p:nvSpPr>
          <p:cNvPr id="4" name="スライド番号プレースホルダー 4">
            <a:extLst>
              <a:ext uri="{FF2B5EF4-FFF2-40B4-BE49-F238E27FC236}">
                <a16:creationId xmlns:a16="http://schemas.microsoft.com/office/drawing/2014/main" id="{4B2C9048-3CFF-BB2E-975E-0870AE2D895E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11708C4-0D70-2A4C-BC1F-5D3A25B5927A}" type="slidenum">
              <a:t>‹#›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5134250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6B3E2819-15E5-1A71-6EFE-808AC8B9F8F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874EB0-160C-67CE-6359-880E7FCE0C48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fld id="{5BCBEECA-5209-B044-B147-1673C62B355A}" type="datetime1">
              <a:rPr lang="en-US"/>
              <a:pPr lvl="0"/>
              <a:t>6/2/26</a:t>
            </a:fld>
            <a:endParaRPr lang="en-US"/>
          </a:p>
        </p:txBody>
      </p:sp>
      <p:sp>
        <p:nvSpPr>
          <p:cNvPr id="4" name="スライド イメージ プレースホルダー 3">
            <a:extLst>
              <a:ext uri="{FF2B5EF4-FFF2-40B4-BE49-F238E27FC236}">
                <a16:creationId xmlns:a16="http://schemas.microsoft.com/office/drawing/2014/main" id="{5EE16A9D-61E6-5284-5944-5A0EAF71AF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46190" y="1143000"/>
            <a:ext cx="4365629" cy="3086100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ノート プレースホルダー 4">
            <a:extLst>
              <a:ext uri="{FF2B5EF4-FFF2-40B4-BE49-F238E27FC236}">
                <a16:creationId xmlns:a16="http://schemas.microsoft.com/office/drawing/2014/main" id="{0EABD5A5-3198-52EC-CF38-0FFCB24BC5EB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EB6756-D48B-4F59-A3B8-7AAE24A8BC4A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3A7EC3-3B22-E725-ED7C-5CE28A6FEED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fld id="{B49AF10F-6C39-B848-B527-783F26C3383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98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1pPr>
    <a:lvl2pPr marL="497753" marR="0" lvl="1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2pPr>
    <a:lvl3pPr marL="995507" marR="0" lvl="2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3pPr>
    <a:lvl4pPr marL="1493260" marR="0" lvl="3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4pPr>
    <a:lvl5pPr marL="1991014" marR="0" lvl="4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5">
            <a:extLst>
              <a:ext uri="{FF2B5EF4-FFF2-40B4-BE49-F238E27FC236}">
                <a16:creationId xmlns:a16="http://schemas.microsoft.com/office/drawing/2014/main" id="{00DFD775-92BB-E6B5-0624-3AE0E5FA9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" y="0"/>
            <a:ext cx="10679012" cy="75543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2E5D412-069E-3478-FA61-023D85CE8DF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01883" y="3132670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7D8396E-022C-EAEC-A749-2D67E3CD92F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36477" y="3970580"/>
            <a:ext cx="8018858" cy="402482"/>
          </a:xfrm>
        </p:spPr>
        <p:txBody>
          <a:bodyPr anchorCtr="1"/>
          <a:lstStyle>
            <a:lvl1pPr marL="0" indent="0" algn="ctr">
              <a:buNone/>
              <a:defRPr lang="en-US" sz="2400"/>
            </a:lvl1pPr>
          </a:lstStyle>
          <a:p>
            <a:pPr lvl="0"/>
            <a:r>
              <a:rPr lang="en-US"/>
              <a:t>2026.00.00</a:t>
            </a:r>
          </a:p>
        </p:txBody>
      </p:sp>
      <p:sp>
        <p:nvSpPr>
          <p:cNvPr id="5" name="正方形/長方形 8">
            <a:extLst>
              <a:ext uri="{FF2B5EF4-FFF2-40B4-BE49-F238E27FC236}">
                <a16:creationId xmlns:a16="http://schemas.microsoft.com/office/drawing/2014/main" id="{E234C807-F569-8D78-AD27-C10A8C7872D9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6" name="直線コネクタ 9">
            <a:extLst>
              <a:ext uri="{FF2B5EF4-FFF2-40B4-BE49-F238E27FC236}">
                <a16:creationId xmlns:a16="http://schemas.microsoft.com/office/drawing/2014/main" id="{4F4B76E2-360E-DDF7-FE4D-2D6047E9B643}"/>
              </a:ext>
            </a:extLst>
          </p:cNvPr>
          <p:cNvCxnSpPr/>
          <p:nvPr/>
        </p:nvCxnSpPr>
        <p:spPr>
          <a:xfrm>
            <a:off x="-18470" y="7166518"/>
            <a:ext cx="1069199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7" name="Subtitle 2">
            <a:extLst>
              <a:ext uri="{FF2B5EF4-FFF2-40B4-BE49-F238E27FC236}">
                <a16:creationId xmlns:a16="http://schemas.microsoft.com/office/drawing/2014/main" id="{EF689ACB-A9D4-1D04-838C-CC2834123A79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pic>
        <p:nvPicPr>
          <p:cNvPr id="8" name="図 14">
            <a:extLst>
              <a:ext uri="{FF2B5EF4-FFF2-40B4-BE49-F238E27FC236}">
                <a16:creationId xmlns:a16="http://schemas.microsoft.com/office/drawing/2014/main" id="{9AA4B207-D3AE-090E-9747-03CEE615A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336" y="99468"/>
            <a:ext cx="2908304" cy="17779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正方形/長方形 15">
            <a:extLst>
              <a:ext uri="{FF2B5EF4-FFF2-40B4-BE49-F238E27FC236}">
                <a16:creationId xmlns:a16="http://schemas.microsoft.com/office/drawing/2014/main" id="{9E15BC65-8EB9-9393-F4FC-8178E9F58EA7}"/>
              </a:ext>
            </a:extLst>
          </p:cNvPr>
          <p:cNvSpPr/>
          <p:nvPr/>
        </p:nvSpPr>
        <p:spPr>
          <a:xfrm>
            <a:off x="3885404" y="378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0" name="正方形/長方形 16">
            <a:extLst>
              <a:ext uri="{FF2B5EF4-FFF2-40B4-BE49-F238E27FC236}">
                <a16:creationId xmlns:a16="http://schemas.microsoft.com/office/drawing/2014/main" id="{A9FF4FC7-202A-E8F7-6D0B-FFFB317FE180}"/>
              </a:ext>
            </a:extLst>
          </p:cNvPr>
          <p:cNvSpPr/>
          <p:nvPr/>
        </p:nvSpPr>
        <p:spPr>
          <a:xfrm>
            <a:off x="4605403" y="378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1" name="正方形/長方形 17">
            <a:extLst>
              <a:ext uri="{FF2B5EF4-FFF2-40B4-BE49-F238E27FC236}">
                <a16:creationId xmlns:a16="http://schemas.microsoft.com/office/drawing/2014/main" id="{957F8504-4F93-19E9-3EB5-4955FF3B6C95}"/>
              </a:ext>
            </a:extLst>
          </p:cNvPr>
          <p:cNvSpPr/>
          <p:nvPr/>
        </p:nvSpPr>
        <p:spPr>
          <a:xfrm>
            <a:off x="5325401" y="378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2" name="正方形/長方形 18">
            <a:extLst>
              <a:ext uri="{FF2B5EF4-FFF2-40B4-BE49-F238E27FC236}">
                <a16:creationId xmlns:a16="http://schemas.microsoft.com/office/drawing/2014/main" id="{1BF164A5-5F14-9707-AF41-3077187EC645}"/>
              </a:ext>
            </a:extLst>
          </p:cNvPr>
          <p:cNvSpPr/>
          <p:nvPr/>
        </p:nvSpPr>
        <p:spPr>
          <a:xfrm>
            <a:off x="6045409" y="378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3" name="図 4">
            <a:extLst>
              <a:ext uri="{FF2B5EF4-FFF2-40B4-BE49-F238E27FC236}">
                <a16:creationId xmlns:a16="http://schemas.microsoft.com/office/drawing/2014/main" id="{3ACDDA9B-3767-2073-AB98-31F31C173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3639" y="5481123"/>
            <a:ext cx="5514536" cy="111755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図 20">
            <a:extLst>
              <a:ext uri="{FF2B5EF4-FFF2-40B4-BE49-F238E27FC236}">
                <a16:creationId xmlns:a16="http://schemas.microsoft.com/office/drawing/2014/main" id="{94BF1B61-FD64-B485-CE6A-D7053DF6D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2837" y="5687055"/>
            <a:ext cx="699845" cy="81064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図 21">
            <a:extLst>
              <a:ext uri="{FF2B5EF4-FFF2-40B4-BE49-F238E27FC236}">
                <a16:creationId xmlns:a16="http://schemas.microsoft.com/office/drawing/2014/main" id="{F2F7E7B9-B82D-7573-7861-B43BDB1ADF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8969" y="6271394"/>
            <a:ext cx="3938137" cy="2443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389260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見出し　水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1">
            <a:extLst>
              <a:ext uri="{FF2B5EF4-FFF2-40B4-BE49-F238E27FC236}">
                <a16:creationId xmlns:a16="http://schemas.microsoft.com/office/drawing/2014/main" id="{5C055667-FF3F-A6D2-BC77-F96F2CDAC7A8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1CE64156-C7D9-C1F4-23D2-EB54DD509E8A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595A7E94-BB0C-E096-4FAF-69783B99C3E3}"/>
              </a:ext>
            </a:extLst>
          </p:cNvPr>
          <p:cNvSpPr/>
          <p:nvPr/>
        </p:nvSpPr>
        <p:spPr>
          <a:xfrm>
            <a:off x="1386001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9">
            <a:extLst>
              <a:ext uri="{FF2B5EF4-FFF2-40B4-BE49-F238E27FC236}">
                <a16:creationId xmlns:a16="http://schemas.microsoft.com/office/drawing/2014/main" id="{9EBFF0C2-6EBE-33F0-9B20-890B97C55AC8}"/>
              </a:ext>
            </a:extLst>
          </p:cNvPr>
          <p:cNvSpPr/>
          <p:nvPr/>
        </p:nvSpPr>
        <p:spPr>
          <a:xfrm>
            <a:off x="2106000" y="3600001"/>
            <a:ext cx="7200003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0">
            <a:extLst>
              <a:ext uri="{FF2B5EF4-FFF2-40B4-BE49-F238E27FC236}">
                <a16:creationId xmlns:a16="http://schemas.microsoft.com/office/drawing/2014/main" id="{84BE7162-FE6E-5B4B-2678-4DBB54DDE78D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7" name="直線コネクタ 22">
            <a:extLst>
              <a:ext uri="{FF2B5EF4-FFF2-40B4-BE49-F238E27FC236}">
                <a16:creationId xmlns:a16="http://schemas.microsoft.com/office/drawing/2014/main" id="{2853C88F-AC5A-A21C-4AE8-A2348C622629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FFEDBDF8-C21B-8651-834C-E661C7D905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AF77E20-5376-7FBE-3404-653442A7242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BC2E31E-EC1D-2B77-7AE6-A69951739B7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E6A15C84-9E99-F84A-9F32-30BD8DF16F2E}" type="slidenum">
              <a:t>‹#›</a:t>
            </a:fld>
            <a:endParaRPr lang="en-US"/>
          </a:p>
        </p:txBody>
      </p:sp>
      <p:pic>
        <p:nvPicPr>
          <p:cNvPr id="11" name="図 13">
            <a:extLst>
              <a:ext uri="{FF2B5EF4-FFF2-40B4-BE49-F238E27FC236}">
                <a16:creationId xmlns:a16="http://schemas.microsoft.com/office/drawing/2014/main" id="{F0B7AA26-07FF-2486-968C-6B18BF0EE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114A61AB-3A8B-4340-E926-00F124F56435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752931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　水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20">
            <a:extLst>
              <a:ext uri="{FF2B5EF4-FFF2-40B4-BE49-F238E27FC236}">
                <a16:creationId xmlns:a16="http://schemas.microsoft.com/office/drawing/2014/main" id="{0C70FEB0-BB23-F061-C82C-76923D610988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正方形/長方形 19">
            <a:extLst>
              <a:ext uri="{FF2B5EF4-FFF2-40B4-BE49-F238E27FC236}">
                <a16:creationId xmlns:a16="http://schemas.microsoft.com/office/drawing/2014/main" id="{B9EEE9E5-5775-AFA2-CA62-0DB27641D35B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529EC-D259-6FE0-7A61-E061462AA0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3451834-AB87-829B-2B85-7C4A91514A3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pic>
        <p:nvPicPr>
          <p:cNvPr id="6" name="図 12">
            <a:extLst>
              <a:ext uri="{FF2B5EF4-FFF2-40B4-BE49-F238E27FC236}">
                <a16:creationId xmlns:a16="http://schemas.microsoft.com/office/drawing/2014/main" id="{254328DF-D719-8663-BC31-4DA264E32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正方形/長方形 15">
            <a:extLst>
              <a:ext uri="{FF2B5EF4-FFF2-40B4-BE49-F238E27FC236}">
                <a16:creationId xmlns:a16="http://schemas.microsoft.com/office/drawing/2014/main" id="{A39FAFF1-2227-FA9D-2DBB-0197937E9351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16">
            <a:extLst>
              <a:ext uri="{FF2B5EF4-FFF2-40B4-BE49-F238E27FC236}">
                <a16:creationId xmlns:a16="http://schemas.microsoft.com/office/drawing/2014/main" id="{B986A065-693B-989C-D8F1-F7CFAE55DF00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9" name="正方形/長方形 17">
            <a:extLst>
              <a:ext uri="{FF2B5EF4-FFF2-40B4-BE49-F238E27FC236}">
                <a16:creationId xmlns:a16="http://schemas.microsoft.com/office/drawing/2014/main" id="{E31B1BB8-371F-ABDD-429C-FAE7B3DFA146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10" name="直線コネクタ 8">
            <a:extLst>
              <a:ext uri="{FF2B5EF4-FFF2-40B4-BE49-F238E27FC236}">
                <a16:creationId xmlns:a16="http://schemas.microsoft.com/office/drawing/2014/main" id="{02398B39-7927-3FAD-F9F2-A7CFA73F050E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7FC1E9"/>
            </a:solidFill>
            <a:prstDash val="solid"/>
            <a:miter/>
          </a:ln>
        </p:spPr>
      </p:cxnSp>
      <p:cxnSp>
        <p:nvCxnSpPr>
          <p:cNvPr id="11" name="直線コネクタ 21">
            <a:extLst>
              <a:ext uri="{FF2B5EF4-FFF2-40B4-BE49-F238E27FC236}">
                <a16:creationId xmlns:a16="http://schemas.microsoft.com/office/drawing/2014/main" id="{2D2FB5DB-FC49-637F-F7BB-6B240658A767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A7E8F7A-89D9-AA3C-32CF-1C4BA18A8E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DC9440C4-B12E-3B43-A1C7-6D65757BCCCE}" type="slidenum">
              <a:t>‹#›</a:t>
            </a:fld>
            <a:endParaRPr lang="en-US"/>
          </a:p>
        </p:txBody>
      </p:sp>
      <p:pic>
        <p:nvPicPr>
          <p:cNvPr id="13" name="図 4">
            <a:extLst>
              <a:ext uri="{FF2B5EF4-FFF2-40B4-BE49-F238E27FC236}">
                <a16:creationId xmlns:a16="http://schemas.microsoft.com/office/drawing/2014/main" id="{75AD77BE-7B72-625B-D638-067DDB499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5D2D8985-C6C2-E089-94A2-993E71C059B4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80921385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見出し　赤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7">
            <a:extLst>
              <a:ext uri="{FF2B5EF4-FFF2-40B4-BE49-F238E27FC236}">
                <a16:creationId xmlns:a16="http://schemas.microsoft.com/office/drawing/2014/main" id="{D737C941-8340-805C-E2FC-FDE9CDBE978C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8E162812-4B4C-45EC-A6A7-EEB73F7C076C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1">
            <a:extLst>
              <a:ext uri="{FF2B5EF4-FFF2-40B4-BE49-F238E27FC236}">
                <a16:creationId xmlns:a16="http://schemas.microsoft.com/office/drawing/2014/main" id="{A87B75DB-D201-322A-1039-B4C3DC738CD4}"/>
              </a:ext>
            </a:extLst>
          </p:cNvPr>
          <p:cNvSpPr/>
          <p:nvPr/>
        </p:nvSpPr>
        <p:spPr>
          <a:xfrm>
            <a:off x="666003" y="3600001"/>
            <a:ext cx="7200003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2">
            <a:extLst>
              <a:ext uri="{FF2B5EF4-FFF2-40B4-BE49-F238E27FC236}">
                <a16:creationId xmlns:a16="http://schemas.microsoft.com/office/drawing/2014/main" id="{7C7F3183-9DC4-0454-FA0C-ADF08DE8FC19}"/>
              </a:ext>
            </a:extLst>
          </p:cNvPr>
          <p:cNvSpPr/>
          <p:nvPr/>
        </p:nvSpPr>
        <p:spPr>
          <a:xfrm>
            <a:off x="7865815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3">
            <a:extLst>
              <a:ext uri="{FF2B5EF4-FFF2-40B4-BE49-F238E27FC236}">
                <a16:creationId xmlns:a16="http://schemas.microsoft.com/office/drawing/2014/main" id="{BE2512E6-6095-7B8B-78DE-CE8F66E77D48}"/>
              </a:ext>
            </a:extLst>
          </p:cNvPr>
          <p:cNvSpPr/>
          <p:nvPr/>
        </p:nvSpPr>
        <p:spPr>
          <a:xfrm>
            <a:off x="8585813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14">
            <a:extLst>
              <a:ext uri="{FF2B5EF4-FFF2-40B4-BE49-F238E27FC236}">
                <a16:creationId xmlns:a16="http://schemas.microsoft.com/office/drawing/2014/main" id="{A648C6C3-319C-DBEB-7AC2-9806AFE09823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434057-A8E4-AA0E-92B0-3BCE4561F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5C253A8-C666-AF30-8865-70DEA504763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31F7FDD-263E-DEC6-03B7-7FBD57AFC54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6CB24ED0-999C-FA4B-A574-35DA35442F87}" type="slidenum">
              <a:t>‹#›</a:t>
            </a:fld>
            <a:endParaRPr lang="en-US"/>
          </a:p>
        </p:txBody>
      </p:sp>
      <p:pic>
        <p:nvPicPr>
          <p:cNvPr id="11" name="図 19">
            <a:extLst>
              <a:ext uri="{FF2B5EF4-FFF2-40B4-BE49-F238E27FC236}">
                <a16:creationId xmlns:a16="http://schemas.microsoft.com/office/drawing/2014/main" id="{B2EA4662-7861-1D21-B499-105C8C8E4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AE299CCE-656B-5D61-7ABD-17E9FA404EFF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64350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　赤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3E5BFDC3-D231-CD27-D97D-5AC0E97BC0AA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93D8A-5CD3-B489-34E8-74FAED79D5D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63661C5A-934F-9232-121C-C866CDB9104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4">
            <a:extLst>
              <a:ext uri="{FF2B5EF4-FFF2-40B4-BE49-F238E27FC236}">
                <a16:creationId xmlns:a16="http://schemas.microsoft.com/office/drawing/2014/main" id="{6D47856A-2FDF-E0A5-FD18-95420F2B5A35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5">
            <a:extLst>
              <a:ext uri="{FF2B5EF4-FFF2-40B4-BE49-F238E27FC236}">
                <a16:creationId xmlns:a16="http://schemas.microsoft.com/office/drawing/2014/main" id="{185ABE00-7578-A98A-7C51-6F7E96F6BACB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6">
            <a:extLst>
              <a:ext uri="{FF2B5EF4-FFF2-40B4-BE49-F238E27FC236}">
                <a16:creationId xmlns:a16="http://schemas.microsoft.com/office/drawing/2014/main" id="{F8A120AD-6007-A81C-D9CC-09E75BE18372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27">
            <a:extLst>
              <a:ext uri="{FF2B5EF4-FFF2-40B4-BE49-F238E27FC236}">
                <a16:creationId xmlns:a16="http://schemas.microsoft.com/office/drawing/2014/main" id="{A501AB16-AD01-DE9F-3BD8-FD13497C03BD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9" name="直線コネクタ 28">
            <a:extLst>
              <a:ext uri="{FF2B5EF4-FFF2-40B4-BE49-F238E27FC236}">
                <a16:creationId xmlns:a16="http://schemas.microsoft.com/office/drawing/2014/main" id="{097650C1-ECBE-78A3-4BDD-4C0A6F6BC0EE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EF9B86"/>
            </a:solidFill>
            <a:prstDash val="solid"/>
            <a:miter/>
          </a:ln>
        </p:spPr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FF8012E-CBB7-27D4-8F33-9E10BDF8FF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126766B6-139E-377A-5F57-C1D2A7CF2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07F548-19D3-7AF8-E987-31B082CA61F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358B1DF8-205D-8442-846A-336D324D003F}" type="slidenum">
              <a:t>‹#›</a:t>
            </a:fld>
            <a:endParaRPr lang="en-US"/>
          </a:p>
        </p:txBody>
      </p:sp>
      <p:pic>
        <p:nvPicPr>
          <p:cNvPr id="13" name="図 19">
            <a:extLst>
              <a:ext uri="{FF2B5EF4-FFF2-40B4-BE49-F238E27FC236}">
                <a16:creationId xmlns:a16="http://schemas.microsoft.com/office/drawing/2014/main" id="{8EAE1946-BC42-512C-5B53-66C901975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054DABCD-2DD1-6754-6224-EE65F688F8B5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046630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見出し　黄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2">
            <a:extLst>
              <a:ext uri="{FF2B5EF4-FFF2-40B4-BE49-F238E27FC236}">
                <a16:creationId xmlns:a16="http://schemas.microsoft.com/office/drawing/2014/main" id="{0AC44670-59C5-118F-09C0-13E1013BADC0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638FDF16-444E-F7B0-4C82-B354C69342E0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8">
            <a:extLst>
              <a:ext uri="{FF2B5EF4-FFF2-40B4-BE49-F238E27FC236}">
                <a16:creationId xmlns:a16="http://schemas.microsoft.com/office/drawing/2014/main" id="{F09DEF46-456E-073B-CCE0-E7BCF7E60F59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9">
            <a:extLst>
              <a:ext uri="{FF2B5EF4-FFF2-40B4-BE49-F238E27FC236}">
                <a16:creationId xmlns:a16="http://schemas.microsoft.com/office/drawing/2014/main" id="{E034D930-53ED-7AB1-553F-40A4C13ACF55}"/>
              </a:ext>
            </a:extLst>
          </p:cNvPr>
          <p:cNvSpPr/>
          <p:nvPr/>
        </p:nvSpPr>
        <p:spPr>
          <a:xfrm>
            <a:off x="1386001" y="3600001"/>
            <a:ext cx="7200003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0">
            <a:extLst>
              <a:ext uri="{FF2B5EF4-FFF2-40B4-BE49-F238E27FC236}">
                <a16:creationId xmlns:a16="http://schemas.microsoft.com/office/drawing/2014/main" id="{A7E29FAA-A7BA-82B6-848C-317871A9A312}"/>
              </a:ext>
            </a:extLst>
          </p:cNvPr>
          <p:cNvSpPr/>
          <p:nvPr/>
        </p:nvSpPr>
        <p:spPr>
          <a:xfrm>
            <a:off x="8585813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1">
            <a:extLst>
              <a:ext uri="{FF2B5EF4-FFF2-40B4-BE49-F238E27FC236}">
                <a16:creationId xmlns:a16="http://schemas.microsoft.com/office/drawing/2014/main" id="{E7D4FB5F-A735-42F1-E51A-0172A714BDA4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05C94E-06B4-91A5-F199-60561F4076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688ACD0-C4A2-7A06-5793-758767BA1B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B6F54BB-5223-3D71-BBD0-E70A960B23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14B42BB4-DF6D-DD46-B6C0-55E5AE9A0BAF}" type="slidenum">
              <a:t>‹#›</a:t>
            </a:fld>
            <a:endParaRPr lang="en-US"/>
          </a:p>
        </p:txBody>
      </p:sp>
      <p:pic>
        <p:nvPicPr>
          <p:cNvPr id="11" name="図 14">
            <a:extLst>
              <a:ext uri="{FF2B5EF4-FFF2-40B4-BE49-F238E27FC236}">
                <a16:creationId xmlns:a16="http://schemas.microsoft.com/office/drawing/2014/main" id="{6ECC769D-1A52-7F1D-4E7C-678D16662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2BECF958-01B5-5507-725A-CBBC7DCBE617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395324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タイトルとコンテンツ　黄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660CB1BF-6AA6-86C2-296A-29C6A6503787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06437-7BB9-1C30-57BB-633455F678A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7D35736C-2A65-DA57-92C4-7DE8D7D65EC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CF9774FE-8A34-3B4C-9530-5D03D58FA0B1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FBD13E"/>
            </a:solidFill>
            <a:prstDash val="solid"/>
            <a:miter/>
          </a:ln>
        </p:spPr>
      </p:cxnSp>
      <p:sp>
        <p:nvSpPr>
          <p:cNvPr id="6" name="正方形/長方形 20">
            <a:extLst>
              <a:ext uri="{FF2B5EF4-FFF2-40B4-BE49-F238E27FC236}">
                <a16:creationId xmlns:a16="http://schemas.microsoft.com/office/drawing/2014/main" id="{ACDA631B-C71A-693B-01EF-29ABCB17FCEE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30">
            <a:extLst>
              <a:ext uri="{FF2B5EF4-FFF2-40B4-BE49-F238E27FC236}">
                <a16:creationId xmlns:a16="http://schemas.microsoft.com/office/drawing/2014/main" id="{1CCD2D0F-B1CC-2452-283E-87024A5696A9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31">
            <a:extLst>
              <a:ext uri="{FF2B5EF4-FFF2-40B4-BE49-F238E27FC236}">
                <a16:creationId xmlns:a16="http://schemas.microsoft.com/office/drawing/2014/main" id="{F8A86C24-62C4-E53C-6E90-1E299C24E9AF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9" name="正方形/長方形 32">
            <a:extLst>
              <a:ext uri="{FF2B5EF4-FFF2-40B4-BE49-F238E27FC236}">
                <a16:creationId xmlns:a16="http://schemas.microsoft.com/office/drawing/2014/main" id="{0C2D7AAC-C2D6-0652-8123-C757CAC24A98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238CAA4-DC42-9839-E021-F40BEB1F14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5F835099-F6B0-3B7E-3466-3AD3F3162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216A5D1-FA66-7D20-68B4-AFED86D9950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369F36D1-5BAD-4045-B7CE-54E3857C8555}" type="slidenum">
              <a:t>‹#›</a:t>
            </a:fld>
            <a:endParaRPr lang="en-US"/>
          </a:p>
        </p:txBody>
      </p:sp>
      <p:pic>
        <p:nvPicPr>
          <p:cNvPr id="13" name="図 22">
            <a:extLst>
              <a:ext uri="{FF2B5EF4-FFF2-40B4-BE49-F238E27FC236}">
                <a16:creationId xmlns:a16="http://schemas.microsoft.com/office/drawing/2014/main" id="{CC2E54AB-C0B9-2D43-6EA0-D20EAA287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7E5230E8-E9DA-2902-4B9A-A7C22C457293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00162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見出し　紺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7">
            <a:extLst>
              <a:ext uri="{FF2B5EF4-FFF2-40B4-BE49-F238E27FC236}">
                <a16:creationId xmlns:a16="http://schemas.microsoft.com/office/drawing/2014/main" id="{A0BBB0A7-1268-58A4-AE30-311E375B4862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12A8B6B4-3500-C99D-C3AD-507026CC4F5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1">
            <a:extLst>
              <a:ext uri="{FF2B5EF4-FFF2-40B4-BE49-F238E27FC236}">
                <a16:creationId xmlns:a16="http://schemas.microsoft.com/office/drawing/2014/main" id="{529F83BB-F53A-1D89-6292-D26F8EDFBC6E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2">
            <a:extLst>
              <a:ext uri="{FF2B5EF4-FFF2-40B4-BE49-F238E27FC236}">
                <a16:creationId xmlns:a16="http://schemas.microsoft.com/office/drawing/2014/main" id="{60920373-5EDE-A216-8A67-FABE22CAAA38}"/>
              </a:ext>
            </a:extLst>
          </p:cNvPr>
          <p:cNvSpPr/>
          <p:nvPr/>
        </p:nvSpPr>
        <p:spPr>
          <a:xfrm>
            <a:off x="1386001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3">
            <a:extLst>
              <a:ext uri="{FF2B5EF4-FFF2-40B4-BE49-F238E27FC236}">
                <a16:creationId xmlns:a16="http://schemas.microsoft.com/office/drawing/2014/main" id="{087D90BB-4DB6-DB0D-B4BF-2CB67A7B025E}"/>
              </a:ext>
            </a:extLst>
          </p:cNvPr>
          <p:cNvSpPr/>
          <p:nvPr/>
        </p:nvSpPr>
        <p:spPr>
          <a:xfrm>
            <a:off x="2106000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14">
            <a:extLst>
              <a:ext uri="{FF2B5EF4-FFF2-40B4-BE49-F238E27FC236}">
                <a16:creationId xmlns:a16="http://schemas.microsoft.com/office/drawing/2014/main" id="{A75BD476-2392-0A14-1B15-FC8DB1D109FD}"/>
              </a:ext>
            </a:extLst>
          </p:cNvPr>
          <p:cNvSpPr/>
          <p:nvPr/>
        </p:nvSpPr>
        <p:spPr>
          <a:xfrm>
            <a:off x="2825998" y="3600001"/>
            <a:ext cx="7200003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0F4A9DB-358F-2508-9062-0CCCAD14A6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136E5E6-A9DF-F21E-8CBC-BA7EF75D631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7383AC-38B2-02F0-A94E-39A9DA924C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D45FB087-3075-514E-BD00-C91A3BA8C070}" type="slidenum">
              <a:t>‹#›</a:t>
            </a:fld>
            <a:endParaRPr lang="en-US"/>
          </a:p>
        </p:txBody>
      </p:sp>
      <p:pic>
        <p:nvPicPr>
          <p:cNvPr id="11" name="図 19">
            <a:extLst>
              <a:ext uri="{FF2B5EF4-FFF2-40B4-BE49-F238E27FC236}">
                <a16:creationId xmlns:a16="http://schemas.microsoft.com/office/drawing/2014/main" id="{8BDC95A1-4088-1888-66A5-CA9CADE89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83E128C5-B258-14B6-D9E9-40DDAB0AA88D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2137082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　紺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7A091449-DD3A-4C7B-FE8D-A52B658D8B1F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F61DD-0F79-4E97-1B1F-81429212034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965C57A0-5929-8DD3-CE11-A13335F2A19E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4">
            <a:extLst>
              <a:ext uri="{FF2B5EF4-FFF2-40B4-BE49-F238E27FC236}">
                <a16:creationId xmlns:a16="http://schemas.microsoft.com/office/drawing/2014/main" id="{7548250C-068C-D1BA-CDE1-EE3094F2EF72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5">
            <a:extLst>
              <a:ext uri="{FF2B5EF4-FFF2-40B4-BE49-F238E27FC236}">
                <a16:creationId xmlns:a16="http://schemas.microsoft.com/office/drawing/2014/main" id="{E124B373-2FD2-6C9B-A777-D59E5C1BEDB3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6">
            <a:extLst>
              <a:ext uri="{FF2B5EF4-FFF2-40B4-BE49-F238E27FC236}">
                <a16:creationId xmlns:a16="http://schemas.microsoft.com/office/drawing/2014/main" id="{0EB5AE2C-9B0A-37DD-12FF-9F2125E9C063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27">
            <a:extLst>
              <a:ext uri="{FF2B5EF4-FFF2-40B4-BE49-F238E27FC236}">
                <a16:creationId xmlns:a16="http://schemas.microsoft.com/office/drawing/2014/main" id="{B5720E76-DED6-DF25-9618-D06434E82574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9" name="直線コネクタ 28">
            <a:extLst>
              <a:ext uri="{FF2B5EF4-FFF2-40B4-BE49-F238E27FC236}">
                <a16:creationId xmlns:a16="http://schemas.microsoft.com/office/drawing/2014/main" id="{F41C3561-1EC7-5536-7233-911B314C35B6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0057BA"/>
            </a:solidFill>
            <a:prstDash val="solid"/>
            <a:miter/>
          </a:ln>
        </p:spPr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B8F57C4F-A389-56CF-A75C-00D0A90A23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B0A72B1B-5DA4-E188-C207-65B6263D8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FCC3E58-FBB1-8F5E-0CE8-C6917C4C1AF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53B3784E-79CC-4540-8FBC-123B41A378A3}" type="slidenum">
              <a:t>‹#›</a:t>
            </a:fld>
            <a:endParaRPr lang="en-US"/>
          </a:p>
        </p:txBody>
      </p:sp>
      <p:pic>
        <p:nvPicPr>
          <p:cNvPr id="13" name="図 19">
            <a:extLst>
              <a:ext uri="{FF2B5EF4-FFF2-40B4-BE49-F238E27FC236}">
                <a16:creationId xmlns:a16="http://schemas.microsoft.com/office/drawing/2014/main" id="{90E2B475-1FDC-6BAB-DE5F-64D69355E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94B34B0F-3A95-35D1-2FB7-98E16240E6E9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6912537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最終ページ　機構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75082A31-C168-D6C6-AC8A-A3773D30AC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17">
            <a:extLst>
              <a:ext uri="{FF2B5EF4-FFF2-40B4-BE49-F238E27FC236}">
                <a16:creationId xmlns:a16="http://schemas.microsoft.com/office/drawing/2014/main" id="{A8DD3423-FB3B-937B-2C87-80D077A11B0D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8">
            <a:extLst>
              <a:ext uri="{FF2B5EF4-FFF2-40B4-BE49-F238E27FC236}">
                <a16:creationId xmlns:a16="http://schemas.microsoft.com/office/drawing/2014/main" id="{027AEC8D-9664-EC85-66CC-ADE8AFAD344A}"/>
              </a:ext>
            </a:extLst>
          </p:cNvPr>
          <p:cNvCxnSpPr/>
          <p:nvPr/>
        </p:nvCxnSpPr>
        <p:spPr>
          <a:xfrm>
            <a:off x="-5779" y="4171895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0555994C-B100-08B3-29B2-0B5250F54793}"/>
              </a:ext>
            </a:extLst>
          </p:cNvPr>
          <p:cNvCxnSpPr/>
          <p:nvPr/>
        </p:nvCxnSpPr>
        <p:spPr>
          <a:xfrm>
            <a:off x="-103025" y="7155938"/>
            <a:ext cx="10692005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66145D53-E3C5-D7E8-12A1-2565394935FB}"/>
              </a:ext>
            </a:extLst>
          </p:cNvPr>
          <p:cNvSpPr txBox="1"/>
          <p:nvPr/>
        </p:nvSpPr>
        <p:spPr>
          <a:xfrm>
            <a:off x="1349087" y="1790925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心豊かな未来を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SuMPO</a:t>
            </a: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の業で創ります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14CF2F4-0B6E-163E-4B33-4C1B6F51AB42}"/>
              </a:ext>
            </a:extLst>
          </p:cNvPr>
          <p:cNvSpPr txBox="1"/>
          <p:nvPr/>
        </p:nvSpPr>
        <p:spPr>
          <a:xfrm>
            <a:off x="4894627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さんぽ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2C953A5-1E8D-0F53-1798-AFA724638ABA}"/>
              </a:ext>
            </a:extLst>
          </p:cNvPr>
          <p:cNvSpPr txBox="1"/>
          <p:nvPr/>
        </p:nvSpPr>
        <p:spPr>
          <a:xfrm>
            <a:off x="5664625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わざ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B574452-C370-8DDC-1DE3-8044FC8A6E6F}"/>
              </a:ext>
            </a:extLst>
          </p:cNvPr>
          <p:cNvSpPr txBox="1"/>
          <p:nvPr/>
        </p:nvSpPr>
        <p:spPr>
          <a:xfrm>
            <a:off x="1349087" y="4238271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20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一般社団法人サステナブル経営推進機構</a:t>
            </a:r>
            <a:endParaRPr lang="en-US" sz="20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0" name="正方形/長方形 21">
            <a:extLst>
              <a:ext uri="{FF2B5EF4-FFF2-40B4-BE49-F238E27FC236}">
                <a16:creationId xmlns:a16="http://schemas.microsoft.com/office/drawing/2014/main" id="{0FE38F54-769B-A094-5467-3B03A8C1F2A0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1" name="図 15">
            <a:extLst>
              <a:ext uri="{FF2B5EF4-FFF2-40B4-BE49-F238E27FC236}">
                <a16:creationId xmlns:a16="http://schemas.microsoft.com/office/drawing/2014/main" id="{25C6B963-7DB3-B742-5FCA-366FBC4F7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604" y="3855156"/>
            <a:ext cx="4223823" cy="26205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2076600F-9FF1-C355-019F-6DB5BE3BB1B2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D2311CE0-1963-D5F6-EDA3-D8F010A5702B}"/>
              </a:ext>
            </a:extLst>
          </p:cNvPr>
          <p:cNvSpPr txBox="1"/>
          <p:nvPr/>
        </p:nvSpPr>
        <p:spPr>
          <a:xfrm>
            <a:off x="1309420" y="5012813"/>
            <a:ext cx="3910870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101-0047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東京都千代田区内神田一丁目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8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KANDA SQUARE GATE 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125F4B3-F12D-65EE-F467-FB0313C9FE0B}"/>
              </a:ext>
            </a:extLst>
          </p:cNvPr>
          <p:cNvSpPr txBox="1"/>
          <p:nvPr/>
        </p:nvSpPr>
        <p:spPr>
          <a:xfrm>
            <a:off x="5769982" y="5003779"/>
            <a:ext cx="4084048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101-0052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東京都千代田区神田小川町二丁目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16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いちご神田小川町ビル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 3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F0E8206B-9BB3-7424-AAC8-5D8AF3DC028A}"/>
              </a:ext>
            </a:extLst>
          </p:cNvPr>
          <p:cNvSpPr txBox="1"/>
          <p:nvPr/>
        </p:nvSpPr>
        <p:spPr>
          <a:xfrm>
            <a:off x="1142113" y="4700528"/>
            <a:ext cx="88801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本部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18FB4D1-38C2-F4B2-46E0-1025729B2310}"/>
              </a:ext>
            </a:extLst>
          </p:cNvPr>
          <p:cNvSpPr txBox="1"/>
          <p:nvPr/>
        </p:nvSpPr>
        <p:spPr>
          <a:xfrm>
            <a:off x="5664195" y="4705237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神田小川町オフィス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29A33360-DF0E-2759-6ACC-68974DEFF633}"/>
              </a:ext>
            </a:extLst>
          </p:cNvPr>
          <p:cNvSpPr txBox="1"/>
          <p:nvPr/>
        </p:nvSpPr>
        <p:spPr>
          <a:xfrm>
            <a:off x="1309420" y="6130859"/>
            <a:ext cx="4181926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460-0022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愛知県名古屋市中区金山一丁目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12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金山総合ビル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7F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（株式会社フルハシ環境総合研究所内）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B27D49FC-C2C5-9A08-EE2E-498FBAE20BF0}"/>
              </a:ext>
            </a:extLst>
          </p:cNvPr>
          <p:cNvSpPr txBox="1"/>
          <p:nvPr/>
        </p:nvSpPr>
        <p:spPr>
          <a:xfrm>
            <a:off x="5769982" y="6120280"/>
            <a:ext cx="4369496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700-0082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岡山県岡山市北区津島中一丁目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岡山大インキュベータ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210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号室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FC5C4648-AE37-311B-DFAB-ACFEB10D0101}"/>
              </a:ext>
            </a:extLst>
          </p:cNvPr>
          <p:cNvSpPr txBox="1"/>
          <p:nvPr/>
        </p:nvSpPr>
        <p:spPr>
          <a:xfrm>
            <a:off x="1142113" y="5818574"/>
            <a:ext cx="1886215" cy="33278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名古屋オフィス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D1AA7C8E-6849-A1AA-EBA7-0F841EC3ABF0}"/>
              </a:ext>
            </a:extLst>
          </p:cNvPr>
          <p:cNvSpPr txBox="1"/>
          <p:nvPr/>
        </p:nvSpPr>
        <p:spPr>
          <a:xfrm>
            <a:off x="5358512" y="5823283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1" name="テキスト ボックス 22">
            <a:extLst>
              <a:ext uri="{FF2B5EF4-FFF2-40B4-BE49-F238E27FC236}">
                <a16:creationId xmlns:a16="http://schemas.microsoft.com/office/drawing/2014/main" id="{1831CEE1-23E0-5344-066F-1FC7989AE4A8}"/>
              </a:ext>
            </a:extLst>
          </p:cNvPr>
          <p:cNvSpPr txBox="1"/>
          <p:nvPr/>
        </p:nvSpPr>
        <p:spPr>
          <a:xfrm>
            <a:off x="2634980" y="6840864"/>
            <a:ext cx="5447071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ホームページ　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https://sumpo.or.jp</a:t>
            </a:r>
          </a:p>
        </p:txBody>
      </p:sp>
    </p:spTree>
    <p:extLst>
      <p:ext uri="{BB962C8B-B14F-4D97-AF65-F5344CB8AC3E}">
        <p14:creationId xmlns:p14="http://schemas.microsoft.com/office/powerpoint/2010/main" val="4209846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最終ページ　機構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29FCEB5A-F733-3BBC-BE63-14AAB7ADE6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17">
            <a:extLst>
              <a:ext uri="{FF2B5EF4-FFF2-40B4-BE49-F238E27FC236}">
                <a16:creationId xmlns:a16="http://schemas.microsoft.com/office/drawing/2014/main" id="{FED3A17C-71C7-2378-4788-53755792FE31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8">
            <a:extLst>
              <a:ext uri="{FF2B5EF4-FFF2-40B4-BE49-F238E27FC236}">
                <a16:creationId xmlns:a16="http://schemas.microsoft.com/office/drawing/2014/main" id="{45B9F432-410E-DEC8-8047-C12AB8E1E85F}"/>
              </a:ext>
            </a:extLst>
          </p:cNvPr>
          <p:cNvCxnSpPr/>
          <p:nvPr/>
        </p:nvCxnSpPr>
        <p:spPr>
          <a:xfrm>
            <a:off x="-5779" y="4171895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F3CD5F99-ABE8-9733-269B-68F95428F73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65417C54-FC89-2897-7665-9849960C9256}"/>
              </a:ext>
            </a:extLst>
          </p:cNvPr>
          <p:cNvSpPr txBox="1"/>
          <p:nvPr/>
        </p:nvSpPr>
        <p:spPr>
          <a:xfrm>
            <a:off x="1349087" y="1790925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心豊かな未来を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SuMPO</a:t>
            </a: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の業で創ります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CF4EC6C-41AD-D77F-6EFF-99B1171BF8FF}"/>
              </a:ext>
            </a:extLst>
          </p:cNvPr>
          <p:cNvSpPr txBox="1"/>
          <p:nvPr/>
        </p:nvSpPr>
        <p:spPr>
          <a:xfrm>
            <a:off x="4894627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さんぽ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9FDF73D-E664-3C3C-AECB-BED49BFD30A7}"/>
              </a:ext>
            </a:extLst>
          </p:cNvPr>
          <p:cNvSpPr txBox="1"/>
          <p:nvPr/>
        </p:nvSpPr>
        <p:spPr>
          <a:xfrm>
            <a:off x="5664625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わざ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C3D1659-CE44-8022-CAFD-01B1620116EA}"/>
              </a:ext>
            </a:extLst>
          </p:cNvPr>
          <p:cNvSpPr txBox="1"/>
          <p:nvPr/>
        </p:nvSpPr>
        <p:spPr>
          <a:xfrm>
            <a:off x="1349087" y="4661053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20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一般社団法人サステナブル経営推進機構</a:t>
            </a:r>
            <a:endParaRPr lang="en-US" sz="20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0" name="正方形/長方形 21">
            <a:extLst>
              <a:ext uri="{FF2B5EF4-FFF2-40B4-BE49-F238E27FC236}">
                <a16:creationId xmlns:a16="http://schemas.microsoft.com/office/drawing/2014/main" id="{45E436FA-314E-3CDF-3D96-4B0D0E4628ED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1" name="図 15">
            <a:extLst>
              <a:ext uri="{FF2B5EF4-FFF2-40B4-BE49-F238E27FC236}">
                <a16:creationId xmlns:a16="http://schemas.microsoft.com/office/drawing/2014/main" id="{F6180DD1-9A9C-93FC-F7C4-E1ED34433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604" y="3855156"/>
            <a:ext cx="4223823" cy="26205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5F7BD7BA-1D30-135F-4744-28DFFC5F3AE0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34EFD97-38BE-DBE4-F6FF-2806D277C0CB}"/>
              </a:ext>
            </a:extLst>
          </p:cNvPr>
          <p:cNvSpPr txBox="1"/>
          <p:nvPr/>
        </p:nvSpPr>
        <p:spPr>
          <a:xfrm>
            <a:off x="1309420" y="5557567"/>
            <a:ext cx="3910870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101-0047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東京都千代田区内神田一丁目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8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KANDA SQUARE GATE 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959A6F-0AFC-4A10-2D1C-CF8F2826F3D9}"/>
              </a:ext>
            </a:extLst>
          </p:cNvPr>
          <p:cNvSpPr txBox="1"/>
          <p:nvPr/>
        </p:nvSpPr>
        <p:spPr>
          <a:xfrm>
            <a:off x="5769982" y="5548524"/>
            <a:ext cx="4084048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101-0052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東京都千代田区神田小川町二丁目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16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いちご神田小川町ビル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 3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C160C8B6-3D5D-4592-24CC-E4B82F0356FA}"/>
              </a:ext>
            </a:extLst>
          </p:cNvPr>
          <p:cNvSpPr txBox="1"/>
          <p:nvPr/>
        </p:nvSpPr>
        <p:spPr>
          <a:xfrm>
            <a:off x="1142113" y="5245272"/>
            <a:ext cx="88801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本部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7CCADF7E-89CA-0222-9E71-C80402759BB8}"/>
              </a:ext>
            </a:extLst>
          </p:cNvPr>
          <p:cNvSpPr txBox="1"/>
          <p:nvPr/>
        </p:nvSpPr>
        <p:spPr>
          <a:xfrm>
            <a:off x="5664195" y="5249981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神田小川町オフィス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7" name="テキスト ボックス 7">
            <a:extLst>
              <a:ext uri="{FF2B5EF4-FFF2-40B4-BE49-F238E27FC236}">
                <a16:creationId xmlns:a16="http://schemas.microsoft.com/office/drawing/2014/main" id="{5FE3A010-C0D0-5CB2-C9EF-941F0345E8FB}"/>
              </a:ext>
            </a:extLst>
          </p:cNvPr>
          <p:cNvSpPr txBox="1"/>
          <p:nvPr/>
        </p:nvSpPr>
        <p:spPr>
          <a:xfrm>
            <a:off x="2634980" y="6618134"/>
            <a:ext cx="5447071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ホームページ　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https://sumpo.or.jp</a:t>
            </a:r>
          </a:p>
        </p:txBody>
      </p:sp>
    </p:spTree>
    <p:extLst>
      <p:ext uri="{BB962C8B-B14F-4D97-AF65-F5344CB8AC3E}">
        <p14:creationId xmlns:p14="http://schemas.microsoft.com/office/powerpoint/2010/main" val="26936054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最終ページ　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183D6CEF-9D75-58BF-8167-5A46A4EEFF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7">
            <a:extLst>
              <a:ext uri="{FF2B5EF4-FFF2-40B4-BE49-F238E27FC236}">
                <a16:creationId xmlns:a16="http://schemas.microsoft.com/office/drawing/2014/main" id="{4A07C37B-5D61-5914-7102-6F926E18DC3F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9">
            <a:extLst>
              <a:ext uri="{FF2B5EF4-FFF2-40B4-BE49-F238E27FC236}">
                <a16:creationId xmlns:a16="http://schemas.microsoft.com/office/drawing/2014/main" id="{330D6E9B-C6EE-A0DC-4821-3BC9554E561F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1">
            <a:extLst>
              <a:ext uri="{FF2B5EF4-FFF2-40B4-BE49-F238E27FC236}">
                <a16:creationId xmlns:a16="http://schemas.microsoft.com/office/drawing/2014/main" id="{9DF1F77C-A335-EC48-6482-28D553137F7F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テキスト ボックス 15">
            <a:extLst>
              <a:ext uri="{FF2B5EF4-FFF2-40B4-BE49-F238E27FC236}">
                <a16:creationId xmlns:a16="http://schemas.microsoft.com/office/drawing/2014/main" id="{C3D35E23-7379-4534-887E-02BB67C6F24E}"/>
              </a:ext>
            </a:extLst>
          </p:cNvPr>
          <p:cNvSpPr txBox="1"/>
          <p:nvPr/>
        </p:nvSpPr>
        <p:spPr>
          <a:xfrm>
            <a:off x="2381874" y="3880420"/>
            <a:ext cx="5916707" cy="400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2060"/>
                </a:solidFill>
                <a:uFillTx/>
                <a:latin typeface="Calibri"/>
                <a:ea typeface="游ゴシック" pitchFamily="34"/>
              </a:rPr>
              <a:t>Thank you for your attention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64D9FDF-E252-4CE4-2E5E-F8D62F7E303C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299828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CA11BB-0FCA-14E5-77E7-6D3C641CED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058" y="402482"/>
            <a:ext cx="9221687" cy="14611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C7445-7560-C19C-0A60-EF5222A19A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5058" y="2012411"/>
            <a:ext cx="9221687" cy="47965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F0E83-D2A2-BAF3-C441-4C624011FF33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735058" y="7006699"/>
            <a:ext cx="2405658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fld id="{CC786BA6-7B56-F543-9072-18E670050153}" type="datetime1">
              <a:rPr lang="en-US"/>
              <a:pPr lvl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ACB77-1F57-9A54-BD63-2A64E4AD477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541663" y="7006699"/>
            <a:ext cx="3608487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9809A-6A04-37EE-29EA-F6680BBD473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51096" y="7006699"/>
            <a:ext cx="2405658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fld id="{205576F5-C101-5640-84CE-C69780011BCD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1007943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ja-JP" sz="4850" b="0" i="0" u="none" strike="noStrike" kern="1200" cap="none" spc="0" baseline="0">
          <a:solidFill>
            <a:srgbClr val="000000"/>
          </a:solidFill>
          <a:uFillTx/>
          <a:latin typeface="Calibri Light"/>
          <a:ea typeface="游ゴシック Light" pitchFamily="34"/>
        </a:defRPr>
      </a:lvl1pPr>
    </p:titleStyle>
    <p:bodyStyle>
      <a:lvl1pPr marL="251990" marR="0" lvl="0" indent="-251990" algn="l" defTabSz="1007943" rtl="0" fontAlgn="auto" hangingPunct="1">
        <a:lnSpc>
          <a:spcPct val="90000"/>
        </a:lnSpc>
        <a:spcBef>
          <a:spcPts val="1100"/>
        </a:spcBef>
        <a:spcAft>
          <a:spcPts val="0"/>
        </a:spcAft>
        <a:buSzPct val="100000"/>
        <a:buFont typeface="Arial" pitchFamily="34"/>
        <a:buChar char="•"/>
        <a:tabLst/>
        <a:defRPr lang="ja-JP" sz="3086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1pPr>
      <a:lvl2pPr marL="755952" marR="0" lvl="1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2646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2pPr>
      <a:lvl3pPr marL="1259933" marR="0" lvl="2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2205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3pPr>
      <a:lvl4pPr marL="1763895" marR="0" lvl="3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1984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4pPr>
      <a:lvl5pPr marL="2267867" marR="0" lvl="4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1984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 b="1">
                <a:solidFill>
                  <a:srgbClr val="125486"/>
                </a:solidFill>
              </a:rPr>
              <a:t>調査ブロック①　政策及び制度調査報告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400" dirty="0">
                <a:solidFill>
                  <a:srgbClr val="444444"/>
                </a:solidFill>
              </a:rPr>
              <a:t>フランスRE2020における動的LCA制度の全体構造と導入背景
</a:t>
            </a:r>
            <a:r>
              <a:rPr sz="1400" dirty="0" err="1">
                <a:solidFill>
                  <a:srgbClr val="444444"/>
                </a:solidFill>
              </a:rPr>
              <a:t>一般社団法人サステナブル経営推進機構（SuMPO</a:t>
            </a:r>
            <a:r>
              <a:rPr sz="1400" dirty="0">
                <a:solidFill>
                  <a:srgbClr val="444444"/>
                </a:solidFill>
              </a:rPr>
              <a:t>）　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9721187" cy="52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0" dirty="0">
                <a:solidFill>
                  <a:srgbClr val="000000"/>
                </a:solidFill>
              </a:rPr>
              <a:t>① </a:t>
            </a:r>
            <a:r>
              <a:rPr sz="1300" b="0" dirty="0" err="1">
                <a:solidFill>
                  <a:srgbClr val="000000"/>
                </a:solidFill>
              </a:rPr>
              <a:t>建築環境性能評価制度の全体構造</a:t>
            </a:r>
            <a:r>
              <a:rPr sz="1300" b="0" dirty="0">
                <a:solidFill>
                  <a:srgbClr val="000000"/>
                </a:solidFill>
              </a:rPr>
              <a:t>         No.1-3・8</a:t>
            </a:r>
          </a:p>
          <a:p>
            <a:pPr>
              <a:spcAft>
                <a:spcPts val="100"/>
              </a:spcAft>
            </a:pPr>
            <a:r>
              <a:rPr sz="1200" b="0" dirty="0">
                <a:solidFill>
                  <a:srgbClr val="444444"/>
                </a:solidFill>
              </a:rPr>
              <a:t>• RE2020の制度的位置付けと3評価指標</a:t>
            </a:r>
          </a:p>
          <a:p>
            <a:pPr>
              <a:spcAft>
                <a:spcPts val="100"/>
              </a:spcAft>
            </a:pPr>
            <a:r>
              <a:rPr sz="1200" b="0" dirty="0">
                <a:solidFill>
                  <a:srgbClr val="444444"/>
                </a:solidFill>
              </a:rPr>
              <a:t>• </a:t>
            </a:r>
            <a:r>
              <a:rPr sz="1200" b="0" dirty="0" err="1">
                <a:solidFill>
                  <a:srgbClr val="444444"/>
                </a:solidFill>
              </a:rPr>
              <a:t>段階的seuil値・Level</a:t>
            </a:r>
            <a:r>
              <a:rPr sz="1200" b="0" dirty="0">
                <a:solidFill>
                  <a:srgbClr val="444444"/>
                </a:solidFill>
              </a:rPr>
              <a:t>(s)・EN15978との関係</a:t>
            </a:r>
          </a:p>
          <a:p>
            <a:pPr>
              <a:spcAft>
                <a:spcPts val="100"/>
              </a:spcAft>
            </a:pPr>
            <a:r>
              <a:rPr sz="1300" b="0" dirty="0">
                <a:solidFill>
                  <a:srgbClr val="000000"/>
                </a:solidFill>
              </a:rPr>
              <a:t>② </a:t>
            </a:r>
            <a:r>
              <a:rPr sz="1300" b="0" dirty="0" err="1">
                <a:solidFill>
                  <a:srgbClr val="000000"/>
                </a:solidFill>
              </a:rPr>
              <a:t>ダイナミックLCAの要件整理</a:t>
            </a:r>
            <a:r>
              <a:rPr sz="1300" b="0" dirty="0">
                <a:solidFill>
                  <a:srgbClr val="000000"/>
                </a:solidFill>
              </a:rPr>
              <a:t>              No.9-11</a:t>
            </a:r>
          </a:p>
          <a:p>
            <a:pPr>
              <a:spcAft>
                <a:spcPts val="100"/>
              </a:spcAft>
            </a:pPr>
            <a:r>
              <a:rPr sz="1200" b="0" dirty="0">
                <a:solidFill>
                  <a:srgbClr val="444444"/>
                </a:solidFill>
              </a:rPr>
              <a:t>• 動的LCA制度要件・DCF・FRE2020(t)</a:t>
            </a:r>
            <a:r>
              <a:rPr sz="1200" b="0" dirty="0" err="1">
                <a:solidFill>
                  <a:srgbClr val="444444"/>
                </a:solidFill>
              </a:rPr>
              <a:t>算定根拠</a:t>
            </a:r>
            <a:endParaRPr sz="1200" b="0" dirty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200" b="0" dirty="0">
                <a:solidFill>
                  <a:srgbClr val="444444"/>
                </a:solidFill>
              </a:rPr>
              <a:t>• </a:t>
            </a:r>
            <a:r>
              <a:rPr sz="1200" b="0" dirty="0" err="1">
                <a:solidFill>
                  <a:srgbClr val="444444"/>
                </a:solidFill>
              </a:rPr>
              <a:t>段階施行スケジュールと主要パラメータ</a:t>
            </a:r>
            <a:endParaRPr sz="1200" b="0" dirty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300" b="0" dirty="0">
                <a:solidFill>
                  <a:srgbClr val="000000"/>
                </a:solidFill>
              </a:rPr>
              <a:t>③ </a:t>
            </a:r>
            <a:r>
              <a:rPr sz="1300" b="0" dirty="0" err="1">
                <a:solidFill>
                  <a:srgbClr val="000000"/>
                </a:solidFill>
              </a:rPr>
              <a:t>生物由来炭素・炭素貯蔵の制度的位置付け</a:t>
            </a:r>
            <a:r>
              <a:rPr sz="1300" b="0" dirty="0">
                <a:solidFill>
                  <a:srgbClr val="000000"/>
                </a:solidFill>
              </a:rPr>
              <a:t>  No.12-14</a:t>
            </a:r>
          </a:p>
          <a:p>
            <a:pPr>
              <a:spcAft>
                <a:spcPts val="100"/>
              </a:spcAft>
            </a:pPr>
            <a:r>
              <a:rPr sz="1200" b="0" dirty="0">
                <a:solidFill>
                  <a:srgbClr val="444444"/>
                </a:solidFill>
              </a:rPr>
              <a:t>• </a:t>
            </a:r>
            <a:r>
              <a:rPr sz="1200" b="0" dirty="0" err="1">
                <a:solidFill>
                  <a:srgbClr val="444444"/>
                </a:solidFill>
              </a:rPr>
              <a:t>StockC算定方法・評価期間（DO）の根拠</a:t>
            </a:r>
            <a:endParaRPr sz="1200" b="0" dirty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200" b="0" dirty="0">
                <a:solidFill>
                  <a:srgbClr val="444444"/>
                </a:solidFill>
              </a:rPr>
              <a:t>• </a:t>
            </a:r>
            <a:r>
              <a:rPr sz="1200" b="0" dirty="0" err="1">
                <a:solidFill>
                  <a:srgbClr val="444444"/>
                </a:solidFill>
              </a:rPr>
              <a:t>解体・再利用シナリオ</a:t>
            </a:r>
            <a:endParaRPr sz="1200" b="0" dirty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300" b="0" dirty="0">
                <a:solidFill>
                  <a:srgbClr val="000000"/>
                </a:solidFill>
              </a:rPr>
              <a:t>④ </a:t>
            </a:r>
            <a:r>
              <a:rPr sz="1300" b="0" dirty="0" err="1">
                <a:solidFill>
                  <a:srgbClr val="000000"/>
                </a:solidFill>
              </a:rPr>
              <a:t>制度導入の背景および検討プロセス</a:t>
            </a:r>
            <a:r>
              <a:rPr sz="1300" b="0" dirty="0">
                <a:solidFill>
                  <a:srgbClr val="000000"/>
                </a:solidFill>
              </a:rPr>
              <a:t>        No.4-7</a:t>
            </a:r>
          </a:p>
          <a:p>
            <a:pPr>
              <a:spcAft>
                <a:spcPts val="100"/>
              </a:spcAft>
            </a:pPr>
            <a:r>
              <a:rPr sz="1200" b="0" dirty="0">
                <a:solidFill>
                  <a:srgbClr val="444444"/>
                </a:solidFill>
              </a:rPr>
              <a:t>• 4条件収束・15年の経緯・Loi </a:t>
            </a:r>
            <a:r>
              <a:rPr sz="1200" b="0" dirty="0" err="1">
                <a:solidFill>
                  <a:srgbClr val="444444"/>
                </a:solidFill>
              </a:rPr>
              <a:t>Climat</a:t>
            </a:r>
            <a:endParaRPr sz="1200" b="0" dirty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200" b="0" dirty="0">
                <a:solidFill>
                  <a:srgbClr val="444444"/>
                </a:solidFill>
              </a:rPr>
              <a:t>• </a:t>
            </a:r>
            <a:r>
              <a:rPr sz="1200" b="0" dirty="0" err="1">
                <a:solidFill>
                  <a:srgbClr val="444444"/>
                </a:solidFill>
              </a:rPr>
              <a:t>産業界の対立と調停・代替案比較・国際戦略</a:t>
            </a:r>
            <a:endParaRPr sz="1200" b="0" dirty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300" b="0" dirty="0">
                <a:solidFill>
                  <a:srgbClr val="000000"/>
                </a:solidFill>
              </a:rPr>
              <a:t>⑤ </a:t>
            </a:r>
            <a:r>
              <a:rPr sz="1300" b="0" dirty="0" err="1">
                <a:solidFill>
                  <a:srgbClr val="000000"/>
                </a:solidFill>
              </a:rPr>
              <a:t>日本への示唆・まとめ・参考文献</a:t>
            </a:r>
            <a:endParaRPr sz="1300" b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FFFFFF"/>
                </a:solidFill>
              </a:rPr>
              <a:t>①　建築環境性能評価制度の全体構造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/>
        <p:txBody>
          <a:bodyPr/>
          <a:lstStyle/>
          <a:p>
            <a:r>
              <a:rPr sz="1500">
                <a:solidFill>
                  <a:srgbClr val="FFFFFF"/>
                </a:solidFill>
              </a:rPr>
              <a:t>No.1（ア）/ No.2（イ）/ No.3（ウ）/ No.8（エ）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RE2020の制度的位置付けと3評価指標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9721187" cy="52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RE2020 = 世界初の建物LCA義務化規制（フランス、2022年施行）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Réglementation Environnementale 2020。新築建物を対象。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3つの評価指標（三本の柱）</a:t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057BA"/>
                </a:solidFill>
              </a:rPr>
              <a:t>【Ic_construction】エンボディド炭素 [kgCO₂eq/m²]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A〜C モジュールGHG + StockC（バイオジェニック炭素クレジット）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→ 動的LCA係数 FRE2020(t) を適用</a:t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057BA"/>
                </a:solidFill>
              </a:rPr>
              <a:t>【Ic_énergie】運用エネルギー由来CO₂ [kgCO₂eq/m²/年]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→ 静的評価（GWP100）</a:t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057BA"/>
                </a:solidFill>
              </a:rPr>
              <a:t>【DH2O】運用水消費量 [L/m²/日]</a:t>
            </a:r>
          </a:p>
          <a:p>
            <a:pPr>
              <a:spcAft>
                <a:spcPts val="100"/>
              </a:spcAft>
            </a:pPr>
            <a:endParaRPr sz="1300" b="1">
              <a:solidFill>
                <a:srgbClr val="0057BA"/>
              </a:solidFill>
            </a:endParaRP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段階的seuil値（住宅集合住宅 Ic_construction）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Phase 1（2022-2024）: 640 kgCO₂eq/m²  ← 達成容易な基準から開始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Phase 2（2025-2027）: 530 kgCO₂eq/m²  (-17%)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Phase 3（2028予定）:  490 kgCO₂eq/m²  (-23%)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Phase 4（2031目標）:  350 kgCO₂eq/m²  (-45%)</a:t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057BA"/>
                </a:solidFill>
              </a:rPr>
              <a:t>▶ 段階的引き下げ = 毎フェーズに技術革新プレッシャーを制度化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Level(s) / EN15978 / EN15804+A2 との関係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4760593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5486"/>
                </a:solidFill>
              </a:rPr>
              <a:t>Level(s)・EN15978（整合）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0948" y="1681566"/>
            <a:ext cx="4760593" cy="49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・EU委員会策定の建物評価フレームワーク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・Macro-obj 1.1 = WLC評価 = Ic指標に対応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・EPBD 2024でLevel(s)活用を推奨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・RE2020はLevel(s)の「先行実装」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・計算ベース: EN 15978（建物LCA規格）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000000"/>
              </a:solidFill>
            </a:endParaRP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057BA"/>
                </a:solidFill>
              </a:rPr>
              <a:t>▶ フランスがEU規格策定で主導権を持つ根拠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1541" y="1381566"/>
            <a:ext cx="4760593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5486"/>
                </a:solidFill>
              </a:rPr>
              <a:t>EN 15804+A2との矛盾（政治的争点）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71541" y="1681566"/>
            <a:ext cx="4760593" cy="49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・EN 15804+A2: 建材EPD欧州標準規格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バイオジェニック: −1/+1（時間評価なし）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→ RE2020の動的LCAと手法的に非整合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000000"/>
              </a:solidFill>
            </a:endParaRP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・CERIB等が「EU規格非整合」として批判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・仏政府「EN 15804改訂で解消される」と反論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000000"/>
              </a:solidFill>
            </a:endParaRP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・ISO 21391-1:2025（仏AFNOR主導）が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動的LCAの国際的調停役として機能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FFFFFF"/>
                </a:solidFill>
              </a:rPr>
              <a:t>②　ダイナミックLCAの要件整理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/>
        <p:txBody>
          <a:bodyPr/>
          <a:lstStyle/>
          <a:p>
            <a:r>
              <a:rPr sz="1500">
                <a:solidFill>
                  <a:srgbClr val="FFFFFF"/>
                </a:solidFill>
              </a:rPr>
              <a:t>No.9（ア）/ No.10（イ）/ No.11（ウ）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DCF係数とFRE2020(t)の科学的根拠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9721187" cy="52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なぜ将来排出のCO₂は「小さく」評価されるか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IPCC AR4 Bern2.5CCモデル: 放出CO₂の55%超が100年以内に海洋等に吸収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→ 将来放出のCO₂は積分期間が短く累積放射強制力（AGWP）が小さい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DCF(t) = AGWP(t, 100年) / AGWP(0, 100年)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線形近似の導出（Benoist 2009 → Solinnen 2018）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IPCC AR4 Bern2.5CCのDCF(t)をt=0〜50年でR²=0.999で線形回帰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→ FRE2020(t) = 1 − 0.00842 × t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t=50年: 線形=0.580 / Bern非線形=0.606（差4%）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制度化プロセス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2009: Benoist博士論文で原型  →  2018: Solinnen報告書で確定・Elodie実装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2021: RE2020 Arrêté（省令）で法規化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批判（Ventura, 2022）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固定DO=100年が t=50年排出を+25%過大評価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→ Rivaton勧告No.5: 2028年Phase 3でISO 21391-1（変動DO）へ移行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動的LCA制度要件・段階施行スケジュール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9721187" cy="52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FRE2020(t) 適用ルール（モジュール別）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A1-A3（t=0）:   F=1.000  ← 建設時排出・バイオ炭素固定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B段階（t≈25年）: F=0.790  ← 使用段階排出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C段階（t=50年）: F=0.580  ← 解体・廃棄段階排出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D（任意）:       F=0以下  ← Ic計算外・別途申告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StockC（バイオジェニック炭素クレジット）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A1-A3: −Bc × 1.0  →  C4: +Bc × 0.58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正味 StockC = −0.42 × Bc [kgCO₂eq/m²]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主要パラメータ一覧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TOD（観測期間）:       100年（建物引渡しから、固定）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SLP（標準使用期間）:   50年（住宅）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係数下限:              0.58（t≥50年は0.58固定）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計算ツール:            Elodie（CSTB、無償、DHUP認定）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データベース:          INIES/FDES（約5,500件収録）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対象建物（段階施行）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2022〜: 住宅・オフィス・学校（新築）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2023〜: 商業施設・物流倉庫等に拡大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FFFFFF"/>
                </a:solidFill>
              </a:rPr>
              <a:t>③　生物由来炭素・炭素貯蔵の制度的位置付け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/>
        <p:txBody>
          <a:bodyPr/>
          <a:lstStyle/>
          <a:p>
            <a:r>
              <a:rPr sz="1500">
                <a:solidFill>
                  <a:srgbClr val="FFFFFF"/>
                </a:solidFill>
              </a:rPr>
              <a:t>No.12（ア）/ No.13（イ）/ No.14（ウ）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StockC算定：静的LCAとの決定的な差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4760593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5486"/>
                </a:solidFill>
              </a:rPr>
              <a:t>静的LCA（EN 15804 −1/+1）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0948" y="1681566"/>
            <a:ext cx="4760593" cy="49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A1-A3（t=0）: −1.0 kgCO₂/kgC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C4（t=50年）: +1.0 kgCO₂/kgC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正味 = ゼロ（木材≡コンクリート）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000000"/>
              </a:solidFill>
            </a:endParaRP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建材比較（静的LCA）: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CLT:      +98 kgCO₂eq/m³（排出）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RC造:    +300 kgCO₂eq/m³（排出）</a:t>
            </a:r>
          </a:p>
          <a:p>
            <a:pPr>
              <a:spcAft>
                <a:spcPts val="100"/>
              </a:spcAft>
            </a:pPr>
            <a:endParaRPr sz="11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→ 設計者へのシグナル: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「木材もコンクリートも同じ（排出）」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1541" y="1381566"/>
            <a:ext cx="4760593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5486"/>
                </a:solidFill>
              </a:rPr>
              <a:t>動的LCA（RE2020 StockC）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71541" y="1681566"/>
            <a:ext cx="4760593" cy="49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A1-A3（t=0）: −1.0 × DCF(0)=1.0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C4（t=50）:  +1.0 × DCF(50)=0.58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正味 StockC = −0.42 kgCO₂/kgC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000000"/>
              </a:solidFill>
            </a:endParaRP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建材比較（動的LCA）: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CLT:      −171 kgCO₂eq/m³（吸収！）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RC造:    +295 kgCO₂eq/m³（不変）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差: −269（CLT, 逆転）※数値要照合</a:t>
            </a:r>
          </a:p>
          <a:p>
            <a:pPr>
              <a:spcAft>
                <a:spcPts val="100"/>
              </a:spcAft>
            </a:pPr>
            <a:endParaRPr sz="11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→ 設計者へのシグナル: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「木材は積極的炭素固定を意味する」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評価期間（DO）の根拠・解体・再利用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9721187" cy="52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なぜ「建設から100年」か（4理由）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① GWP100との連続性（既存FDESデータ再利用が可能）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② Levasseur (2010) との整合（動的LCA基礎論文がTOD=100年採用）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③ 産業界への説明容易性（「同じ100年で精密に」）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④ EU政策整合（EPBD・Level(s)もGWP100基準）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科学的批判と2028年改訂計画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Ventura (2022): 固定DO=100年 → t=50年排出を+25%過大評価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Rivaton No.5: Phase 3（2028）でISO 21391-1（変動DO）へ移行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Rivaton No.9: AR4→AR6パラメータ更新も同時実施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解体・再利用（C・Dモジュール）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C1-C4（t=50年）にF=0.58を適用。焼却→CO₂即時放出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D（任意）: Ic計算外。再利用で排出が後ろ倒し→追加クレジット可能性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→ Rivaton No.10: Dモジュールの部分的Ic組込みを2028年〜試験実施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SFM前提の条件（科学的留保）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StockCクレジットは「伐採＝再植林」（持続可能な森林管理）を前提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FSC/PEFC認証材でない場合の扱いは2028年改訂の議題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FFFFFF"/>
                </a:solidFill>
              </a:rPr>
              <a:t>④　制度導入の背景および検討プロセス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/>
        <p:txBody>
          <a:bodyPr/>
          <a:lstStyle/>
          <a:p>
            <a:r>
              <a:rPr sz="1500">
                <a:solidFill>
                  <a:srgbClr val="FFFFFF"/>
                </a:solidFill>
              </a:rPr>
              <a:t>No.4（ア）/ No.5（イ）/ No.6（ウ）/ No.7（エ）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制度化の4条件と15年の収束プロセス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9721187" cy="52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規制化の4条件（2021〜22年に同時成立）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① 科学的基盤: Benoist 2009博論 → Solinnen 2018報告書で完成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② データ基盤: E+C-プログラム（2016-19）で2,200棟実証・FDES整備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③ 計算ツール: Elodie v2.5に動的LCA機能実装（2018）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④ 政治的正当性: 産業界合意＋EUグリーンディール整合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15年の主要マイルストーン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2007: グルネル環境RTT — 炭素評価を政策課題化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2009: Benoist博論 — FRE2020(t)線形近似の原型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2016: E+C-開始（2,200棟実証）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2018: Solinnen報告書・Elodie実装完了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2019: EUグリーンディール — WLC義務化の政治的文脈確立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2021: RE2020法令公布（Décret 2021-1004）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2022: RE2020施行・EU議長国として国際発信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2025: ISO 21391-1:2025 策定（仏AFNOR主導）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057BA"/>
                </a:solidFill>
              </a:rPr>
              <a:t>▶ E+C-プログラムの意義: 「実証なき規制化はしない」フランスの原則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2,200棟の実Ic分布データがPhase 1 seuil値（640）の根拠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所管省庁・組織体制とLoi Climat et Résilience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4760593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5486"/>
                </a:solidFill>
              </a:rPr>
              <a:t>主要機関と役割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0948" y="1681566"/>
            <a:ext cx="4760593" cy="49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0057BA"/>
                </a:solidFill>
              </a:rPr>
              <a:t>【DHUP/DGALN】環境・住宅省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RE2020の立案・法制化を主導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057BA"/>
                </a:solidFill>
              </a:rPr>
              <a:t>【CSTB】建築科学技術センター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Elodie開発・FICESデータベース運営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057BA"/>
                </a:solidFill>
              </a:rPr>
              <a:t>【Cerema】環境・都市計画研究センター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技術ガイド作成・行政技術顧問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057BA"/>
                </a:solidFill>
              </a:rPr>
              <a:t>【ADEME】環境・エネルギー管理庁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炭素評価手法の科学的レビュー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057BA"/>
                </a:solidFill>
              </a:rPr>
              <a:t>【FCBA】仏木材・建設木材センター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動的LCA採用を科学的・政治的に支持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「正当な評価の回復」として産業訴求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1541" y="1381566"/>
            <a:ext cx="4760593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5486"/>
                </a:solidFill>
              </a:rPr>
              <a:t>Loi Climat et Résilience（Loi n°2021-1104）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71541" y="1681566"/>
            <a:ext cx="4760593" cy="49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2021年8月22日制定（気候・強靭性法）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市民気候委員会（CCC）150提言を立法化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000000"/>
              </a:solidFill>
            </a:endParaRP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建築関連条文: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第10条: 断熱性能段階的強化（Ic_énergie授権）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第14条: 建設GHG 2030年比50%削減目標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第49条: エンボディド炭素評価・開示義務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第181条: SNBC（国家低炭素戦略）の法律格上げ</a:t>
            </a:r>
          </a:p>
          <a:p>
            <a:pPr>
              <a:spcAft>
                <a:spcPts val="100"/>
              </a:spcAft>
            </a:pPr>
            <a:endParaRPr sz="11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CCC提言S3.3（2020年6月）: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「建設脱炭素化を2022年以前に開始」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→ RE2020の2022年施行を加速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057BA"/>
                </a:solidFill>
              </a:rPr>
              <a:t>▶ Loi Climat＝法的授権 / RE2020＝技術実装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産業界の対立・調停と国際標準先行者戦略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4760593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5486"/>
                </a:solidFill>
              </a:rPr>
              <a:t>産業界の対立と政府の調停（3手法）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0948" y="1681566"/>
            <a:ext cx="4760593" cy="49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125486"/>
                </a:solidFill>
              </a:rPr>
              <a:t>■ 反対派の論拠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CERIB（コンクリート研究所）: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「EN 15804/ISO 14067と整合しない」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FFA（仏鋼鉄連盟）: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「リサイクル鋼のDモジュールをIcに」</a:t>
            </a:r>
          </a:p>
          <a:p>
            <a:pPr>
              <a:spcAft>
                <a:spcPts val="100"/>
              </a:spcAft>
            </a:pPr>
            <a:endParaRPr sz="11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125486"/>
                </a:solidFill>
              </a:rPr>
              <a:t>■ 政府の調停メカニズム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① 段階的施行: Phase1→4で産業界に猶予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② 先送り: Dモジュール要求は2028年再検討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③ 共同投資: FDES登録費用の国庫補助</a:t>
            </a:r>
          </a:p>
          <a:p>
            <a:pPr>
              <a:spcAft>
                <a:spcPts val="100"/>
              </a:spcAft>
            </a:pPr>
            <a:endParaRPr sz="11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125486"/>
                </a:solidFill>
              </a:rPr>
              <a:t>■ 代替案と却下理由（ch04 §4.1）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静的LCA継続: SNBC目標達成に不十分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固定補助金: 科学的根拠なし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完全非線形DCF: 2022年実装不可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057BA"/>
                </a:solidFill>
              </a:rPr>
              <a:t>▶ 動的LCA線形近似 = 唯一の三要件充足手段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1541" y="1381566"/>
            <a:ext cx="4760593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5486"/>
                </a:solidFill>
              </a:rPr>
              <a:t>国際標準先行者戦略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71541" y="1681566"/>
            <a:ext cx="4760593" cy="49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① ISO 21391-1:2025 の主導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AFNORが策定をリード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RE2020の科学的手法が国際規格の基盤に</a:t>
            </a:r>
          </a:p>
          <a:p>
            <a:pPr>
              <a:spcAft>
                <a:spcPts val="100"/>
              </a:spcAft>
            </a:pPr>
            <a:endParaRPr sz="11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② EPBD 2024への影響力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EU WLC義務化でRE2020が先行事例として参照</a:t>
            </a:r>
          </a:p>
          <a:p>
            <a:pPr>
              <a:spcAft>
                <a:spcPts val="100"/>
              </a:spcAft>
            </a:pPr>
            <a:endParaRPr sz="11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③ EU議長国（2022年）の活用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RE2020施行と同時期に欧州議題設定を主導</a:t>
            </a:r>
          </a:p>
          <a:p>
            <a:pPr>
              <a:spcAft>
                <a:spcPts val="100"/>
              </a:spcAft>
            </a:pPr>
            <a:endParaRPr sz="11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125486"/>
                </a:solidFill>
              </a:rPr>
              <a:t>■ Rivaton (2025) 12項目勧告（主要）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No.1: FDESを10,000件へ（現5,500件）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No.5: Phase 3でISO 21391-1移行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No.6: デフォルト値見直し（2026中）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No.9: AR4→AR6パラメータ更新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No.10: Dモジュール部分的Ic試験（2028）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FFFFFF"/>
                </a:solidFill>
              </a:rPr>
              <a:t>⑤　日本への示唆・まとめ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日本への示唆：4条件の現状と優先課題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9721187" cy="52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日本の4条件現状（2026年）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① 科学的基盤: ISO 21391-1:2025で国際基盤確立。JIS化が可能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② データ基盤: IDEA時系列炭素フローデータが未整備（最重要課題）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③ 計算ツール: 動的LCA対応国産ツールが存在しない（最優先開発）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④ 政治的正当性: 木材利用促進基本計画・CN宣言と整合するが産業合意未形成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日本が避けるべきフランスの失敗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失敗①: DO固定（+25%過大評価） → 最初からISO 21391-1変動DOを採用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失敗②: データ後追い       → 規制化前にIDEA時系列データ整備を完了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失敗③: 中小業者コスト無視  → 計算ツール無償提供・行政補助を最初から設計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推奨ロードマップ（フランスのE+C-型）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2027〜2029: 実証プログラム設計・実施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2030〜2031: データ整備・ツール開発・人材育成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2032〜    : 段階的義務化（Phase 1相当）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まとめ：調査ブロック①の主要知見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9721187" cy="52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No.1-3・8（制度全体構造）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RE2020は3指標・4フェーズseuil・LCA義務化の世界初制度。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Level(s)・EN15978と整合。EN 15804+A2との矛盾は現在進行形の政治的争点。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No.9-11（動的LCA要件）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FRE2020(t)=1−0.00842tはBenoist(2009)→Solinnen(2018)の10年検証の産物。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固定DO=100年の過大評価（+25%）問題は2028年Phase 3で対処予定。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No.12-14（バイオジェニック炭素）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StockC=−0.42Bcが木材の「排出」→「吸収」逆転を生む（CLT: +98→−171）。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SFM前提・EN 15804矛盾・Dモジュール除外が残る構造的限界。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No.4-7（制度導入背景）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4条件の2021〜22年収束が唯一の制度化要因。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Loi Climat（法的授権）＋産業界の段階的調停が政治的実現性を担保。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フランスのISO 21391-1主導は「自国手法の国際規格化」戦略。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057BA"/>
                </a:solidFill>
              </a:rPr>
              <a:t>▶ 総括: 動的LCAの規制化は「木材優遇」でなく「測定ツールの修正」。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正確な計測が正確な設計シグナルを生み、正確なGHG削減につながる。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9721187" cy="52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Benoist, A. (2009). Thèse: carbone biogénique. Université Paris-Est.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Solinnen (2018). Rapport DCF coefficients pour RE2020.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Levasseur, A. et al. (2010). Considering time in LCA. Environ. Sci. Technol. 44(8):3169.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Ventura, A. &amp; Feraille, A. (2021). Dynamic LCA. Building and Environment 196:107777.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Ventura, A. (2022). Conceptual issue of the dynamic GWP. Int. J. LCA.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Shine, K.P. et al. (2005). Alternatives to GWP. Climatic Change 68(3):281.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Forster, P. et al. (2007). IPCC AR4 WG1 Chapter 2. Cambridge Univ. Press.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ISO 21391-1:2025. Dynamic LCA of biogenic carbon. ISO, Geneva.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Cerema (2024). Guide technique RE2020. Cerema, Lyon.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Rivaton, R. (2025). Bilan RE2020 et recommandations phase 3. DHUP/DGALN.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DHUP (2021). Décret 2021-1004 et Arrêté du 4 août 2021. Journal Officiel.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Loi n°2021-1104 du 22 août 2021. Journal officiel de la République française.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CCC (2020). Propositions: Proposition S3.3. Convention Citoyenne pour le Climat.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Hoxha, E. et al. (2020). Uncertainty in LCA. Building and Environment 175:106780.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CERIB (2021). Analyse critique RE2020 GWP dynamique. (非公開資料)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France Bois 2024 (2024). Plan France Bois 2024. Ministère de l'Agriculture.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Office%20Theme</Template>
  <TotalTime>1272</TotalTime>
  <Words>2323</Words>
  <Application>Microsoft Macintosh PowerPoint</Application>
  <PresentationFormat>ユーザー設定</PresentationFormat>
  <Paragraphs>279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7" baseType="lpstr">
      <vt:lpstr>Hiragino Kaku Gothic Std W3</vt:lpstr>
      <vt:lpstr>游ゴシック</vt:lpstr>
      <vt:lpstr>Aptos</vt:lpstr>
      <vt:lpstr>Arial</vt:lpstr>
      <vt:lpstr>Calibri</vt:lpstr>
      <vt:lpstr>Calibri Light</vt:lpstr>
      <vt:lpstr>Office テーマ</vt:lpstr>
      <vt:lpstr>調査ブロック①　政策及び制度調査報告</vt:lpstr>
      <vt:lpstr>目次</vt:lpstr>
      <vt:lpstr>①　建築環境性能評価制度の全体構造</vt:lpstr>
      <vt:lpstr>RE2020の制度的位置付けと3評価指標</vt:lpstr>
      <vt:lpstr>Level(s) / EN15978 / EN15804+A2 との関係</vt:lpstr>
      <vt:lpstr>②　ダイナミックLCAの要件整理</vt:lpstr>
      <vt:lpstr>DCF係数とFRE2020(t)の科学的根拠</vt:lpstr>
      <vt:lpstr>動的LCA制度要件・段階施行スケジュール</vt:lpstr>
      <vt:lpstr>③　生物由来炭素・炭素貯蔵の制度的位置付け</vt:lpstr>
      <vt:lpstr>StockC算定：静的LCAとの決定的な差</vt:lpstr>
      <vt:lpstr>評価期間（DO）の根拠・解体・再利用</vt:lpstr>
      <vt:lpstr>④　制度導入の背景および検討プロセス</vt:lpstr>
      <vt:lpstr>制度化の4条件と15年の収束プロセス</vt:lpstr>
      <vt:lpstr>所管省庁・組織体制とLoi Climat et Résilience</vt:lpstr>
      <vt:lpstr>産業界の対立・調停と国際標準先行者戦略</vt:lpstr>
      <vt:lpstr>⑤　日本への示唆・まとめ</vt:lpstr>
      <vt:lpstr>日本への示唆：4条件の現状と優先課題</vt:lpstr>
      <vt:lpstr>まとめ：調査ブロック①の主要知見</vt:lpstr>
      <vt:lpstr>参考文献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KAKKAR-21</dc:creator>
  <cp:lastModifiedBy>根岸 光司</cp:lastModifiedBy>
  <cp:revision>126</cp:revision>
  <cp:lastPrinted>2020-02-21T03:07:58Z</cp:lastPrinted>
  <dcterms:created xsi:type="dcterms:W3CDTF">2019-11-29T07:02:30Z</dcterms:created>
  <dcterms:modified xsi:type="dcterms:W3CDTF">2026-06-02T06:00:11Z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0x01010066933BD81F2A764CB761560FCEB60138</vt:lpwstr>
  </property>
</Properties>
</file>