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solidFill>
                  <a:srgbClr val="125486"/>
                </a:solidFill>
              </a:rPr>
              <a:t>調査ブロック②　技術及び手法調査報告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444444"/>
                </a:solidFill>
              </a:rPr>
              <a:t>動的LCAの理論・算定方法・建築物LCAにおける位置付け
一般社団法人サステナブル経営推進機構（SuMPO）　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⑤ 動的LCAの理論的枠組み（No.15〜17）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動的LCAの基本概念・静的LCAとの差異（No.15）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評価期間の科学的根拠と政治的均衡（No.16）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線形近似の精度・限界とISO 21391-1（No.17）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⑥ 評価指標及び算定方法（No.18〜20）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Ic_construction完全算定式・パラメータ根拠（No.18）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炭素循環（吸収・固定・放出）の扱い（No.19）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放射強制力の考え方との関係性（No.20）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⑦ 建築物LCA算定における位置付け（No.21〜23）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算定環境（Elodie・INIES・人材育成）（No.21）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静的LCAとのハイブリッド設計関係性（No.22）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• 評価結果の利用方法・表示方法（No.23）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⑧ 総合考察・日本への技術移転示唆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⑤　動的LCAの理論的枠組み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No.15（ア）/ No.16（イ）/ No.17（ウ）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動的LCAの基本概念：静的LCAが見落とすもの（No.15）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静的LCA（GWP100）の構造的限界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「建物ライフサイクルのすべての排出・吸収を同一時点で評価する」という前提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木材：t=0に吸収、t=50年に放出 → 静的LCAでは正味ゼロ（実態と乖離）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コンクリート：製造時排出のみ → 木材と同じ「炭素中立」の誤解を生む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動的LCAの2つの拡張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【動的LCI】排出・吸収の発生タイミングを時系列で記録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各フロー（材料採取・製造・使用・廃棄）に「いつ起きるか」を付与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【動的LCIA】時間依存型特性化係数（DCF）を適用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DCF(t) = 放射強制力の時間積分比率（後述）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DCF(t)の直感的理解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今日放出した1kgCO₂は100年間大気に影響 → DCF=1.0（基準）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50年後に放出した1kgCO₂は残り50年しか影響しない → DCF=0.58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「後に放出されるほど気候への悪影響が小さい」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RE2020は動的LCAを「静的LCA＋後付け時間係数」として簡略実装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FRE2020(t) = 1 − 0.00842×t（線形近似）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評価期間の科学的根拠と政治的均衡（No.16）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「100年」の科学的根拠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IPCC AR4 Bern2.5CC応答関数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C(t) = 0.217 + 0.259·e^(−t/172.9)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+ 0.338·e^(−t/18.51)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+ 0.186·e^(−t/1.186)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約22%（a₀=0.217）は事実上永続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100年間を超えても気候影響が続く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IPCC AR5（1990）の政策的経緯: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GWP20/GWP100/GWP500 を提示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政策決定でGWP100が選択された背景: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「短期: メタン有利、長期: CO₂有利」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気候科学者・政策担当者が合意した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政治的・実用的な均衡点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「100年」への科学的批判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Ventura (2022) の批判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固定DO（観測窓）=100年 vs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変動DO（ISO 21391-1方式）の差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固定DO=100年では t=50年排出を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+25%過大評価（Ventura, 2022）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Shine et al. (2005) の代替案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GTP（地球温度変動ポテンシャル）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提案。IGWPとの差を定量化。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RE2020採用なし（データ要求過大）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2028年改訂（Rivaton No.5）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ISO 21391-1:2025の変動DO方式へ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移行検討。AR6パラメータ更新も同時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100年は科学的最適ではなく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政治的均衡点として機能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線形近似の精度・限界とISO 21391-1（No.17）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線形近似 FRE2020(t) の精度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BernモデルDCF(t)をt=0〜50でR²=0.9997で線形近似（Benoist, 2009）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t=50年時の誤差: |0.580 − 0.606| / 0.606 ≈ 4.3%（実用上十分）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線形近似の3つの限界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① t=50年以降は DCF実値がFRE2020を上回る（線形が過小評価）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② CH₄・N₂OにはCO₂とは異なるDCF(t)曲線が必要（RE2020は未対応）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 Ventura(2022)の固定DO=100年問題（+25%過大評価）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ISO 21391-1:2025（仏AFNOR主導、2025年策定）との比較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RE2020:                 ISO 21391-1:2025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FRE2020(t)=1−0.00842t  非線形DCF（Bern数値積分直接使用）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固定DO=100年            変動DO（排出時点から100年）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CO₂のみ動的評価         各ガス種別に動的評価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線形近似（実装容易）     高精度（計算負荷増）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RE2020の線形近似は「過渡期の簡易化」としてISO 21391-1に位置付けられる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2028年Phase 3で非線形移行を検討中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⑥　評価指標及び算定方法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No.18（ア）/ No.19（イ）/ No.20（ウ）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Ic_construction 完全算定式とパラメータ根拠（No.18）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Ic_construction の完全算定式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Ic = (1/SHON) × Σ_m [ Σ_i E_i^(m) × GWP₁₀₀(i) × FRE2020(t_m) ] + StockC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SHON: 正味延べ面積 [m²]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E_i^(m): モジュールm における物質iの排出量 [kg]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GWP₁₀₀(i): 静的温暖化係数（IPCC AR4）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FRE2020(t_m): モジュールm の時間係数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StockC: バイオジェニック炭素クレジット（負値）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モジュール別時間係数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A1-A3（t=0年）:  FRE2020 = 1.000  ← 建設時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B（t≈25年）:    FRE2020 = 0.790  ← 使用段階平均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C（t=50年）:    FRE2020 = 0.580  ← 解体・廃棄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係数0.00842の導出プロセス（2009→2021）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Step 1: AR4 Bern2.5CC応答関数でCO₂の大気中残存率を計算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Step 2: AGWP(t, 100)を数値積分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Step 3: DCF(t) = AGWP(t,100) / AGWP(0,100)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Step 4: t=0〜50年で線形回帰 → 傾き = −0.00842（R²=0.9997）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2021年 Arrêté（省令）で法規化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炭素循環（吸収・固定・放出）の扱い（No.19）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木材のバイオジェニック炭素サイクル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大気CO₂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↓ 光合成（NPP: 0.5〜3.0 kgC/m²/年）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樹木バイオマス（生体）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↓ 伐採・搬出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製材・CLT（製品内貯蔵）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↓ 建物として使用（50年以上）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建物構造材（長期貯蔵）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↓ 解体後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① 焼却（C4）→ CO₂即時放出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② 埋立（C4）→ CH₄+CO₂ゆっくり放出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③ 再利用（D）→ さらに貯蔵延長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大気CO₂（帰還）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RE2020: ③再利用はIc計算外（Dモジュール）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SFM前提・EN 16485との関係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SFM（持続可能な森林管理）前提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クレジットは「伐採=再植林」が条件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FSC/PEFC認証材が対象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リスク（RE2020の潜在的課題）: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・非認証材（海外輸入材等）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・気候変動による森林劣化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・伐採直後の一時的炭素負債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Rivaton No.7: 対処を2028年検討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IPCC HWP会計との関係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建築用途構造材（半減期50年以上）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RE2020 StockC計算の対象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EN 16485:2014との差異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EN 16485: 時間軸評価なし（静的）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RE2020: FRE2020(t)適用・StockCクレジット認める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→ 欧州規格との方法論的差異が継続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放射強制力の考え方との関係性（No.20）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放射強制力（RF）とは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大気成分の変化による地球エネルギー収支の擾乱 [W/m²]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RF_CO₂(C) = 5.35 × ln(C/C₀)  [W/m²]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C₀: 産業化前CO₂濃度（278 ppm）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GWP100とAGWPの関係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GWP_H = AGWP_H(x) / AGWP_H(CO₂)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AGWP: 累積放射強制力（時間積分）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AGWP₁₀₀(CO₂) ≈ 8.69 × 10⁻¹⁴ W m⁻² yr kg⁻¹（AR4）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なぜ「将来放出のCO₂は気候影響が小さい」か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観測窓（TOD=100年）の終点に近い時点で放出されたCO₂は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積分期間が残り少ない → AGWP(t,100)が小さくなる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DCF(50) = AGWP(50,100) / AGWP(0,100) ≈ 0.58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「今日の1kgCO₂」vs「50年後の1kgCO₂」の気候影響比 = 100:58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IPCC AR6（2021）への更新影響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AR6: a₀=0.200（AR4: 0.217）、τ₁=394.4年（AR4: 172.9年）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DCF(t)がやや大きくなる（木材に若干不利）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RE2020は現在もAR4使用。AR6更新は2028年Phase 3の議題（Rivaton No.9）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方法論の正当性はAR4→AR6更新で変わらない。パラメータ値が微調整されるのみ。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⑦　建築物LCA算定における位置付け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>
            <a:r>
              <a:rPr sz="1500">
                <a:solidFill>
                  <a:srgbClr val="FFFFFF"/>
                </a:solidFill>
              </a:rPr>
              <a:t>No.21（ア）/ No.22（イ）/ No.23（ウ）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フランスのLCA算定エコシステム（No.21）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三層構造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【第1層】データベース: INIES（inies.fr）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FDES（建材環境製品宣言）約5,500件収録（2026年現在）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デフォルト値: FDES未整備建材用「保守的（不利側）」標準値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【第2層】計算ソフト: Elodie（CSTB開発・無償提供）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FDESをINIESから直接インポート・Ic計算自動化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動的LCA: FRE2020(t)の自動適用・StockC自動算定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出力: 申請用PDFレポート（DHUP指定フォーマット）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精度: 整合化FDES使用時 ±5%以内（Cerema, 2024 §6.2）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【第3層】申請・認証機関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建築確認申請（Permis de construire）に計算書を添付（法的義務）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任意認証: BBCA（seuil×0.70以下）、NF HQE等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日本との比較（計算ツール・データベース件数）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フランス（Elodie、INIES）:   5,500件  / 動的LCA対応 ✅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ドイツ（ÖKOBAUDAT準拠）:    1,200件  / 動的LCA対応 ✗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日本（IDEA-BIM）:           3,000件  / 動的LCA対応 ✗  ← 最優先課題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静的LCAとのハイブリッド設計（No.22）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RE2020のハイブリッド設計思想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948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純粋な動的LCAではなく: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「静的LCA結果 × 動的係数（後付け）」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静的LCAデータ（FDES/EPD）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× FRE2020(t_m)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+ StockC（バイオジェニック）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= Ic_construction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この方式の合理性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・既存FDESインフラを流用（コスト最小化）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・動的LCI整備が不要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・Elodieへの実装が「係数の掛け算のみ」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差異が大きいケース（動的補正が効く）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CLT・LVL等バイオジェニック炭素多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B段階で大量修繕が発生する建材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差異が小さいケース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コンクリート・鋼材（バイオ炭素なし）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541" y="1381566"/>
            <a:ext cx="4760593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5486"/>
                </a:solidFill>
              </a:rPr>
              <a:t>EN 15804+A2との方法論的矛盾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541" y="1681566"/>
            <a:ext cx="4760593" cy="49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| 項目 | EN 15804+A2 | RE2020 |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|------|-------------|--------|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| 時間軸評価 | なし | あり |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| バイオ炭素 | −1/+1正味ゼロ | StockCクレジット |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>| 評価基準 | 欧州委員会策定 | 仏国内法規 |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25486"/>
                </a:solidFill>
              </a:rPr>
              <a:t>■ 矛盾の政治的重要性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CERIB: 「EU規格非整合」として継続批判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フランス政府: 「EN 15804改訂で解消」と反論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057BA"/>
                </a:solidFill>
              </a:rPr>
              <a:t>▶ ISO 21391-1:2025が国際的調停役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444444"/>
                </a:solidFill>
              </a:rPr>
              <a:t>→ 将来的にEN 15804改訂の動力となる可能性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評価結果の利用方法・表示方法（No.23）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Ic指標の法的開示フロー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① 設計者がElodieでIc試算 → 設計段階での材料比較・最適化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② 建築確認申請にElodie出力PDFを添付（法的義務）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 施工段階: 設計LCA→実施LCAへ更新（A5実績反映）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④ 完成時: 最終Ic値を確定・認証機関へ提出（記録10年保存）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申告書フォーマット（例）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Ic_construction: 412 kgCO₂eq/m²  ≤ seuil 640  ✅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うち StockC:    −85 kgCO₂eq/m²（バイオジェニック炭素クレジット）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Ic_énergie:      2.9 kgCO₂eq/m²/年 ≤ seuil 4.0  ✅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金融・保険分野での活用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グリーンボンド: EUタクソノミー技術基準の参照指標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住宅ローン: BBCA認証建物への金利優遇（Crédit Agricole等）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ESG報告: 不動産ポートフォリオのScope 3計算にIc値を活用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国際比較（建物LCA開示義務）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フランス（RE2020、2022〜）: 義務・動的LCAあり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スウェーデン（PBL、2022〜）: 義務・動的LCAなし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EU全体（EPBD 2024）:        2030年目標・義務化予定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日本（CASBEE等）:            義務なし・最優先整備課題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⑧　総合考察・日本への技術移転示唆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動的LCA手法比較：RE2020 vs ISO 21391-1 vs 純粋動的LCA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3手法の方法論的比較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手法              | DCF計算    | DO設定    | 実装容易性 | データ要件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RE2020（現行）     | 線形近似   | 固定100年 | 高（簡単） | 低（既存FDES）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ISO 21391-1:2025  | 非線形Bern | 変動DO    | 中         | 中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純粋動的LCA       | 数値積分   | 変動DO    | 低（複雑） | 高（時系列LCI）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各手法の政策適用可能性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RE2020方式: 即時実施可。既存LCAデータ（静的EPD）を活用。「過渡期の手法」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ISO 21391-1: 精度と実用性の次世代バランス。日本のJIS化候補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純粋動的LCA: 研究・高精度評価向け。義務規制には不向き（現時点）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日本が「スキップ」できる失敗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失敗①: 固定DO採用 → ISO 21391-1（変動DO）を最初から採用すればよい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失敗②: データ後追い → 規制化前にIDEA時系列LCIデータを整備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失敗③: 単一係数（0.00842）の固定化 → AR6ベースの係数から出発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日本はフランスの「過渡期」を飛ばし、ISO 21391-1方式で直接スタートできる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→ ただしデータ整備（IDEA時系列化）と計算ツール開発が必要条件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まとめ：調査ブロック②の主要知見（No.15〜23全カバー）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No.15〜17（動的LCA理論的枠組み）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動的LCAは「静的LCA＋時間軸」の拡張。DCF(t)は物理的放射強制力に根拠。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評価期間100年は科学的最適でなく政治的均衡点。線形近似は精度95%超（4%誤差）。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ISO 21391-1:2025が次世代標準として非線形・変動DOを国際的に定着させた。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No.18〜20（評価指標・算定方法）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係数0.00842はBenoist(2009)→Solinnen(2018)の10年検証→2021年法規化の産物。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炭素循環は「光合成→製品内貯蔵→廃棄放出」の全フローをDCF適用で追跡。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放射強制力ベースの動的評価は「同じ1kgでも排出時点が違えば影響が違う」を正確に計測。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125486"/>
                </a:solidFill>
              </a:rPr>
              <a:t>■ No.21〜23（建築物LCA算定の位置付け）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フランスの三層エコシステム（INIES→Elodie→申請）は無償・法的認定が特徴。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RE2020は「静的LCA×動的係数」のハイブリッド。既存インフラ活用が鍵。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Ic指標はグリーンボンド・住宅ローン・ESG報告へと金融分野にも展開中。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057BA"/>
                </a:solidFill>
              </a:rPr>
              <a:t>▶ 技術移転の優先順位: ①IDEA時系列LCI整備  ②動的LCA計算ツール開発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444444"/>
                </a:solidFill>
              </a:rPr>
              <a:t>③ISO 21391-1のJIS化 ④実証プログラム（E+C-型）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25486"/>
                </a:solidFill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948" y="1381566"/>
            <a:ext cx="9721187" cy="5278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Levasseur, A. et al. (2010). Considering time in LCA. Environ. Sci. Technol. 44(8):3169.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Levasseur, A. et al. (2013). Biogenic carbon &amp; dynamic LCA. J. Industrial Ecology 17(1):117.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Ventura, A. &amp; Feraille, A. (2021). Dynamic LCA. Building and Environment 196:107777.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Ventura, A. (2022). Conceptual issue of the dynamic GWP. Int. J. LCA.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Benoist, A. (2009). Thèse: carbone biogénique. Université Paris-Est.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Solinnen (2018). Rapport DCF coefficients pour RE2020.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Forster, P. et al. (2007). IPCC AR4 WG1 Chapter 2. Cambridge Univ. Press.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IPCC (2021). AR6 WG1 Chapter 7: The Earth's Energy Budget.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Eggleston, H.S. et al. (2006). IPCC 2006 GL: Vol.4 AFOLU. IPCC, Geneva.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Shine, K.P. et al. (2005). Alternatives to GWP. Climatic Change 68(3):281.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EN 16485:2014. Round and sawn timber — Environmental product declarations. CEN.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ISO 21391-1:2025. Dynamic LCA of biogenic carbon. ISO, Geneva.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CSTB (2022). Elodie: Guide d'utilisation v4.5. CSTB, Paris.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Cerema (2024). Guide technique RE2020. Cerema, Lyon.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Rivaton, R. (2025). Bilan RE2020 et recommandations phase 3. DHUP/DGALN.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INIES (2024). Base de données INIES: mode d'emploi 2024. CSTB/FFB.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Houghton, R.A. (2007). Balancing the global carbon budget. Ann. Rev. Earth Planet. Sci. 35:313.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</a:rPr>
              <a:t>Grubb, M. et al. (2021). Planetary Economics. Earthscan/Routledge.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