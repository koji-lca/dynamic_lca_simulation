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  <p:sldId id="264" r:id="rId16"/>
    <p:sldId id="265" r:id="rId17"/>
    <p:sldId id="266" r:id="rId18"/>
  </p:sldIdLst>
  <p:sldSz cx="10691813" cy="7559675"/>
  <p:notesSz cx="6858000" cy="9144000"/>
  <p:defaultTextStyle>
    <a:defPPr>
      <a:defRPr lang="ja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CB7F64A-8C42-F23D-D097-4B3EE8B24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E6F7D04-8F56-CD64-BFCD-F14E41EEB8E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4" name="スライド番号プレースホルダー 4">
            <a:extLst>
              <a:ext uri="{FF2B5EF4-FFF2-40B4-BE49-F238E27FC236}">
                <a16:creationId xmlns:a16="http://schemas.microsoft.com/office/drawing/2014/main" id="{4B2C9048-3CFF-BB2E-975E-0870AE2D895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1708C4-0D70-2A4C-BC1F-5D3A25B5927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1342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3E2819-15E5-1A71-6EFE-808AC8B9F8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874EB0-160C-67CE-6359-880E7FCE0C4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5BCBEECA-5209-B044-B147-1673C62B355A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5EE16A9D-61E6-5284-5944-5A0EAF71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90" y="1143000"/>
            <a:ext cx="4365629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EABD5A5-3198-52EC-CF38-0FFCB24BC5E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B6756-D48B-4F59-A3B8-7AAE24A8BC4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A7EC3-3B22-E725-ED7C-5CE28A6FE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B49AF10F-6C39-B848-B527-783F26C338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1pPr>
    <a:lvl2pPr marL="497753" marR="0" lvl="1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2pPr>
    <a:lvl3pPr marL="995507" marR="0" lvl="2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3pPr>
    <a:lvl4pPr marL="1493260" marR="0" lvl="3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4pPr>
    <a:lvl5pPr marL="1991014" marR="0" lvl="4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5">
            <a:extLst>
              <a:ext uri="{FF2B5EF4-FFF2-40B4-BE49-F238E27FC236}">
                <a16:creationId xmlns:a16="http://schemas.microsoft.com/office/drawing/2014/main" id="{00DFD775-92BB-E6B5-0624-3AE0E5F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0679012" cy="75543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E5D412-069E-3478-FA61-023D85CE8D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1883" y="3132670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D8396E-022C-EAEC-A749-2D67E3CD9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80"/>
            <a:ext cx="8018858" cy="402482"/>
          </a:xfrm>
        </p:spPr>
        <p:txBody>
          <a:bodyPr anchorCtr="1"/>
          <a:lstStyle>
            <a:lvl1pPr marL="0" indent="0" algn="ctr">
              <a:buNone/>
              <a:defRPr lang="en-US" sz="2400"/>
            </a:lvl1pPr>
          </a:lstStyle>
          <a:p>
            <a:pPr lvl="0"/>
            <a:r>
              <a:rPr lang="en-US"/>
              <a:t>2026.00.00</a:t>
            </a:r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E234C807-F569-8D78-AD27-C10A8C7872D9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6" name="直線コネクタ 9">
            <a:extLst>
              <a:ext uri="{FF2B5EF4-FFF2-40B4-BE49-F238E27FC236}">
                <a16:creationId xmlns:a16="http://schemas.microsoft.com/office/drawing/2014/main" id="{4F4B76E2-360E-DDF7-FE4D-2D6047E9B643}"/>
              </a:ext>
            </a:extLst>
          </p:cNvPr>
          <p:cNvCxnSpPr/>
          <p:nvPr/>
        </p:nvCxnSpPr>
        <p:spPr>
          <a:xfrm>
            <a:off x="-18470" y="7166518"/>
            <a:ext cx="1069199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EF689ACB-A9D4-1D04-838C-CC2834123A7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pic>
        <p:nvPicPr>
          <p:cNvPr id="8" name="図 14">
            <a:extLst>
              <a:ext uri="{FF2B5EF4-FFF2-40B4-BE49-F238E27FC236}">
                <a16:creationId xmlns:a16="http://schemas.microsoft.com/office/drawing/2014/main" id="{9AA4B207-D3AE-090E-9747-03CEE615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36" y="99468"/>
            <a:ext cx="2908304" cy="177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15">
            <a:extLst>
              <a:ext uri="{FF2B5EF4-FFF2-40B4-BE49-F238E27FC236}">
                <a16:creationId xmlns:a16="http://schemas.microsoft.com/office/drawing/2014/main" id="{9E15BC65-8EB9-9393-F4FC-8178E9F58EA7}"/>
              </a:ext>
            </a:extLst>
          </p:cNvPr>
          <p:cNvSpPr/>
          <p:nvPr/>
        </p:nvSpPr>
        <p:spPr>
          <a:xfrm>
            <a:off x="3885404" y="378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正方形/長方形 16">
            <a:extLst>
              <a:ext uri="{FF2B5EF4-FFF2-40B4-BE49-F238E27FC236}">
                <a16:creationId xmlns:a16="http://schemas.microsoft.com/office/drawing/2014/main" id="{A9FF4FC7-202A-E8F7-6D0B-FFFB317FE180}"/>
              </a:ext>
            </a:extLst>
          </p:cNvPr>
          <p:cNvSpPr/>
          <p:nvPr/>
        </p:nvSpPr>
        <p:spPr>
          <a:xfrm>
            <a:off x="4605403" y="378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957F8504-4F93-19E9-3EB5-4955FF3B6C95}"/>
              </a:ext>
            </a:extLst>
          </p:cNvPr>
          <p:cNvSpPr/>
          <p:nvPr/>
        </p:nvSpPr>
        <p:spPr>
          <a:xfrm>
            <a:off x="5325401" y="378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正方形/長方形 18">
            <a:extLst>
              <a:ext uri="{FF2B5EF4-FFF2-40B4-BE49-F238E27FC236}">
                <a16:creationId xmlns:a16="http://schemas.microsoft.com/office/drawing/2014/main" id="{1BF164A5-5F14-9707-AF41-3077187EC645}"/>
              </a:ext>
            </a:extLst>
          </p:cNvPr>
          <p:cNvSpPr/>
          <p:nvPr/>
        </p:nvSpPr>
        <p:spPr>
          <a:xfrm>
            <a:off x="6045409" y="378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3ACDDA9B-3767-2073-AB98-31F31C17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39" y="5481123"/>
            <a:ext cx="5514536" cy="111755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図 20">
            <a:extLst>
              <a:ext uri="{FF2B5EF4-FFF2-40B4-BE49-F238E27FC236}">
                <a16:creationId xmlns:a16="http://schemas.microsoft.com/office/drawing/2014/main" id="{94BF1B61-FD64-B485-CE6A-D7053DF6D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837" y="5687055"/>
            <a:ext cx="699845" cy="8106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図 21">
            <a:extLst>
              <a:ext uri="{FF2B5EF4-FFF2-40B4-BE49-F238E27FC236}">
                <a16:creationId xmlns:a16="http://schemas.microsoft.com/office/drawing/2014/main" id="{F2F7E7B9-B82D-7573-7861-B43BDB1A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969" y="6271394"/>
            <a:ext cx="3938137" cy="2443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389260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見出し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5C055667-FF3F-A6D2-BC77-F96F2CDAC7A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1CE64156-C7D9-C1F4-23D2-EB54DD509E8A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595A7E94-BB0C-E096-4FAF-69783B99C3E3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9">
            <a:extLst>
              <a:ext uri="{FF2B5EF4-FFF2-40B4-BE49-F238E27FC236}">
                <a16:creationId xmlns:a16="http://schemas.microsoft.com/office/drawing/2014/main" id="{9EBFF0C2-6EBE-33F0-9B20-890B97C55AC8}"/>
              </a:ext>
            </a:extLst>
          </p:cNvPr>
          <p:cNvSpPr/>
          <p:nvPr/>
        </p:nvSpPr>
        <p:spPr>
          <a:xfrm>
            <a:off x="2106000" y="3600001"/>
            <a:ext cx="7200003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0">
            <a:extLst>
              <a:ext uri="{FF2B5EF4-FFF2-40B4-BE49-F238E27FC236}">
                <a16:creationId xmlns:a16="http://schemas.microsoft.com/office/drawing/2014/main" id="{84BE7162-FE6E-5B4B-2678-4DBB54DDE78D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7" name="直線コネクタ 22">
            <a:extLst>
              <a:ext uri="{FF2B5EF4-FFF2-40B4-BE49-F238E27FC236}">
                <a16:creationId xmlns:a16="http://schemas.microsoft.com/office/drawing/2014/main" id="{2853C88F-AC5A-A21C-4AE8-A2348C622629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EDBDF8-C21B-8651-834C-E661C7D90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AF77E20-5376-7FBE-3404-653442A724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2E31E-EC1D-2B77-7AE6-A69951739B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E6A15C84-9E99-F84A-9F32-30BD8DF16F2E}" type="slidenum">
              <a:t>‹#›</a:t>
            </a:fld>
            <a:endParaRPr lang="en-US"/>
          </a:p>
        </p:txBody>
      </p:sp>
      <p:pic>
        <p:nvPicPr>
          <p:cNvPr id="11" name="図 13">
            <a:extLst>
              <a:ext uri="{FF2B5EF4-FFF2-40B4-BE49-F238E27FC236}">
                <a16:creationId xmlns:a16="http://schemas.microsoft.com/office/drawing/2014/main" id="{F0B7AA26-07FF-2486-968C-6B18BF0E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14A61AB-3A8B-4340-E926-00F124F5643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75293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20">
            <a:extLst>
              <a:ext uri="{FF2B5EF4-FFF2-40B4-BE49-F238E27FC236}">
                <a16:creationId xmlns:a16="http://schemas.microsoft.com/office/drawing/2014/main" id="{0C70FEB0-BB23-F061-C82C-76923D61098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9">
            <a:extLst>
              <a:ext uri="{FF2B5EF4-FFF2-40B4-BE49-F238E27FC236}">
                <a16:creationId xmlns:a16="http://schemas.microsoft.com/office/drawing/2014/main" id="{B9EEE9E5-5775-AFA2-CA62-0DB27641D35B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529EC-D259-6FE0-7A61-E061462A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451834-AB87-829B-2B85-7C4A91514A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pic>
        <p:nvPicPr>
          <p:cNvPr id="6" name="図 12">
            <a:extLst>
              <a:ext uri="{FF2B5EF4-FFF2-40B4-BE49-F238E27FC236}">
                <a16:creationId xmlns:a16="http://schemas.microsoft.com/office/drawing/2014/main" id="{254328DF-D719-8663-BC31-4DA264E3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A39FAFF1-2227-FA9D-2DBB-0197937E9351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16">
            <a:extLst>
              <a:ext uri="{FF2B5EF4-FFF2-40B4-BE49-F238E27FC236}">
                <a16:creationId xmlns:a16="http://schemas.microsoft.com/office/drawing/2014/main" id="{B986A065-693B-989C-D8F1-F7CFAE55DF00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E31B1BB8-371F-ABDD-429C-FAE7B3DFA146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10" name="直線コネクタ 8">
            <a:extLst>
              <a:ext uri="{FF2B5EF4-FFF2-40B4-BE49-F238E27FC236}">
                <a16:creationId xmlns:a16="http://schemas.microsoft.com/office/drawing/2014/main" id="{02398B39-7927-3FAD-F9F2-A7CFA73F050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7FC1E9"/>
            </a:solidFill>
            <a:prstDash val="solid"/>
            <a:miter/>
          </a:ln>
        </p:spPr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2D2FB5DB-FC49-637F-F7BB-6B240658A767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7E8F7A-89D9-AA3C-32CF-1C4BA18A8E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C9440C4-B12E-3B43-A1C7-6D65757BCCCE}" type="slidenum">
              <a:t>‹#›</a:t>
            </a:fld>
            <a:endParaRPr lang="en-US"/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75AD77BE-7B72-625B-D638-067DDB49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D2D8985-C6C2-E089-94A2-993E71C059B4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8092138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見出し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D737C941-8340-805C-E2FC-FDE9CDBE978C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8E162812-4B4C-45EC-A6A7-EEB73F7C076C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A87B75DB-D201-322A-1039-B4C3DC738CD4}"/>
              </a:ext>
            </a:extLst>
          </p:cNvPr>
          <p:cNvSpPr/>
          <p:nvPr/>
        </p:nvSpPr>
        <p:spPr>
          <a:xfrm>
            <a:off x="666003" y="3600001"/>
            <a:ext cx="7200003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7C7F3183-9DC4-0454-FA0C-ADF08DE8FC19}"/>
              </a:ext>
            </a:extLst>
          </p:cNvPr>
          <p:cNvSpPr/>
          <p:nvPr/>
        </p:nvSpPr>
        <p:spPr>
          <a:xfrm>
            <a:off x="7865815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BE2512E6-6095-7B8B-78DE-CE8F66E77D48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648C6C3-319C-DBEB-7AC2-9806AFE09823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34057-A8E4-AA0E-92B0-3BCE4561F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C253A8-C666-AF30-8865-70DEA50476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F7FDD-263E-DEC6-03B7-7FBD57AFC5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6CB24ED0-999C-FA4B-A574-35DA35442F87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B2EA4662-7861-1D21-B499-105C8C8E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E299CCE-656B-5D61-7ABD-17E9FA404EFF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6435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3E5BFDC3-D231-CD27-D97D-5AC0E97BC0AA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93D8A-5CD3-B489-34E8-74FAED79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63661C5A-934F-9232-121C-C866CDB9104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6D47856A-2FDF-E0A5-FD18-95420F2B5A35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185ABE00-7578-A98A-7C51-6F7E96F6BACB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F8A120AD-6007-A81C-D9CC-09E75BE18372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A501AB16-AD01-DE9F-3BD8-FD13497C03BD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097650C1-ECBE-78A3-4BDD-4C0A6F6BC0E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EF9B86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FF8012E-CBB7-27D4-8F33-9E10BDF8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126766B6-139E-377A-5F57-C1D2A7CF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07F548-19D3-7AF8-E987-31B082CA6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58B1DF8-205D-8442-846A-336D324D003F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8EAE1946-BC42-512C-5B53-66C90197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054DABCD-2DD1-6754-6224-EE65F688F8B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4663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見出し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0AC44670-59C5-118F-09C0-13E1013BADC0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638FDF16-444E-F7B0-4C82-B354C69342E0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8">
            <a:extLst>
              <a:ext uri="{FF2B5EF4-FFF2-40B4-BE49-F238E27FC236}">
                <a16:creationId xmlns:a16="http://schemas.microsoft.com/office/drawing/2014/main" id="{F09DEF46-456E-073B-CCE0-E7BCF7E60F59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9">
            <a:extLst>
              <a:ext uri="{FF2B5EF4-FFF2-40B4-BE49-F238E27FC236}">
                <a16:creationId xmlns:a16="http://schemas.microsoft.com/office/drawing/2014/main" id="{E034D930-53ED-7AB1-553F-40A4C13ACF55}"/>
              </a:ext>
            </a:extLst>
          </p:cNvPr>
          <p:cNvSpPr/>
          <p:nvPr/>
        </p:nvSpPr>
        <p:spPr>
          <a:xfrm>
            <a:off x="1386001" y="3600001"/>
            <a:ext cx="7200003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7E29FAA-A7BA-82B6-848C-317871A9A312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1">
            <a:extLst>
              <a:ext uri="{FF2B5EF4-FFF2-40B4-BE49-F238E27FC236}">
                <a16:creationId xmlns:a16="http://schemas.microsoft.com/office/drawing/2014/main" id="{E7D4FB5F-A735-42F1-E51A-0172A714BDA4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5C94E-06B4-91A5-F199-60561F40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688ACD0-C4A2-7A06-5793-758767BA1B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6F54BB-5223-3D71-BBD0-E70A960B23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14B42BB4-DF6D-DD46-B6C0-55E5AE9A0BAF}" type="slidenum">
              <a:t>‹#›</a:t>
            </a:fld>
            <a:endParaRPr lang="en-US"/>
          </a:p>
        </p:txBody>
      </p:sp>
      <p:pic>
        <p:nvPicPr>
          <p:cNvPr id="11" name="図 14">
            <a:extLst>
              <a:ext uri="{FF2B5EF4-FFF2-40B4-BE49-F238E27FC236}">
                <a16:creationId xmlns:a16="http://schemas.microsoft.com/office/drawing/2014/main" id="{6ECC769D-1A52-7F1D-4E7C-678D1666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BECF958-01B5-5507-725A-CBBC7DCBE617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395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660CB1BF-6AA6-86C2-296A-29C6A6503787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6437-7BB9-1C30-57BB-633455F678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7D35736C-2A65-DA57-92C4-7DE8D7D65EC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CF9774FE-8A34-3B4C-9530-5D03D58FA0B1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FBD13E"/>
            </a:solidFill>
            <a:prstDash val="solid"/>
            <a:miter/>
          </a:ln>
        </p:spPr>
      </p:cxn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CDA631B-C71A-693B-01EF-29ABCB17FCEE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30">
            <a:extLst>
              <a:ext uri="{FF2B5EF4-FFF2-40B4-BE49-F238E27FC236}">
                <a16:creationId xmlns:a16="http://schemas.microsoft.com/office/drawing/2014/main" id="{1CCD2D0F-B1CC-2452-283E-87024A5696A9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31">
            <a:extLst>
              <a:ext uri="{FF2B5EF4-FFF2-40B4-BE49-F238E27FC236}">
                <a16:creationId xmlns:a16="http://schemas.microsoft.com/office/drawing/2014/main" id="{F8A86C24-62C4-E53C-6E90-1E299C24E9AF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32">
            <a:extLst>
              <a:ext uri="{FF2B5EF4-FFF2-40B4-BE49-F238E27FC236}">
                <a16:creationId xmlns:a16="http://schemas.microsoft.com/office/drawing/2014/main" id="{0C2D7AAC-C2D6-0652-8123-C757CAC24A98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38CAA4-DC42-9839-E021-F40BEB1F1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5F835099-F6B0-3B7E-3466-3AD3F316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16A5D1-FA66-7D20-68B4-AFED86D995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69F36D1-5BAD-4045-B7CE-54E3857C8555}" type="slidenum">
              <a:t>‹#›</a:t>
            </a:fld>
            <a:endParaRPr lang="en-US"/>
          </a:p>
        </p:txBody>
      </p:sp>
      <p:pic>
        <p:nvPicPr>
          <p:cNvPr id="13" name="図 22">
            <a:extLst>
              <a:ext uri="{FF2B5EF4-FFF2-40B4-BE49-F238E27FC236}">
                <a16:creationId xmlns:a16="http://schemas.microsoft.com/office/drawing/2014/main" id="{CC2E54AB-C0B9-2D43-6EA0-D20EAA2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E5230E8-E9DA-2902-4B9A-A7C22C457293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016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見出し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A0BBB0A7-1268-58A4-AE30-311E375B4862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12A8B6B4-3500-C99D-C3AD-507026CC4F5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529F83BB-F53A-1D89-6292-D26F8EDFBC6E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60920373-5EDE-A216-8A67-FABE22CAAA38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087D90BB-4DB6-DB0D-B4BF-2CB67A7B025E}"/>
              </a:ext>
            </a:extLst>
          </p:cNvPr>
          <p:cNvSpPr/>
          <p:nvPr/>
        </p:nvSpPr>
        <p:spPr>
          <a:xfrm>
            <a:off x="2106000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75BD476-2392-0A14-1B15-FC8DB1D109FD}"/>
              </a:ext>
            </a:extLst>
          </p:cNvPr>
          <p:cNvSpPr/>
          <p:nvPr/>
        </p:nvSpPr>
        <p:spPr>
          <a:xfrm>
            <a:off x="2825998" y="3600001"/>
            <a:ext cx="7200003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F4A9DB-358F-2508-9062-0CCCAD14A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36E5E6-A9DF-F21E-8CBC-BA7EF75D63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7383AC-38B2-02F0-A94E-39A9DA924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45FB087-3075-514E-BD00-C91A3BA8C070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8BDC95A1-4088-1888-66A5-CA9CADE8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E128C5-B258-14B6-D9E9-40DDAB0AA88D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213708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7A091449-DD3A-4C7B-FE8D-A52B658D8B1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61DD-0F79-4E97-1B1F-8142921203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965C57A0-5929-8DD3-CE11-A13335F2A19E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7548250C-068C-D1BA-CDE1-EE3094F2EF72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E124B373-2FD2-6C9B-A777-D59E5C1BEDB3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0EB5AE2C-9B0A-37DD-12FF-9F2125E9C063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B5720E76-DED6-DF25-9618-D06434E82574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F41C3561-1EC7-5536-7233-911B314C35B6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0057BA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8F57C4F-A389-56CF-A75C-00D0A90A2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B0A72B1B-5DA4-E188-C207-65B6263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CC3E58-FBB1-8F5E-0CE8-C6917C4C1A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53B3784E-79CC-4540-8FBC-123B41A378A3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90E2B475-1FDC-6BAB-DE5F-64D69355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4B34B0F-3A95-35D1-2FB7-98E16240E6E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691253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75082A31-C168-D6C6-AC8A-A3773D3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A8DD3423-FB3B-937B-2C87-80D077A11B0D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027AEC8D-9664-EC85-66CC-ADE8AFAD344A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0555994C-B100-08B3-29B2-0B5250F54793}"/>
              </a:ext>
            </a:extLst>
          </p:cNvPr>
          <p:cNvCxnSpPr/>
          <p:nvPr/>
        </p:nvCxnSpPr>
        <p:spPr>
          <a:xfrm>
            <a:off x="-103025" y="7155938"/>
            <a:ext cx="10692005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6145D53-E3C5-D7E8-12A1-2565394935FB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4CF2F4-0B6E-163E-4B33-4C1B6F51AB42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2C953A5-1E8D-0F53-1798-AFA724638ABA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574452-C370-8DDC-1DE3-8044FC8A6E6F}"/>
              </a:ext>
            </a:extLst>
          </p:cNvPr>
          <p:cNvSpPr txBox="1"/>
          <p:nvPr/>
        </p:nvSpPr>
        <p:spPr>
          <a:xfrm>
            <a:off x="1349087" y="4238271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0FE38F54-769B-A094-5467-3B03A8C1F2A0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25C6B963-7DB3-B742-5FCA-366FBC4F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076600F-9FF1-C355-019F-6DB5BE3BB1B2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2311CE0-1963-D5F6-EDA3-D8F010A5702B}"/>
              </a:ext>
            </a:extLst>
          </p:cNvPr>
          <p:cNvSpPr txBox="1"/>
          <p:nvPr/>
        </p:nvSpPr>
        <p:spPr>
          <a:xfrm>
            <a:off x="1309420" y="5012813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125F4B3-F12D-65EE-F467-FB0313C9FE0B}"/>
              </a:ext>
            </a:extLst>
          </p:cNvPr>
          <p:cNvSpPr txBox="1"/>
          <p:nvPr/>
        </p:nvSpPr>
        <p:spPr>
          <a:xfrm>
            <a:off x="5769982" y="5003779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E8206B-9BB3-7424-AAC8-5D8AF3DC028A}"/>
              </a:ext>
            </a:extLst>
          </p:cNvPr>
          <p:cNvSpPr txBox="1"/>
          <p:nvPr/>
        </p:nvSpPr>
        <p:spPr>
          <a:xfrm>
            <a:off x="1142113" y="4700528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18FB4D1-38C2-F4B2-46E0-1025729B2310}"/>
              </a:ext>
            </a:extLst>
          </p:cNvPr>
          <p:cNvSpPr txBox="1"/>
          <p:nvPr/>
        </p:nvSpPr>
        <p:spPr>
          <a:xfrm>
            <a:off x="5664195" y="4705237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A33360-DF0E-2759-6ACC-68974DEFF633}"/>
              </a:ext>
            </a:extLst>
          </p:cNvPr>
          <p:cNvSpPr txBox="1"/>
          <p:nvPr/>
        </p:nvSpPr>
        <p:spPr>
          <a:xfrm>
            <a:off x="1309420" y="6130859"/>
            <a:ext cx="418192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460-0022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愛知県名古屋市中区金山一丁目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12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金山総合ビル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7F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（株式会社フルハシ環境総合研究所内）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7D49FC-C2C5-9A08-EE2E-498FBAE20BF0}"/>
              </a:ext>
            </a:extLst>
          </p:cNvPr>
          <p:cNvSpPr txBox="1"/>
          <p:nvPr/>
        </p:nvSpPr>
        <p:spPr>
          <a:xfrm>
            <a:off x="5769982" y="6120280"/>
            <a:ext cx="436949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700-0082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岡山県岡山市北区津島中一丁目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岡山大インキュベータ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210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号室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C5C4648-AE37-311B-DFAB-ACFEB10D0101}"/>
              </a:ext>
            </a:extLst>
          </p:cNvPr>
          <p:cNvSpPr txBox="1"/>
          <p:nvPr/>
        </p:nvSpPr>
        <p:spPr>
          <a:xfrm>
            <a:off x="1142113" y="5818574"/>
            <a:ext cx="1886215" cy="3327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名古屋オフィス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1AA7C8E-6849-A1AA-EBA7-0F841EC3ABF0}"/>
              </a:ext>
            </a:extLst>
          </p:cNvPr>
          <p:cNvSpPr txBox="1"/>
          <p:nvPr/>
        </p:nvSpPr>
        <p:spPr>
          <a:xfrm>
            <a:off x="5358512" y="5823283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1831CEE1-23E0-5344-066F-1FC7989AE4A8}"/>
              </a:ext>
            </a:extLst>
          </p:cNvPr>
          <p:cNvSpPr txBox="1"/>
          <p:nvPr/>
        </p:nvSpPr>
        <p:spPr>
          <a:xfrm>
            <a:off x="2634980" y="684086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420984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29FCEB5A-F733-3BBC-BE63-14AAB7AD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FED3A17C-71C7-2378-4788-53755792FE31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45B9F432-410E-DEC8-8047-C12AB8E1E85F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F3CD5F99-ABE8-9733-269B-68F95428F73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5417C54-FC89-2897-7665-9849960C9256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4EC6C-41AD-D77F-6EFF-99B1171BF8FF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FDF73D-E664-3C3C-AECB-BED49BFD30A7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3D1659-CE44-8022-CAFD-01B1620116EA}"/>
              </a:ext>
            </a:extLst>
          </p:cNvPr>
          <p:cNvSpPr txBox="1"/>
          <p:nvPr/>
        </p:nvSpPr>
        <p:spPr>
          <a:xfrm>
            <a:off x="1349087" y="4661053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45E436FA-314E-3CDF-3D96-4B0D0E4628ED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F6180DD1-9A9C-93FC-F7C4-E1ED3443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7BD7BA-1D30-135F-4744-28DFFC5F3AE0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34EFD97-38BE-DBE4-F6FF-2806D277C0CB}"/>
              </a:ext>
            </a:extLst>
          </p:cNvPr>
          <p:cNvSpPr txBox="1"/>
          <p:nvPr/>
        </p:nvSpPr>
        <p:spPr>
          <a:xfrm>
            <a:off x="1309420" y="5557567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959A6F-0AFC-4A10-2D1C-CF8F2826F3D9}"/>
              </a:ext>
            </a:extLst>
          </p:cNvPr>
          <p:cNvSpPr txBox="1"/>
          <p:nvPr/>
        </p:nvSpPr>
        <p:spPr>
          <a:xfrm>
            <a:off x="5769982" y="5548524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160C8B6-3D5D-4592-24CC-E4B82F0356FA}"/>
              </a:ext>
            </a:extLst>
          </p:cNvPr>
          <p:cNvSpPr txBox="1"/>
          <p:nvPr/>
        </p:nvSpPr>
        <p:spPr>
          <a:xfrm>
            <a:off x="1142113" y="5245272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CADF7E-89CA-0222-9E71-C80402759BB8}"/>
              </a:ext>
            </a:extLst>
          </p:cNvPr>
          <p:cNvSpPr txBox="1"/>
          <p:nvPr/>
        </p:nvSpPr>
        <p:spPr>
          <a:xfrm>
            <a:off x="5664195" y="5249981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5FE3A010-C0D0-5CB2-C9EF-941F0345E8FB}"/>
              </a:ext>
            </a:extLst>
          </p:cNvPr>
          <p:cNvSpPr txBox="1"/>
          <p:nvPr/>
        </p:nvSpPr>
        <p:spPr>
          <a:xfrm>
            <a:off x="2634980" y="661813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2693605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183D6CEF-9D75-58BF-8167-5A46A4EE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4A07C37B-5D61-5914-7102-6F926E18DC3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9">
            <a:extLst>
              <a:ext uri="{FF2B5EF4-FFF2-40B4-BE49-F238E27FC236}">
                <a16:creationId xmlns:a16="http://schemas.microsoft.com/office/drawing/2014/main" id="{330D6E9B-C6EE-A0DC-4821-3BC9554E561F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1">
            <a:extLst>
              <a:ext uri="{FF2B5EF4-FFF2-40B4-BE49-F238E27FC236}">
                <a16:creationId xmlns:a16="http://schemas.microsoft.com/office/drawing/2014/main" id="{9DF1F77C-A335-EC48-6482-28D553137F7F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テキスト ボックス 15">
            <a:extLst>
              <a:ext uri="{FF2B5EF4-FFF2-40B4-BE49-F238E27FC236}">
                <a16:creationId xmlns:a16="http://schemas.microsoft.com/office/drawing/2014/main" id="{C3D35E23-7379-4534-887E-02BB67C6F24E}"/>
              </a:ext>
            </a:extLst>
          </p:cNvPr>
          <p:cNvSpPr txBox="1"/>
          <p:nvPr/>
        </p:nvSpPr>
        <p:spPr>
          <a:xfrm>
            <a:off x="2381874" y="3880420"/>
            <a:ext cx="5916707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2060"/>
                </a:solidFill>
                <a:uFillTx/>
                <a:latin typeface="Calibri"/>
                <a:ea typeface="游ゴシック" pitchFamily="34"/>
              </a:rPr>
              <a:t>Thank you for your attention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64D9FDF-E252-4CE4-2E5E-F8D62F7E303C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2998285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A11BB-0FCA-14E5-77E7-6D3C641CE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58" y="402482"/>
            <a:ext cx="9221687" cy="1461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7445-7560-C19C-0A60-EF5222A1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058" y="2012411"/>
            <a:ext cx="9221687" cy="47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0E83-D2A2-BAF3-C441-4C624011FF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5058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CC786BA6-7B56-F543-9072-18E670050153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B77-1F57-9A54-BD63-2A64E4AD47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809A-6A04-37EE-29EA-F6680BBD47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51096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205576F5-C101-5640-84CE-C69780011BC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1007943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ja-JP" sz="4850" b="0" i="0" u="none" strike="noStrike" kern="1200" cap="none" spc="0" baseline="0">
          <a:solidFill>
            <a:srgbClr val="000000"/>
          </a:solidFill>
          <a:uFillTx/>
          <a:latin typeface="Calibri Light"/>
          <a:ea typeface="游ゴシック Light" pitchFamily="34"/>
        </a:defRPr>
      </a:lvl1pPr>
    </p:titleStyle>
    <p:bodyStyle>
      <a:lvl1pPr marL="251990" marR="0" lvl="0" indent="-251990" algn="l" defTabSz="1007943" rtl="0" fontAlgn="auto" hangingPunct="1">
        <a:lnSpc>
          <a:spcPct val="90000"/>
        </a:lnSpc>
        <a:spcBef>
          <a:spcPts val="1100"/>
        </a:spcBef>
        <a:spcAft>
          <a:spcPts val="0"/>
        </a:spcAft>
        <a:buSzPct val="100000"/>
        <a:buFont typeface="Arial" pitchFamily="34"/>
        <a:buChar char="•"/>
        <a:tabLst/>
        <a:defRPr lang="ja-JP" sz="308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1pPr>
      <a:lvl2pPr marL="755952" marR="0" lvl="1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64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2pPr>
      <a:lvl3pPr marL="1259933" marR="0" lvl="2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205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3pPr>
      <a:lvl4pPr marL="1763895" marR="0" lvl="3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4pPr>
      <a:lvl5pPr marL="2267867" marR="0" lvl="4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ダイナミックLCAの要件整理</a:t>
            </a:r>
          </a:p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― 対象範囲・遅延排出の根拠・パラメータ 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sz="1400" b="0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調査項目②　政策・制度調査　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0" y="360000"/>
            <a:ext cx="2700000" cy="36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2026年5月27日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360000"/>
            <a:ext cx="5000000" cy="36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林野庁　御中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エグゼクティブサマリー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静的GWP100の物理的誤りを修正する科学的ツール = DCF</a:t>
            </a:r>
          </a:p>
        </p:txBody>
      </p:sp>
      <p:sp>
        <p:nvSpPr>
          <p:cNvPr id="4" name="Rectangle 3"/>
          <p:cNvSpPr/>
          <p:nvPr/>
        </p:nvSpPr>
        <p:spPr>
          <a:xfrm>
            <a:off x="399528" y="1470000"/>
            <a:ext cx="9900000" cy="460000"/>
          </a:xfrm>
          <a:prstGeom prst="rect">
            <a:avLst/>
          </a:prstGeom>
          <a:solidFill>
            <a:srgbClr val="19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論証起点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99528" y="1990000"/>
            <a:ext cx="9900000" cy="90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静的GWP100は「今日の1kgCO₂ ≡ 50年後の1kgCO₂」と扱うため、木材の50年貯蔵という実在する気候便益を計測できない。</a:t>
            </a:r>
          </a:p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動的特性化係数（DCF）はこの物理的誤りを修正する科学的ツールであり、RE2020はその最初の法規制化である。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528" y="3050000"/>
            <a:ext cx="1500000" cy="8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No.9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対象範囲</a:t>
            </a:r>
          </a:p>
        </p:txBody>
      </p:sp>
      <p:sp>
        <p:nvSpPr>
          <p:cNvPr id="7" name="Rectangle 6"/>
          <p:cNvSpPr/>
          <p:nvPr/>
        </p:nvSpPr>
        <p:spPr>
          <a:xfrm>
            <a:off x="2000000" y="3050000"/>
            <a:ext cx="835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2022年1月以降の全新築建物に適用。4フェーズで基準値を段階厳格化。seuil値はE+C-実証2,200棟から導出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528" y="3950000"/>
            <a:ext cx="1500000" cy="8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No.10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遅延排出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2000000" y="3950000"/>
            <a:ext cx="835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「後の排出ほど気候影響が小さい」をIPCC AR4累積放射強制力比で定量化。t=50年で即時排出比42%減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9528" y="4850000"/>
            <a:ext cx="1500000" cy="8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No.11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パラメータ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0000" y="4850000"/>
            <a:ext cx="835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線形近似 1−0.00842t（上限50年、下限0.58）。IPCC AR4から最小二乗法で導出したアダプティブ設計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【No.9】</a:t>
            </a:r>
          </a:p>
          <a:p>
            <a:pPr algn="l"/>
            <a:r>
              <a:rPr sz="22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対象建築物の種別・範囲・段階適用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フランス本土の新築建物。住宅2022/1、非住宅2022/7から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9528" y="1470000"/>
          <a:ext cx="5050000" cy="16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1000"/>
                <a:gridCol w="2525000"/>
                <a:gridCol w="1414000"/>
              </a:tblGrid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区分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対象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最初の適用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住宅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戸建・集合住宅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2022年1月1日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非住宅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事務所・教育・商業・ホテル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2022年7月1日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既存改修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対象外（新築専用規制）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—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99528" y="3350000"/>
            <a:ext cx="5050000" cy="900000"/>
          </a:xfrm>
          <a:prstGeom prst="rect">
            <a:avLst/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機能単位：建物1棟・床面積1m²・設計耐用年数50年（EN 15978準拠）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炭素指標 Ic の単位：kgCO₂eq/m²</a:t>
            </a:r>
          </a:p>
        </p:txBody>
      </p:sp>
      <p:pic>
        <p:nvPicPr>
          <p:cNvPr id="6" name="Picture 5" descr="fig_seui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0" y="1809837"/>
            <a:ext cx="5000000" cy="28803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0" y="4750000"/>
            <a:ext cx="5000000" cy="40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seuil値の4フェーズ段階引き下げ（−30〜40%）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建物種類別・フェーズ別 seuil値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Ic_construction 上限値 [kgCO₂eq/m²]（中央値ゾーン代表値）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9528" y="1470000"/>
          <a:ext cx="9900000" cy="26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2000"/>
                <a:gridCol w="1782000"/>
                <a:gridCol w="1782000"/>
                <a:gridCol w="1782000"/>
                <a:gridCol w="1782000"/>
              </a:tblGrid>
              <a:tr h="5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建物種別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Phase1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2022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Phase2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2025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Phase3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2028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Phase4</a:t>
                      </a:r>
                    </a:p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2031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戸建住宅 (MI)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640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約545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約480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約420〜448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集合住宅 (LC)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840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約715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約630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約505〜588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事務所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740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約630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約555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約444〜518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教育施設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660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約560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約495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約396〜462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ホテル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770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約655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約578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約462〜539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99528" y="4550000"/>
            <a:ext cx="9900000" cy="10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段階施行の設計思想：① 建材業界・設計者・規制当局の準備時間確保　② 実績データ蓄積後に係数を見直すアダプティブ・レギュレーション　③ 集合住宅(840)が戸建(640)より高いのは共用設備・地下駐車場の付帯排出のため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528" y="6760000"/>
            <a:ext cx="7600000" cy="33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出典: Arrêté du 4 août 2021, Annexe II; Cerema (2024) §4.2（フェーズ2以降は原文照合中）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【No.10】</a:t>
            </a:r>
          </a:p>
          <a:p>
            <a:pPr algn="l"/>
            <a:r>
              <a:rPr sz="22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遅延排出の評価根拠：時間と気候影響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なぜ「後の排出ほど気候影響が小さい」と言えるのか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528" y="1480000"/>
            <a:ext cx="4800000" cy="24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静的LCAは全排出・吸収を評価開始時点 t=0 に集約して扱う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今日のCO₂は100年間ずっと放射強制力を生じる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50年後のCO₂は評価期間100年のうち残り50年分しか大気中にいない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→ 累積影響は必然的に小さくなる。これを定量化したのがDCF</a:t>
            </a:r>
          </a:p>
        </p:txBody>
      </p:sp>
      <p:pic>
        <p:nvPicPr>
          <p:cNvPr id="5" name="Picture 4" descr="fig_crf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000" y="1687616"/>
            <a:ext cx="5050000" cy="2074767"/>
          </a:xfrm>
          <a:prstGeom prst="rect">
            <a:avLst/>
          </a:prstGeom>
        </p:spPr>
      </p:pic>
      <p:pic>
        <p:nvPicPr>
          <p:cNvPr id="6" name="Picture 5" descr="dcf_def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664" y="4150000"/>
            <a:ext cx="5538671" cy="110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99528" y="5550000"/>
            <a:ext cx="9900000" cy="450000"/>
          </a:xfrm>
          <a:prstGeom prst="rect">
            <a:avLst/>
          </a:prstGeom>
          <a:solidFill>
            <a:srgbClr val="FD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DCFは0〜1の値。早期排出ほど1に近く（影響大）、後年ほど0に近い（影響小）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大気中CO₂応答モデル：IPCC AR4 Bern2.5CC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r(t)（大気残存率）を4指数関数で表現</a:t>
            </a:r>
          </a:p>
        </p:txBody>
      </p:sp>
      <p:pic>
        <p:nvPicPr>
          <p:cNvPr id="4" name="Picture 3" descr="bern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28" y="1500000"/>
            <a:ext cx="5050000" cy="43948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9528" y="2150000"/>
          <a:ext cx="5050000" cy="23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3000"/>
                <a:gridCol w="1818000"/>
                <a:gridCol w="1919000"/>
              </a:tblGrid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パラメータ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数値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物理的意味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c₀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0.217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永続残存成分（数千年）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c₁ / τ₁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0.259 / 172.9年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深層海洋吸収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c₂ / τ₂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0.338 / 18.51年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海洋上中層吸収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c₃ / τ₃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0.186 / 1.186年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生物圏・土壌吸収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aₓ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1.55×10⁻¹⁵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CO₂放射強制力係数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_b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000" y="1690816"/>
            <a:ext cx="4950000" cy="32683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50000" y="5200000"/>
            <a:ext cx="4950000" cy="500000"/>
          </a:xfrm>
          <a:prstGeom prst="rect">
            <a:avLst/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モデル検証：t=1000年で r≈22.4% → IPCCの「約22%が永続残存」と整合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【No.11】</a:t>
            </a:r>
          </a:p>
          <a:p>
            <a:pPr algn="l"/>
            <a:r>
              <a:rPr sz="22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RE2020線形近似係数とその精度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Bern2.5CCの厳密DCFを最小二乗法で線形近似（誤差±3%）</a:t>
            </a:r>
          </a:p>
        </p:txBody>
      </p:sp>
      <p:pic>
        <p:nvPicPr>
          <p:cNvPr id="4" name="Picture 3" descr="coeff_re2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28" y="1480000"/>
            <a:ext cx="4500000" cy="342000"/>
          </a:xfrm>
          <a:prstGeom prst="rect">
            <a:avLst/>
          </a:prstGeom>
        </p:spPr>
      </p:pic>
      <p:pic>
        <p:nvPicPr>
          <p:cNvPr id="5" name="Picture 4" descr="coeff_fl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28" y="2050000"/>
            <a:ext cx="3100000" cy="287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9528" y="2600000"/>
            <a:ext cx="4900000" cy="23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Benoist(2009)が提示、Solinnen(2018)が実務確定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傾き−0.00842/年、0〜50年で真のDCFに対し±3%以内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下限0.580：t=50年での値 1−0.00842×50=0.579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規制の透明性・予測可能性を高める実務的判断</a:t>
            </a:r>
          </a:p>
        </p:txBody>
      </p:sp>
      <p:pic>
        <p:nvPicPr>
          <p:cNvPr id="7" name="Picture 6" descr="fig_dcf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000" y="1940244"/>
            <a:ext cx="5050000" cy="20195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350000" y="4400000"/>
            <a:ext cx="5050000" cy="7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線形近似は非線形DCFより不正確だが、透明性・実務コストの観点から2022年段階の採用が合理的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主要パラメータ一覧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RE2020採用値と出典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9528" y="1470000"/>
          <a:ext cx="9900000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70000"/>
                <a:gridCol w="3960000"/>
                <a:gridCol w="2970000"/>
              </a:tblGrid>
              <a:tr h="44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パラメータ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RE2020採用値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出典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時間地平線 DO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100年（固定）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Solinnen (2018)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設計耐用年数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50年（標準）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 15978 / Cerema (2024)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線形係数傾き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−0.00842/年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Benoist (2009)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下限係数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0.580（固定）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Solinnen (2018)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CO₂応答モデル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IPCC AR4 Bern2.5CC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IPCC (2007)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CRF(0,100) 典型値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≈0.0192 W·m⁻²·yr·(kgCO₂)⁻¹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Solinnen (2018) 数値積分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批判的考察：DO固定による過大評価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Ventura &amp; Feraille (2021) の指摘と2028年見直し</a:t>
            </a:r>
          </a:p>
        </p:txBody>
      </p:sp>
      <p:pic>
        <p:nvPicPr>
          <p:cNvPr id="4" name="Picture 3" descr="fig_do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" y="2140705"/>
            <a:ext cx="5650000" cy="22785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0000" y="1550000"/>
            <a:ext cx="4050000" cy="33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過大評価の定量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000" y="1850000"/>
            <a:ext cx="4050000" cy="20000"/>
          </a:xfrm>
          <a:prstGeom prst="rect">
            <a:avLst/>
          </a:prstGeom>
          <a:solidFill>
            <a:srgbClr val="12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0000" y="2050000"/>
          <a:ext cx="405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5000"/>
                <a:gridCol w="972000"/>
                <a:gridCol w="972000"/>
                <a:gridCol w="891000"/>
              </a:tblGrid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排出時点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RE2020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物理DCF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過大評価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t=0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1.000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1.000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0%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t=25年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0.790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0.792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+8.3%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t=50年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0.579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0.606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+24%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t=75年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0.580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0.427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〜53%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00000" y="4000000"/>
            <a:ext cx="4050000" cy="1000000"/>
          </a:xfrm>
          <a:prstGeom prst="rect">
            <a:avLst/>
          </a:prstGeom>
          <a:solidFill>
            <a:srgbClr val="FD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この批判が2028年フェーズ3の係数見直し議論の根拠。ISO 21391-1:2025は非線形DCFで精度改善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日本への示唆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3つの調査項目から導かれる制度設計の要点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399528" y="1500000"/>
            <a:ext cx="2700000" cy="1000000"/>
          </a:xfrm>
          <a:prstGeom prst="rect">
            <a:avLst/>
          </a:prstGeom>
          <a:solidFill>
            <a:srgbClr val="00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No.9 適用範囲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000" y="1500000"/>
            <a:ext cx="7150000" cy="10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フランスは2022年義務化前にE+C-で2,200棟実証。日本も「段階的実証→データ収集→基準値設定→義務化」の順序が不可欠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528" y="2600000"/>
            <a:ext cx="2700000" cy="1000000"/>
          </a:xfrm>
          <a:prstGeom prst="rect">
            <a:avLst/>
          </a:prstGeom>
          <a:solidFill>
            <a:srgbClr val="5A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No.10 遅延排出根拠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000" y="2600000"/>
            <a:ext cx="7150000" cy="10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DCFの物理的基盤（Bern2.5CC）は国際的に確立。日本も同モデル使用可。ただしDO（時間地平線）の合意が最重要論点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528" y="3700000"/>
            <a:ext cx="2700000" cy="10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No.11 パラメータ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000" y="3700000"/>
            <a:ext cx="7150000" cy="10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RE2020線形近似は±3%で実務的に十分だが、日本は最初からISO 21391-1準拠の非線形DCF採用で国際整合性を確保すべき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1221</TotalTime>
  <Words>154</Words>
  <Application>Microsoft Macintosh PowerPoint</Application>
  <PresentationFormat>ワイド画面</PresentationFormat>
  <Paragraphs>59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Hiragino Kaku Gothic Std W3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Color Palette</vt:lpstr>
      <vt:lpstr>Shapes</vt:lpstr>
      <vt:lpstr>PowerPoint プレゼンテーション</vt:lpstr>
      <vt:lpstr>【調査実績サマリ】   ○○に関するSuMPO調査実績</vt:lpstr>
      <vt:lpstr>【調査結果サマリ】   サマリを1文章追記する</vt:lpstr>
      <vt:lpstr>【調査結果サマリ】   サマリを1文章追記する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KAKKAR-21</dc:creator>
  <cp:lastModifiedBy>根岸 光司</cp:lastModifiedBy>
  <cp:revision>125</cp:revision>
  <cp:lastPrinted>2020-02-21T03:07:58Z</cp:lastPrinted>
  <dcterms:created xsi:type="dcterms:W3CDTF">2019-11-29T07:02:30Z</dcterms:created>
  <dcterms:modified xsi:type="dcterms:W3CDTF">2026-06-01T07:03:44Z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0x01010066933BD81F2A764CB761560FCEB60138</vt:lpwstr>
  </property>
</Properties>
</file>