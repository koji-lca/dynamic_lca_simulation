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生物由来炭素及び炭素貯蔵評価の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制度的位置付け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1400" b="0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調査項目③　政策・制度調査　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0" y="360000"/>
            <a:ext cx="27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2026年5月27日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360000"/>
            <a:ext cx="50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林野庁　御中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エグゼクティブサマリー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EN 15804の−1/+1限界を克服するStockCと動的補正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28" y="1470000"/>
            <a:ext cx="9900000" cy="460000"/>
          </a:xfrm>
          <a:prstGeom prst="rect">
            <a:avLst/>
          </a:prstGeom>
          <a:solidFill>
            <a:srgbClr val="19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論証起点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28" y="1990000"/>
            <a:ext cx="9900000" cy="9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EN 15804+A2 の −1/+1 アプローチは「吸収 t=0・排出 t=50年の物理的非対称性」を無視し、木材をコンクリートと同じ「正味ゼロ」と評価する。StockC と動的補正はこの限界を克服する手段であり、RE2020はそれを制度的に定式化した。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30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No.12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貯蔵量算定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0000" y="30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固定(A1-A3)をDCF=1.0、放出(C段階)をDCF(t_EoL)で割引計上。この非対称性（1.0 vs 0.58）がStockCクレジットの物理的根拠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28" y="39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No.13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評価期間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0000" y="39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DO=100年はSolinnen(2018)が実務的に提案。Ventura&amp;Feraille(2021)は35〜53%過大評価と批判。2028年見直しへ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28" y="48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No.14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解体・再利用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0" y="48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解体段階(C1-C4)の炭素放出にDCF補正。DモジュールはIc計算除外だが任意申告可。再利用で追加クレジットの可能性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【No.12】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バイオジェニック炭素と2つの評価アプローチ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光合成で固定した生物由来炭素を建物が貯蔵</a:t>
            </a:r>
          </a:p>
        </p:txBody>
      </p:sp>
      <p:pic>
        <p:nvPicPr>
          <p:cNvPr id="4" name="Picture 3" descr="fig_biogenic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55" y="1450000"/>
            <a:ext cx="4863888" cy="2550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9528" y="4150000"/>
          <a:ext cx="9900000" cy="1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/>
                <a:gridCol w="5742000"/>
                <a:gridCol w="2178000"/>
              </a:tblGrid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アプローチ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概要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採用規格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−1/+1（静的）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A1-A3で固定(−1)、C段階で放出(+1)を等価計上。正味ゼロ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 15804+A2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動的評価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A1-A3固定をDCF=1.0、C段階放出をDCF&lt;1で計上。正味クレジット発生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RE2020 / ISO 21391-1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StockCの算定：−1/+1 と動的評価の差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将来の排出に割引が入り、木材に正味クレジットが生まれる</a:t>
            </a:r>
          </a:p>
        </p:txBody>
      </p:sp>
      <p:pic>
        <p:nvPicPr>
          <p:cNvPr id="4" name="Picture 3" descr="fig_static_vs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625227"/>
            <a:ext cx="5050000" cy="3259545"/>
          </a:xfrm>
          <a:prstGeom prst="rect">
            <a:avLst/>
          </a:prstGeom>
        </p:spPr>
      </p:pic>
      <p:pic>
        <p:nvPicPr>
          <p:cNvPr id="5" name="Picture 4" descr="stockc_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0" y="1550000"/>
            <a:ext cx="4400000" cy="4419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0000" y="2300000"/>
            <a:ext cx="485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CLT 1m³・50年使用の数値例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500000" y="2600000"/>
            <a:ext cx="485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00000" y="2750000"/>
          <a:ext cx="4850000" cy="16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8000"/>
                <a:gridCol w="1067000"/>
                <a:gridCol w="776000"/>
                <a:gridCol w="776000"/>
                <a:gridCol w="873000"/>
              </a:tblGrid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炭素フロー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タイミング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炭素量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DCF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補正後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固定(A1-A3)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−269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−269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放出(C4)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t=50年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+269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0.579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+156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正味StockC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−113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500000" y="4500000"/>
            <a:ext cx="4850000" cy="700000"/>
          </a:xfrm>
          <a:prstGeom prst="rect">
            <a:avLst/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静的では相殺ゼロ → 動的では50年後放出が42%割引され −113 kgCO₂eq/m³ のネットクレジット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持続可能な森林管理（SFM）という前提条件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StockCクレジットはSFM維持を暗黙の前提とする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28" y="1500000"/>
            <a:ext cx="9900000" cy="22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伐採した木材量と同等量の植林・再成長が保証されることが、バイオジェニック炭素を「中立」または「正味クレジット」と計上する前提条件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FSC・PEFC認証が主要な証明手段となる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SFM前提が成立しない場合の評価方法論は研究途上（Hoxha et al., 2020）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3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日本の読者は、国産木材の場合にこの前提条件を必ず確認する必要がある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28" y="4000000"/>
            <a:ext cx="9900000" cy="13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EN 15804+A2との関係：EN 15804は−1/+1を基本とし時間割引は任意（GWP-dyn別途報告）に留まる。RE2020はこれを義務化しIc計算に組み込んだ点で国際規格を超える先進性。ISO 21391-1:2025は非線形DCFでさらに精緻化。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【No.13】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評価期間DOの選択が結果を左右する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DOの違いで同じ建材の評価が大きく変化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5500000" cy="2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000"/>
                <a:gridCol w="1430000"/>
                <a:gridCol w="1430000"/>
                <a:gridCol w="1210000"/>
              </a:tblGrid>
              <a:tr h="4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DO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建設時クレジット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t=50年放出係数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木材への有利性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50年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0.000（期間外）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最大（放出が評価外）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100年（RE2020）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0.579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中程度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150年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0.721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低め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∞（静的相当）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ゼロ（補正なし）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9528" y="3750000"/>
            <a:ext cx="550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RE2020がDO=100年を採用した根拠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4050000"/>
            <a:ext cx="550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9528" y="4100000"/>
            <a:ext cx="5500000" cy="13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IPCCのGWP100と同じ時間地平線で比較可能性を維持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建物耐用年数(50年)の2倍 → 最終排出が評価期間内に収まる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DCF計算の数値的安定性</a:t>
            </a:r>
          </a:p>
        </p:txBody>
      </p:sp>
      <p:pic>
        <p:nvPicPr>
          <p:cNvPr id="8" name="Picture 7" descr="fig_d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00" y="2492185"/>
            <a:ext cx="4750000" cy="19156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【No.14】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解体・再利用での排出扱い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C1-C4の炭素放出にDCF補正、再利用で追加クレジットの可能性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5350000" cy="2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0000"/>
                <a:gridCol w="2461000"/>
                <a:gridCol w="1819000"/>
              </a:tblGrid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モジュール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動的LCA補正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C1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解体工事（重機エネルギー）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補正あり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C2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廃棄物輸送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補正あり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C3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廃棄物処理（選別・破砕）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補正あり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C4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最終処分（焼却・埋立）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バイオ炭素放出の主要点。DCF割引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50000" y="1550000"/>
            <a:ext cx="475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再利用シナリオの意義と限界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0000" y="1850000"/>
            <a:ext cx="475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000" y="2050000"/>
            <a:ext cx="4750000" cy="31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焼却：t_EoLに一括放出、DCF≈0.58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再利用：炭素放出が後ろ倒し → 追加クレジット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ただしRE2020の0.58下限固定により50年超の追加クレジットは構造的に限定的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DモジュールはIc計算除外 → サーキュラー設計の経済的誘因が弱い構造的課題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日本への示唆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フランスの教訓と日本のアクション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9900000" cy="25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000"/>
                <a:gridCol w="3366000"/>
                <a:gridCol w="4158000"/>
              </a:tblGrid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課題領域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フランスの教訓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日本のアクション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StockC算定 (No.12)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Elodie/FICESで計算を自動化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IDEA等DBへの時系列炭素フローデータ追加が最優先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評価期間 (No.13)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DO=100年固定の問題が後に判明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最初からISO 21391-1（非線形）採用。「時間地平線の合意」形成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解体・再利用 (No.14)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Dモジュール除外で誘因が弱い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制度設計でDモジュールのIc計算への部分反映を検討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SFM前提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FSC/PEFC認証と連動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日本の「グリーンウッド」等の国産木材認証との連動を検討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5350000"/>
            <a:ext cx="9900000" cy="520000"/>
          </a:xfrm>
          <a:prstGeom prst="rect">
            <a:avLst/>
          </a:prstGeom>
          <a:solidFill>
            <a:srgbClr val="19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Ventura &amp; Feraille (2021) のDO固定批判を正直に開示することが、科学的報告書の信頼性を担保する。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