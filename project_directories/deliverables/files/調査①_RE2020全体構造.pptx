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8"/>
    <p:sldId id="257" r:id="rId9"/>
    <p:sldId id="258" r:id="rId7"/>
    <p:sldId id="259" r:id="rId6"/>
    <p:sldId id="260" r:id="rId5"/>
    <p:sldId id="261" r:id="rId4"/>
    <p:sldId id="262" r:id="rId3"/>
    <p:sldId id="263" r:id="rId2"/>
    <p:sldId id="264" r:id="rId16"/>
    <p:sldId id="265" r:id="rId17"/>
    <p:sldId id="266" r:id="rId18"/>
    <p:sldId id="267" r:id="rId19"/>
    <p:sldId id="268" r:id="rId20"/>
  </p:sldIdLst>
  <p:sldSz cx="10691813" cy="7559675"/>
  <p:notesSz cx="6858000" cy="9144000"/>
  <p:defaultTextStyle>
    <a:defPPr>
      <a:defRPr lang="ja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5" d="100"/>
          <a:sy n="105" d="100"/>
        </p:scale>
        <p:origin x="12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2CB7F64A-8C42-F23D-D097-4B3EE8B24CE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3" name="フッター プレースホルダー 3">
            <a:extLst>
              <a:ext uri="{FF2B5EF4-FFF2-40B4-BE49-F238E27FC236}">
                <a16:creationId xmlns:a16="http://schemas.microsoft.com/office/drawing/2014/main" id="{2E6F7D04-8F56-CD64-BFCD-F14E41EEB8E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  <p:sp>
        <p:nvSpPr>
          <p:cNvPr id="4" name="スライド番号プレースホルダー 4">
            <a:extLst>
              <a:ext uri="{FF2B5EF4-FFF2-40B4-BE49-F238E27FC236}">
                <a16:creationId xmlns:a16="http://schemas.microsoft.com/office/drawing/2014/main" id="{4B2C9048-3CFF-BB2E-975E-0870AE2D895E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1708C4-0D70-2A4C-BC1F-5D3A25B5927A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游ゴシック"/>
              <a:ea typeface="游ゴシック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5134250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6B3E2819-15E5-1A71-6EFE-808AC8B9F8F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874EB0-160C-67CE-6359-880E7FCE0C4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5BCBEECA-5209-B044-B147-1673C62B355A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5EE16A9D-61E6-5284-5944-5A0EAF71A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46190" y="1143000"/>
            <a:ext cx="4365629" cy="3086100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0EABD5A5-3198-52EC-CF38-0FFCB24BC5E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3EB6756-D48B-4F59-A3B8-7AAE24A8BC4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3A7EC3-3B22-E725-ED7C-5CE28A6FEED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游ゴシック"/>
                <a:ea typeface="游ゴシック" pitchFamily="34"/>
              </a:defRPr>
            </a:lvl1pPr>
          </a:lstStyle>
          <a:p>
            <a:pPr lvl="0"/>
            <a:fld id="{B49AF10F-6C39-B848-B527-783F26C3383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79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1pPr>
    <a:lvl2pPr marL="497753" marR="0" lvl="1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2pPr>
    <a:lvl3pPr marL="995507" marR="0" lvl="2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3pPr>
    <a:lvl4pPr marL="1493260" marR="0" lvl="3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4pPr>
    <a:lvl5pPr marL="1991014" marR="0" lvl="4" indent="0" algn="l" defTabSz="995507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ja-JP" sz="1306" b="0" i="0" u="none" strike="noStrike" kern="1200" cap="none" spc="0" baseline="0">
        <a:solidFill>
          <a:srgbClr val="000000"/>
        </a:solidFill>
        <a:uFillTx/>
        <a:latin typeface="游ゴシック"/>
        <a:ea typeface="游ゴシック" pitchFamily="34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5">
            <a:extLst>
              <a:ext uri="{FF2B5EF4-FFF2-40B4-BE49-F238E27FC236}">
                <a16:creationId xmlns:a16="http://schemas.microsoft.com/office/drawing/2014/main" id="{00DFD775-92BB-E6B5-0624-3AE0E5FA9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0"/>
            <a:ext cx="10679012" cy="75543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2E5D412-069E-3478-FA61-023D85CE8DF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01883" y="3132670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7D8396E-022C-EAEC-A749-2D67E3CD92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36477" y="3970580"/>
            <a:ext cx="8018858" cy="402482"/>
          </a:xfrm>
        </p:spPr>
        <p:txBody>
          <a:bodyPr anchorCtr="1"/>
          <a:lstStyle>
            <a:lvl1pPr marL="0" indent="0" algn="ctr">
              <a:buNone/>
              <a:defRPr lang="en-US" sz="2400"/>
            </a:lvl1pPr>
          </a:lstStyle>
          <a:p>
            <a:pPr lvl="0"/>
            <a:r>
              <a:rPr lang="en-US"/>
              <a:t>2026.00.00</a:t>
            </a:r>
          </a:p>
        </p:txBody>
      </p:sp>
      <p:sp>
        <p:nvSpPr>
          <p:cNvPr id="5" name="正方形/長方形 8">
            <a:extLst>
              <a:ext uri="{FF2B5EF4-FFF2-40B4-BE49-F238E27FC236}">
                <a16:creationId xmlns:a16="http://schemas.microsoft.com/office/drawing/2014/main" id="{E234C807-F569-8D78-AD27-C10A8C7872D9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6" name="直線コネクタ 9">
            <a:extLst>
              <a:ext uri="{FF2B5EF4-FFF2-40B4-BE49-F238E27FC236}">
                <a16:creationId xmlns:a16="http://schemas.microsoft.com/office/drawing/2014/main" id="{4F4B76E2-360E-DDF7-FE4D-2D6047E9B643}"/>
              </a:ext>
            </a:extLst>
          </p:cNvPr>
          <p:cNvCxnSpPr/>
          <p:nvPr/>
        </p:nvCxnSpPr>
        <p:spPr>
          <a:xfrm>
            <a:off x="-18470" y="7166518"/>
            <a:ext cx="1069199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7" name="Subtitle 2">
            <a:extLst>
              <a:ext uri="{FF2B5EF4-FFF2-40B4-BE49-F238E27FC236}">
                <a16:creationId xmlns:a16="http://schemas.microsoft.com/office/drawing/2014/main" id="{EF689ACB-A9D4-1D04-838C-CC2834123A7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pic>
        <p:nvPicPr>
          <p:cNvPr id="8" name="図 14">
            <a:extLst>
              <a:ext uri="{FF2B5EF4-FFF2-40B4-BE49-F238E27FC236}">
                <a16:creationId xmlns:a16="http://schemas.microsoft.com/office/drawing/2014/main" id="{9AA4B207-D3AE-090E-9747-03CEE615A0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336" y="99468"/>
            <a:ext cx="2908304" cy="17779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正方形/長方形 15">
            <a:extLst>
              <a:ext uri="{FF2B5EF4-FFF2-40B4-BE49-F238E27FC236}">
                <a16:creationId xmlns:a16="http://schemas.microsoft.com/office/drawing/2014/main" id="{9E15BC65-8EB9-9393-F4FC-8178E9F58EA7}"/>
              </a:ext>
            </a:extLst>
          </p:cNvPr>
          <p:cNvSpPr/>
          <p:nvPr/>
        </p:nvSpPr>
        <p:spPr>
          <a:xfrm>
            <a:off x="3885404" y="378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正方形/長方形 16">
            <a:extLst>
              <a:ext uri="{FF2B5EF4-FFF2-40B4-BE49-F238E27FC236}">
                <a16:creationId xmlns:a16="http://schemas.microsoft.com/office/drawing/2014/main" id="{A9FF4FC7-202A-E8F7-6D0B-FFFB317FE180}"/>
              </a:ext>
            </a:extLst>
          </p:cNvPr>
          <p:cNvSpPr/>
          <p:nvPr/>
        </p:nvSpPr>
        <p:spPr>
          <a:xfrm>
            <a:off x="4605403" y="378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1" name="正方形/長方形 17">
            <a:extLst>
              <a:ext uri="{FF2B5EF4-FFF2-40B4-BE49-F238E27FC236}">
                <a16:creationId xmlns:a16="http://schemas.microsoft.com/office/drawing/2014/main" id="{957F8504-4F93-19E9-3EB5-4955FF3B6C95}"/>
              </a:ext>
            </a:extLst>
          </p:cNvPr>
          <p:cNvSpPr/>
          <p:nvPr/>
        </p:nvSpPr>
        <p:spPr>
          <a:xfrm>
            <a:off x="5325401" y="378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2" name="正方形/長方形 18">
            <a:extLst>
              <a:ext uri="{FF2B5EF4-FFF2-40B4-BE49-F238E27FC236}">
                <a16:creationId xmlns:a16="http://schemas.microsoft.com/office/drawing/2014/main" id="{1BF164A5-5F14-9707-AF41-3077187EC645}"/>
              </a:ext>
            </a:extLst>
          </p:cNvPr>
          <p:cNvSpPr/>
          <p:nvPr/>
        </p:nvSpPr>
        <p:spPr>
          <a:xfrm>
            <a:off x="6045409" y="378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3ACDDA9B-3767-2073-AB98-31F31C17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39" y="5481123"/>
            <a:ext cx="5514536" cy="111755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4" name="図 20">
            <a:extLst>
              <a:ext uri="{FF2B5EF4-FFF2-40B4-BE49-F238E27FC236}">
                <a16:creationId xmlns:a16="http://schemas.microsoft.com/office/drawing/2014/main" id="{94BF1B61-FD64-B485-CE6A-D7053DF6D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837" y="5687055"/>
            <a:ext cx="699845" cy="81064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5" name="図 21">
            <a:extLst>
              <a:ext uri="{FF2B5EF4-FFF2-40B4-BE49-F238E27FC236}">
                <a16:creationId xmlns:a16="http://schemas.microsoft.com/office/drawing/2014/main" id="{F2F7E7B9-B82D-7573-7861-B43BDB1ADF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969" y="6271394"/>
            <a:ext cx="3938137" cy="2443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14389260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見出し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1">
            <a:extLst>
              <a:ext uri="{FF2B5EF4-FFF2-40B4-BE49-F238E27FC236}">
                <a16:creationId xmlns:a16="http://schemas.microsoft.com/office/drawing/2014/main" id="{5C055667-FF3F-A6D2-BC77-F96F2CDAC7A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1CE64156-C7D9-C1F4-23D2-EB54DD509E8A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595A7E94-BB0C-E096-4FAF-69783B99C3E3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9">
            <a:extLst>
              <a:ext uri="{FF2B5EF4-FFF2-40B4-BE49-F238E27FC236}">
                <a16:creationId xmlns:a16="http://schemas.microsoft.com/office/drawing/2014/main" id="{9EBFF0C2-6EBE-33F0-9B20-890B97C55AC8}"/>
              </a:ext>
            </a:extLst>
          </p:cNvPr>
          <p:cNvSpPr/>
          <p:nvPr/>
        </p:nvSpPr>
        <p:spPr>
          <a:xfrm>
            <a:off x="2106000" y="3600001"/>
            <a:ext cx="7200003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0">
            <a:extLst>
              <a:ext uri="{FF2B5EF4-FFF2-40B4-BE49-F238E27FC236}">
                <a16:creationId xmlns:a16="http://schemas.microsoft.com/office/drawing/2014/main" id="{84BE7162-FE6E-5B4B-2678-4DBB54DDE78D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7" name="直線コネクタ 22">
            <a:extLst>
              <a:ext uri="{FF2B5EF4-FFF2-40B4-BE49-F238E27FC236}">
                <a16:creationId xmlns:a16="http://schemas.microsoft.com/office/drawing/2014/main" id="{2853C88F-AC5A-A21C-4AE8-A2348C622629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FFEDBDF8-C21B-8651-834C-E661C7D905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AF77E20-5376-7FBE-3404-653442A7242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2BC2E31E-EC1D-2B77-7AE6-A69951739B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E6A15C84-9E99-F84A-9F32-30BD8DF16F2E}" type="slidenum">
              <a:t>‹#›</a:t>
            </a:fld>
            <a:endParaRPr lang="en-US"/>
          </a:p>
        </p:txBody>
      </p:sp>
      <p:pic>
        <p:nvPicPr>
          <p:cNvPr id="11" name="図 13">
            <a:extLst>
              <a:ext uri="{FF2B5EF4-FFF2-40B4-BE49-F238E27FC236}">
                <a16:creationId xmlns:a16="http://schemas.microsoft.com/office/drawing/2014/main" id="{F0B7AA26-07FF-2486-968C-6B18BF0E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14A61AB-3A8B-4340-E926-00F124F5643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75293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タイトルとコンテンツ　水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20">
            <a:extLst>
              <a:ext uri="{FF2B5EF4-FFF2-40B4-BE49-F238E27FC236}">
                <a16:creationId xmlns:a16="http://schemas.microsoft.com/office/drawing/2014/main" id="{0C70FEB0-BB23-F061-C82C-76923D610988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正方形/長方形 19">
            <a:extLst>
              <a:ext uri="{FF2B5EF4-FFF2-40B4-BE49-F238E27FC236}">
                <a16:creationId xmlns:a16="http://schemas.microsoft.com/office/drawing/2014/main" id="{B9EEE9E5-5775-AFA2-CA62-0DB27641D35B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D529EC-D259-6FE0-7A61-E061462AA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451834-AB87-829B-2B85-7C4A91514A3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pic>
        <p:nvPicPr>
          <p:cNvPr id="6" name="図 12">
            <a:extLst>
              <a:ext uri="{FF2B5EF4-FFF2-40B4-BE49-F238E27FC236}">
                <a16:creationId xmlns:a16="http://schemas.microsoft.com/office/drawing/2014/main" id="{254328DF-D719-8663-BC31-4DA264E32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正方形/長方形 15">
            <a:extLst>
              <a:ext uri="{FF2B5EF4-FFF2-40B4-BE49-F238E27FC236}">
                <a16:creationId xmlns:a16="http://schemas.microsoft.com/office/drawing/2014/main" id="{A39FAFF1-2227-FA9D-2DBB-0197937E9351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16">
            <a:extLst>
              <a:ext uri="{FF2B5EF4-FFF2-40B4-BE49-F238E27FC236}">
                <a16:creationId xmlns:a16="http://schemas.microsoft.com/office/drawing/2014/main" id="{B986A065-693B-989C-D8F1-F7CFAE55DF00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17">
            <a:extLst>
              <a:ext uri="{FF2B5EF4-FFF2-40B4-BE49-F238E27FC236}">
                <a16:creationId xmlns:a16="http://schemas.microsoft.com/office/drawing/2014/main" id="{E31B1BB8-371F-ABDD-429C-FAE7B3DFA146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10" name="直線コネクタ 8">
            <a:extLst>
              <a:ext uri="{FF2B5EF4-FFF2-40B4-BE49-F238E27FC236}">
                <a16:creationId xmlns:a16="http://schemas.microsoft.com/office/drawing/2014/main" id="{02398B39-7927-3FAD-F9F2-A7CFA73F050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7FC1E9"/>
            </a:solidFill>
            <a:prstDash val="solid"/>
            <a:miter/>
          </a:ln>
        </p:spPr>
      </p:cxnSp>
      <p:cxnSp>
        <p:nvCxnSpPr>
          <p:cNvPr id="11" name="直線コネクタ 21">
            <a:extLst>
              <a:ext uri="{FF2B5EF4-FFF2-40B4-BE49-F238E27FC236}">
                <a16:creationId xmlns:a16="http://schemas.microsoft.com/office/drawing/2014/main" id="{2D2FB5DB-FC49-637F-F7BB-6B240658A767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7E8F7A-89D9-AA3C-32CF-1C4BA18A8E5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C9440C4-B12E-3B43-A1C7-6D65757BCCCE}" type="slidenum">
              <a:t>‹#›</a:t>
            </a:fld>
            <a:endParaRPr lang="en-US"/>
          </a:p>
        </p:txBody>
      </p:sp>
      <p:pic>
        <p:nvPicPr>
          <p:cNvPr id="13" name="図 4">
            <a:extLst>
              <a:ext uri="{FF2B5EF4-FFF2-40B4-BE49-F238E27FC236}">
                <a16:creationId xmlns:a16="http://schemas.microsoft.com/office/drawing/2014/main" id="{75AD77BE-7B72-625B-D638-067DDB499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5D2D8985-C6C2-E089-94A2-993E71C059B4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8092138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見出し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D737C941-8340-805C-E2FC-FDE9CDBE978C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8E162812-4B4C-45EC-A6A7-EEB73F7C076C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A87B75DB-D201-322A-1039-B4C3DC738CD4}"/>
              </a:ext>
            </a:extLst>
          </p:cNvPr>
          <p:cNvSpPr/>
          <p:nvPr/>
        </p:nvSpPr>
        <p:spPr>
          <a:xfrm>
            <a:off x="666003" y="3600001"/>
            <a:ext cx="7200003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7C7F3183-9DC4-0454-FA0C-ADF08DE8FC19}"/>
              </a:ext>
            </a:extLst>
          </p:cNvPr>
          <p:cNvSpPr/>
          <p:nvPr/>
        </p:nvSpPr>
        <p:spPr>
          <a:xfrm>
            <a:off x="7865815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BE2512E6-6095-7B8B-78DE-CE8F66E77D48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648C6C3-319C-DBEB-7AC2-9806AFE09823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C434057-A8E4-AA0E-92B0-3BCE4561FE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5C253A8-C666-AF30-8865-70DEA504763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31F7FDD-263E-DEC6-03B7-7FBD57AFC54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6CB24ED0-999C-FA4B-A574-35DA35442F87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B2EA4662-7861-1D21-B499-105C8C8E4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AE299CCE-656B-5D61-7ABD-17E9FA404EFF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643505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　赤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3E5BFDC3-D231-CD27-D97D-5AC0E97BC0AA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93D8A-5CD3-B489-34E8-74FAED79D5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63661C5A-934F-9232-121C-C866CDB9104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6D47856A-2FDF-E0A5-FD18-95420F2B5A35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185ABE00-7578-A98A-7C51-6F7E96F6BACB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F8A120AD-6007-A81C-D9CC-09E75BE18372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A501AB16-AD01-DE9F-3BD8-FD13497C03BD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097650C1-ECBE-78A3-4BDD-4C0A6F6BC0EE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EF9B86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CFF8012E-CBB7-27D4-8F33-9E10BDF8F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126766B6-139E-377A-5F57-C1D2A7CF2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07F548-19D3-7AF8-E987-31B082CA61F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58B1DF8-205D-8442-846A-336D324D003F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8EAE1946-BC42-512C-5B53-66C901975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054DABCD-2DD1-6754-6224-EE65F688F8B5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4663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見出し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2">
            <a:extLst>
              <a:ext uri="{FF2B5EF4-FFF2-40B4-BE49-F238E27FC236}">
                <a16:creationId xmlns:a16="http://schemas.microsoft.com/office/drawing/2014/main" id="{0AC44670-59C5-118F-09C0-13E1013BADC0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638FDF16-444E-F7B0-4C82-B354C69342E0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8">
            <a:extLst>
              <a:ext uri="{FF2B5EF4-FFF2-40B4-BE49-F238E27FC236}">
                <a16:creationId xmlns:a16="http://schemas.microsoft.com/office/drawing/2014/main" id="{F09DEF46-456E-073B-CCE0-E7BCF7E60F59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9">
            <a:extLst>
              <a:ext uri="{FF2B5EF4-FFF2-40B4-BE49-F238E27FC236}">
                <a16:creationId xmlns:a16="http://schemas.microsoft.com/office/drawing/2014/main" id="{E034D930-53ED-7AB1-553F-40A4C13ACF55}"/>
              </a:ext>
            </a:extLst>
          </p:cNvPr>
          <p:cNvSpPr/>
          <p:nvPr/>
        </p:nvSpPr>
        <p:spPr>
          <a:xfrm>
            <a:off x="1386001" y="3600001"/>
            <a:ext cx="7200003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7E29FAA-A7BA-82B6-848C-317871A9A312}"/>
              </a:ext>
            </a:extLst>
          </p:cNvPr>
          <p:cNvSpPr/>
          <p:nvPr/>
        </p:nvSpPr>
        <p:spPr>
          <a:xfrm>
            <a:off x="8585813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1">
            <a:extLst>
              <a:ext uri="{FF2B5EF4-FFF2-40B4-BE49-F238E27FC236}">
                <a16:creationId xmlns:a16="http://schemas.microsoft.com/office/drawing/2014/main" id="{E7D4FB5F-A735-42F1-E51A-0172A714BDA4}"/>
              </a:ext>
            </a:extLst>
          </p:cNvPr>
          <p:cNvSpPr/>
          <p:nvPr/>
        </p:nvSpPr>
        <p:spPr>
          <a:xfrm>
            <a:off x="9305812" y="3600001"/>
            <a:ext cx="719998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05C94E-06B4-91A5-F199-60561F4076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688ACD0-C4A2-7A06-5793-758767BA1BA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B6F54BB-5223-3D71-BBD0-E70A960B230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14B42BB4-DF6D-DD46-B6C0-55E5AE9A0BAF}" type="slidenum">
              <a:t>‹#›</a:t>
            </a:fld>
            <a:endParaRPr lang="en-US"/>
          </a:p>
        </p:txBody>
      </p:sp>
      <p:pic>
        <p:nvPicPr>
          <p:cNvPr id="11" name="図 14">
            <a:extLst>
              <a:ext uri="{FF2B5EF4-FFF2-40B4-BE49-F238E27FC236}">
                <a16:creationId xmlns:a16="http://schemas.microsoft.com/office/drawing/2014/main" id="{6ECC769D-1A52-7F1D-4E7C-678D1666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BECF958-01B5-5507-725A-CBBC7DCBE617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395324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タイトルとコンテンツ　黄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660CB1BF-6AA6-86C2-296A-29C6A6503787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06437-7BB9-1C30-57BB-633455F678A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7D35736C-2A65-DA57-92C4-7DE8D7D65EC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CF9774FE-8A34-3B4C-9530-5D03D58FA0B1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FBD13E"/>
            </a:solidFill>
            <a:prstDash val="solid"/>
            <a:miter/>
          </a:ln>
        </p:spPr>
      </p:cxnSp>
      <p:sp>
        <p:nvSpPr>
          <p:cNvPr id="6" name="正方形/長方形 20">
            <a:extLst>
              <a:ext uri="{FF2B5EF4-FFF2-40B4-BE49-F238E27FC236}">
                <a16:creationId xmlns:a16="http://schemas.microsoft.com/office/drawing/2014/main" id="{ACDA631B-C71A-693B-01EF-29ABCB17FCEE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30">
            <a:extLst>
              <a:ext uri="{FF2B5EF4-FFF2-40B4-BE49-F238E27FC236}">
                <a16:creationId xmlns:a16="http://schemas.microsoft.com/office/drawing/2014/main" id="{1CCD2D0F-B1CC-2452-283E-87024A5696A9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31">
            <a:extLst>
              <a:ext uri="{FF2B5EF4-FFF2-40B4-BE49-F238E27FC236}">
                <a16:creationId xmlns:a16="http://schemas.microsoft.com/office/drawing/2014/main" id="{F8A86C24-62C4-E53C-6E90-1E299C24E9AF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9" name="正方形/長方形 32">
            <a:extLst>
              <a:ext uri="{FF2B5EF4-FFF2-40B4-BE49-F238E27FC236}">
                <a16:creationId xmlns:a16="http://schemas.microsoft.com/office/drawing/2014/main" id="{0C2D7AAC-C2D6-0652-8123-C757CAC24A98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238CAA4-DC42-9839-E021-F40BEB1F1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5F835099-F6B0-3B7E-3466-3AD3F3162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216A5D1-FA66-7D20-68B4-AFED86D995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369F36D1-5BAD-4045-B7CE-54E3857C8555}" type="slidenum">
              <a:t>‹#›</a:t>
            </a:fld>
            <a:endParaRPr lang="en-US"/>
          </a:p>
        </p:txBody>
      </p:sp>
      <p:pic>
        <p:nvPicPr>
          <p:cNvPr id="13" name="図 22">
            <a:extLst>
              <a:ext uri="{FF2B5EF4-FFF2-40B4-BE49-F238E27FC236}">
                <a16:creationId xmlns:a16="http://schemas.microsoft.com/office/drawing/2014/main" id="{CC2E54AB-C0B9-2D43-6EA0-D20EAA287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7E5230E8-E9DA-2902-4B9A-A7C22C457293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1001620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見出し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7">
            <a:extLst>
              <a:ext uri="{FF2B5EF4-FFF2-40B4-BE49-F238E27FC236}">
                <a16:creationId xmlns:a16="http://schemas.microsoft.com/office/drawing/2014/main" id="{A0BBB0A7-1268-58A4-AE30-311E375B4862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3" name="直線コネクタ 22">
            <a:extLst>
              <a:ext uri="{FF2B5EF4-FFF2-40B4-BE49-F238E27FC236}">
                <a16:creationId xmlns:a16="http://schemas.microsoft.com/office/drawing/2014/main" id="{12A8B6B4-3500-C99D-C3AD-507026CC4F5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4" name="正方形/長方形 11">
            <a:extLst>
              <a:ext uri="{FF2B5EF4-FFF2-40B4-BE49-F238E27FC236}">
                <a16:creationId xmlns:a16="http://schemas.microsoft.com/office/drawing/2014/main" id="{529F83BB-F53A-1D89-6292-D26F8EDFBC6E}"/>
              </a:ext>
            </a:extLst>
          </p:cNvPr>
          <p:cNvSpPr/>
          <p:nvPr/>
        </p:nvSpPr>
        <p:spPr>
          <a:xfrm>
            <a:off x="666003" y="3600001"/>
            <a:ext cx="719998" cy="35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5" name="正方形/長方形 12">
            <a:extLst>
              <a:ext uri="{FF2B5EF4-FFF2-40B4-BE49-F238E27FC236}">
                <a16:creationId xmlns:a16="http://schemas.microsoft.com/office/drawing/2014/main" id="{60920373-5EDE-A216-8A67-FABE22CAAA38}"/>
              </a:ext>
            </a:extLst>
          </p:cNvPr>
          <p:cNvSpPr/>
          <p:nvPr/>
        </p:nvSpPr>
        <p:spPr>
          <a:xfrm>
            <a:off x="1386001" y="3600001"/>
            <a:ext cx="719998" cy="35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13">
            <a:extLst>
              <a:ext uri="{FF2B5EF4-FFF2-40B4-BE49-F238E27FC236}">
                <a16:creationId xmlns:a16="http://schemas.microsoft.com/office/drawing/2014/main" id="{087D90BB-4DB6-DB0D-B4BF-2CB67A7B025E}"/>
              </a:ext>
            </a:extLst>
          </p:cNvPr>
          <p:cNvSpPr/>
          <p:nvPr/>
        </p:nvSpPr>
        <p:spPr>
          <a:xfrm>
            <a:off x="2106000" y="3600001"/>
            <a:ext cx="719998" cy="35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14">
            <a:extLst>
              <a:ext uri="{FF2B5EF4-FFF2-40B4-BE49-F238E27FC236}">
                <a16:creationId xmlns:a16="http://schemas.microsoft.com/office/drawing/2014/main" id="{A75BD476-2392-0A14-1B15-FC8DB1D109FD}"/>
              </a:ext>
            </a:extLst>
          </p:cNvPr>
          <p:cNvSpPr/>
          <p:nvPr/>
        </p:nvSpPr>
        <p:spPr>
          <a:xfrm>
            <a:off x="2825998" y="3600001"/>
            <a:ext cx="7200003" cy="35999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0F4A9DB-358F-2508-9062-0CCCAD14A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1883" y="3013798"/>
            <a:ext cx="9088038" cy="567266"/>
          </a:xfrm>
        </p:spPr>
        <p:txBody>
          <a:bodyPr anchor="b" anchorCtr="1"/>
          <a:lstStyle>
            <a:lvl1pPr algn="ctr">
              <a:defRPr sz="3200" b="1">
                <a:latin typeface="游ゴシック" pitchFamily="50"/>
                <a:ea typeface="游ゴシック" pitchFamily="50"/>
              </a:defRPr>
            </a:lvl1pPr>
          </a:lstStyle>
          <a:p>
            <a:pPr lvl="0"/>
            <a:r>
              <a:rPr lang="ja-JP"/>
              <a:t>タイトルが入ります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136E5E6-A9DF-F21E-8CBC-BA7EF75D6312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336477" y="3713552"/>
            <a:ext cx="8018858" cy="402482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ja-JP"/>
              <a:t>サブタイトルが入ります</a:t>
            </a: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7383AC-38B2-02F0-A94E-39A9DA924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D45FB087-3075-514E-BD00-C91A3BA8C070}" type="slidenum">
              <a:t>‹#›</a:t>
            </a:fld>
            <a:endParaRPr lang="en-US"/>
          </a:p>
        </p:txBody>
      </p:sp>
      <p:pic>
        <p:nvPicPr>
          <p:cNvPr id="11" name="図 19">
            <a:extLst>
              <a:ext uri="{FF2B5EF4-FFF2-40B4-BE49-F238E27FC236}">
                <a16:creationId xmlns:a16="http://schemas.microsoft.com/office/drawing/2014/main" id="{8BDC95A1-4088-1888-66A5-CA9CADE89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83E128C5-B258-14B6-D9E9-40DDAB0AA88D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2137082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　紺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5">
            <a:extLst>
              <a:ext uri="{FF2B5EF4-FFF2-40B4-BE49-F238E27FC236}">
                <a16:creationId xmlns:a16="http://schemas.microsoft.com/office/drawing/2014/main" id="{7A091449-DD3A-4C7B-FE8D-A52B658D8B1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F61DD-0F79-4E97-1B1F-81429212034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510948" y="1381566"/>
            <a:ext cx="9721187" cy="527827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cxnSp>
        <p:nvCxnSpPr>
          <p:cNvPr id="4" name="直線コネクタ 21">
            <a:extLst>
              <a:ext uri="{FF2B5EF4-FFF2-40B4-BE49-F238E27FC236}">
                <a16:creationId xmlns:a16="http://schemas.microsoft.com/office/drawing/2014/main" id="{965C57A0-5929-8DD3-CE11-A13335F2A19E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4">
            <a:extLst>
              <a:ext uri="{FF2B5EF4-FFF2-40B4-BE49-F238E27FC236}">
                <a16:creationId xmlns:a16="http://schemas.microsoft.com/office/drawing/2014/main" id="{7548250C-068C-D1BA-CDE1-EE3094F2EF72}"/>
              </a:ext>
            </a:extLst>
          </p:cNvPr>
          <p:cNvSpPr/>
          <p:nvPr/>
        </p:nvSpPr>
        <p:spPr>
          <a:xfrm>
            <a:off x="327528" y="0"/>
            <a:ext cx="71999" cy="1079997"/>
          </a:xfrm>
          <a:prstGeom prst="rect">
            <a:avLst/>
          </a:prstGeom>
          <a:solidFill>
            <a:srgbClr val="0057BA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正方形/長方形 25">
            <a:extLst>
              <a:ext uri="{FF2B5EF4-FFF2-40B4-BE49-F238E27FC236}">
                <a16:creationId xmlns:a16="http://schemas.microsoft.com/office/drawing/2014/main" id="{E124B373-2FD2-6C9B-A777-D59E5C1BEDB3}"/>
              </a:ext>
            </a:extLst>
          </p:cNvPr>
          <p:cNvSpPr/>
          <p:nvPr/>
        </p:nvSpPr>
        <p:spPr>
          <a:xfrm>
            <a:off x="431999" y="0"/>
            <a:ext cx="35999" cy="359999"/>
          </a:xfrm>
          <a:prstGeom prst="rect">
            <a:avLst/>
          </a:prstGeom>
          <a:solidFill>
            <a:srgbClr val="EF9B86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7" name="正方形/長方形 26">
            <a:extLst>
              <a:ext uri="{FF2B5EF4-FFF2-40B4-BE49-F238E27FC236}">
                <a16:creationId xmlns:a16="http://schemas.microsoft.com/office/drawing/2014/main" id="{0EB5AE2C-9B0A-37DD-12FF-9F2125E9C063}"/>
              </a:ext>
            </a:extLst>
          </p:cNvPr>
          <p:cNvSpPr/>
          <p:nvPr/>
        </p:nvSpPr>
        <p:spPr>
          <a:xfrm>
            <a:off x="503998" y="0"/>
            <a:ext cx="35999" cy="359999"/>
          </a:xfrm>
          <a:prstGeom prst="rect">
            <a:avLst/>
          </a:prstGeom>
          <a:solidFill>
            <a:srgbClr val="FBD13E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8" name="正方形/長方形 27">
            <a:extLst>
              <a:ext uri="{FF2B5EF4-FFF2-40B4-BE49-F238E27FC236}">
                <a16:creationId xmlns:a16="http://schemas.microsoft.com/office/drawing/2014/main" id="{B5720E76-DED6-DF25-9618-D06434E82574}"/>
              </a:ext>
            </a:extLst>
          </p:cNvPr>
          <p:cNvSpPr/>
          <p:nvPr/>
        </p:nvSpPr>
        <p:spPr>
          <a:xfrm>
            <a:off x="575998" y="0"/>
            <a:ext cx="35999" cy="359999"/>
          </a:xfrm>
          <a:prstGeom prst="rect">
            <a:avLst/>
          </a:prstGeom>
          <a:solidFill>
            <a:srgbClr val="7FC1E9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9" name="直線コネクタ 28">
            <a:extLst>
              <a:ext uri="{FF2B5EF4-FFF2-40B4-BE49-F238E27FC236}">
                <a16:creationId xmlns:a16="http://schemas.microsoft.com/office/drawing/2014/main" id="{F41C3561-1EC7-5536-7233-911B314C35B6}"/>
              </a:ext>
            </a:extLst>
          </p:cNvPr>
          <p:cNvCxnSpPr/>
          <p:nvPr/>
        </p:nvCxnSpPr>
        <p:spPr>
          <a:xfrm>
            <a:off x="-182" y="359999"/>
            <a:ext cx="10691996" cy="0"/>
          </a:xfrm>
          <a:prstGeom prst="straightConnector1">
            <a:avLst/>
          </a:prstGeom>
          <a:noFill/>
          <a:ln w="15873" cap="flat">
            <a:solidFill>
              <a:srgbClr val="0057BA"/>
            </a:solidFill>
            <a:prstDash val="solid"/>
            <a:miter/>
          </a:ln>
        </p:spPr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B8F57C4F-A389-56CF-A75C-00D0A90A23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9528" y="430344"/>
            <a:ext cx="10101184" cy="613050"/>
          </a:xfrm>
        </p:spPr>
        <p:txBody>
          <a:bodyPr>
            <a:noAutofit/>
          </a:bodyPr>
          <a:lstStyle>
            <a:lvl1pPr>
              <a:defRPr sz="2800" b="1">
                <a:latin typeface="游ゴシック" pitchFamily="34"/>
                <a:ea typeface="游ゴシック" pitchFamily="34"/>
              </a:defRPr>
            </a:lvl1pPr>
          </a:lstStyle>
          <a:p>
            <a:pPr lvl="0"/>
            <a:r>
              <a:rPr lang="ja-JP"/>
              <a:t>見出しが入ります</a:t>
            </a:r>
            <a:endParaRPr lang="en-US"/>
          </a:p>
        </p:txBody>
      </p:sp>
      <p:pic>
        <p:nvPicPr>
          <p:cNvPr id="11" name="図 16">
            <a:extLst>
              <a:ext uri="{FF2B5EF4-FFF2-40B4-BE49-F238E27FC236}">
                <a16:creationId xmlns:a16="http://schemas.microsoft.com/office/drawing/2014/main" id="{B0A72B1B-5DA4-E188-C207-65B6263D8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72" y="27294"/>
            <a:ext cx="1164241" cy="32191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FCC3E58-FBB1-8F5E-0CE8-C6917C4C1AF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10232136" y="7255005"/>
            <a:ext cx="382118" cy="278389"/>
          </a:xfrm>
          <a:solidFill>
            <a:srgbClr val="FFFFFF"/>
          </a:solidFill>
        </p:spPr>
        <p:txBody>
          <a:bodyPr anchorCtr="1"/>
          <a:lstStyle>
            <a:lvl1pPr algn="ctr">
              <a:defRPr sz="900">
                <a:solidFill>
                  <a:srgbClr val="000000"/>
                </a:solidFill>
              </a:defRPr>
            </a:lvl1pPr>
          </a:lstStyle>
          <a:p>
            <a:pPr lvl="0"/>
            <a:fld id="{53B3784E-79CC-4540-8FBC-123B41A378A3}" type="slidenum">
              <a:t>‹#›</a:t>
            </a:fld>
            <a:endParaRPr lang="en-US"/>
          </a:p>
        </p:txBody>
      </p:sp>
      <p:pic>
        <p:nvPicPr>
          <p:cNvPr id="13" name="図 19">
            <a:extLst>
              <a:ext uri="{FF2B5EF4-FFF2-40B4-BE49-F238E27FC236}">
                <a16:creationId xmlns:a16="http://schemas.microsoft.com/office/drawing/2014/main" id="{90E2B475-1FDC-6BAB-DE5F-64D69355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404" y="7309594"/>
            <a:ext cx="2920995" cy="16510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4B34B0F-3A95-35D1-2FB7-98E16240E6E9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6912537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75082A31-C168-D6C6-AC8A-A3773D30AC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A8DD3423-FB3B-937B-2C87-80D077A11B0D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027AEC8D-9664-EC85-66CC-ADE8AFAD344A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0555994C-B100-08B3-29B2-0B5250F54793}"/>
              </a:ext>
            </a:extLst>
          </p:cNvPr>
          <p:cNvCxnSpPr/>
          <p:nvPr/>
        </p:nvCxnSpPr>
        <p:spPr>
          <a:xfrm>
            <a:off x="-103025" y="7155938"/>
            <a:ext cx="10692005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6145D53-E3C5-D7E8-12A1-2565394935FB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14CF2F4-0B6E-163E-4B33-4C1B6F51AB42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2C953A5-1E8D-0F53-1798-AFA724638ABA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B574452-C370-8DDC-1DE3-8044FC8A6E6F}"/>
              </a:ext>
            </a:extLst>
          </p:cNvPr>
          <p:cNvSpPr txBox="1"/>
          <p:nvPr/>
        </p:nvSpPr>
        <p:spPr>
          <a:xfrm>
            <a:off x="1349087" y="4238271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0FE38F54-769B-A094-5467-3B03A8C1F2A0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25C6B963-7DB3-B742-5FCA-366FBC4F7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2076600F-9FF1-C355-019F-6DB5BE3BB1B2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D2311CE0-1963-D5F6-EDA3-D8F010A5702B}"/>
              </a:ext>
            </a:extLst>
          </p:cNvPr>
          <p:cNvSpPr txBox="1"/>
          <p:nvPr/>
        </p:nvSpPr>
        <p:spPr>
          <a:xfrm>
            <a:off x="1309420" y="5012813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125F4B3-F12D-65EE-F467-FB0313C9FE0B}"/>
              </a:ext>
            </a:extLst>
          </p:cNvPr>
          <p:cNvSpPr txBox="1"/>
          <p:nvPr/>
        </p:nvSpPr>
        <p:spPr>
          <a:xfrm>
            <a:off x="5769982" y="5003779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0E8206B-9BB3-7424-AAC8-5D8AF3DC028A}"/>
              </a:ext>
            </a:extLst>
          </p:cNvPr>
          <p:cNvSpPr txBox="1"/>
          <p:nvPr/>
        </p:nvSpPr>
        <p:spPr>
          <a:xfrm>
            <a:off x="1142113" y="4700528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18FB4D1-38C2-F4B2-46E0-1025729B2310}"/>
              </a:ext>
            </a:extLst>
          </p:cNvPr>
          <p:cNvSpPr txBox="1"/>
          <p:nvPr/>
        </p:nvSpPr>
        <p:spPr>
          <a:xfrm>
            <a:off x="5664195" y="4705237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29A33360-DF0E-2759-6ACC-68974DEFF633}"/>
              </a:ext>
            </a:extLst>
          </p:cNvPr>
          <p:cNvSpPr txBox="1"/>
          <p:nvPr/>
        </p:nvSpPr>
        <p:spPr>
          <a:xfrm>
            <a:off x="1309420" y="6130859"/>
            <a:ext cx="418192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460-0022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愛知県名古屋市中区金山一丁目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12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金山総合ビル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7F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（株式会社フルハシ環境総合研究所内）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27D49FC-C2C5-9A08-EE2E-498FBAE20BF0}"/>
              </a:ext>
            </a:extLst>
          </p:cNvPr>
          <p:cNvSpPr txBox="1"/>
          <p:nvPr/>
        </p:nvSpPr>
        <p:spPr>
          <a:xfrm>
            <a:off x="5769982" y="6120280"/>
            <a:ext cx="4369496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700-0082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岡山県岡山市北区津島中一丁目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岡山大インキュベータ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210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号室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FC5C4648-AE37-311B-DFAB-ACFEB10D0101}"/>
              </a:ext>
            </a:extLst>
          </p:cNvPr>
          <p:cNvSpPr txBox="1"/>
          <p:nvPr/>
        </p:nvSpPr>
        <p:spPr>
          <a:xfrm>
            <a:off x="1142113" y="5818574"/>
            <a:ext cx="1886215" cy="3327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名古屋オフィス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D1AA7C8E-6849-A1AA-EBA7-0F841EC3ABF0}"/>
              </a:ext>
            </a:extLst>
          </p:cNvPr>
          <p:cNvSpPr txBox="1"/>
          <p:nvPr/>
        </p:nvSpPr>
        <p:spPr>
          <a:xfrm>
            <a:off x="5358512" y="5823283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岡山オフィス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21" name="テキスト ボックス 22">
            <a:extLst>
              <a:ext uri="{FF2B5EF4-FFF2-40B4-BE49-F238E27FC236}">
                <a16:creationId xmlns:a16="http://schemas.microsoft.com/office/drawing/2014/main" id="{1831CEE1-23E0-5344-066F-1FC7989AE4A8}"/>
              </a:ext>
            </a:extLst>
          </p:cNvPr>
          <p:cNvSpPr txBox="1"/>
          <p:nvPr/>
        </p:nvSpPr>
        <p:spPr>
          <a:xfrm>
            <a:off x="2634980" y="684086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420984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機構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29FCEB5A-F733-3BBC-BE63-14AAB7ADE6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17">
            <a:extLst>
              <a:ext uri="{FF2B5EF4-FFF2-40B4-BE49-F238E27FC236}">
                <a16:creationId xmlns:a16="http://schemas.microsoft.com/office/drawing/2014/main" id="{FED3A17C-71C7-2378-4788-53755792FE31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8">
            <a:extLst>
              <a:ext uri="{FF2B5EF4-FFF2-40B4-BE49-F238E27FC236}">
                <a16:creationId xmlns:a16="http://schemas.microsoft.com/office/drawing/2014/main" id="{45B9F432-410E-DEC8-8047-C12AB8E1E85F}"/>
              </a:ext>
            </a:extLst>
          </p:cNvPr>
          <p:cNvCxnSpPr/>
          <p:nvPr/>
        </p:nvCxnSpPr>
        <p:spPr>
          <a:xfrm>
            <a:off x="-5779" y="4171895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cxnSp>
        <p:nvCxnSpPr>
          <p:cNvPr id="5" name="直線コネクタ 19">
            <a:extLst>
              <a:ext uri="{FF2B5EF4-FFF2-40B4-BE49-F238E27FC236}">
                <a16:creationId xmlns:a16="http://schemas.microsoft.com/office/drawing/2014/main" id="{F3CD5F99-ABE8-9733-269B-68F95428F738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6" name="Subtitle 2">
            <a:extLst>
              <a:ext uri="{FF2B5EF4-FFF2-40B4-BE49-F238E27FC236}">
                <a16:creationId xmlns:a16="http://schemas.microsoft.com/office/drawing/2014/main" id="{65417C54-FC89-2897-7665-9849960C9256}"/>
              </a:ext>
            </a:extLst>
          </p:cNvPr>
          <p:cNvSpPr txBox="1"/>
          <p:nvPr/>
        </p:nvSpPr>
        <p:spPr>
          <a:xfrm>
            <a:off x="1349087" y="1790925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心豊かな未来を</a:t>
            </a:r>
            <a:r>
              <a:rPr lang="en-US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SuMPO</a:t>
            </a:r>
            <a:r>
              <a:rPr lang="ja-JP" sz="18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の業で創ります</a:t>
            </a:r>
            <a:endParaRPr lang="en-US" sz="18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CF4EC6C-41AD-D77F-6EFF-99B1171BF8FF}"/>
              </a:ext>
            </a:extLst>
          </p:cNvPr>
          <p:cNvSpPr txBox="1"/>
          <p:nvPr/>
        </p:nvSpPr>
        <p:spPr>
          <a:xfrm>
            <a:off x="4894627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さんぽ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9FDF73D-E664-3C3C-AECB-BED49BFD30A7}"/>
              </a:ext>
            </a:extLst>
          </p:cNvPr>
          <p:cNvSpPr txBox="1"/>
          <p:nvPr/>
        </p:nvSpPr>
        <p:spPr>
          <a:xfrm>
            <a:off x="5664625" y="1602787"/>
            <a:ext cx="854616" cy="26761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05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游ゴシック" pitchFamily="34"/>
              </a:rPr>
              <a:t>わざ</a:t>
            </a:r>
            <a:endParaRPr lang="en-US" sz="105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C3D1659-CE44-8022-CAFD-01B1620116EA}"/>
              </a:ext>
            </a:extLst>
          </p:cNvPr>
          <p:cNvSpPr txBox="1"/>
          <p:nvPr/>
        </p:nvSpPr>
        <p:spPr>
          <a:xfrm>
            <a:off x="1349087" y="4661053"/>
            <a:ext cx="8018858" cy="4024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20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一般社団法人サステナブル経営推進機構</a:t>
            </a:r>
            <a:endParaRPr lang="en-US" sz="20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0" name="正方形/長方形 21">
            <a:extLst>
              <a:ext uri="{FF2B5EF4-FFF2-40B4-BE49-F238E27FC236}">
                <a16:creationId xmlns:a16="http://schemas.microsoft.com/office/drawing/2014/main" id="{45E436FA-314E-3CDF-3D96-4B0D0E4628ED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pic>
        <p:nvPicPr>
          <p:cNvPr id="11" name="図 15">
            <a:extLst>
              <a:ext uri="{FF2B5EF4-FFF2-40B4-BE49-F238E27FC236}">
                <a16:creationId xmlns:a16="http://schemas.microsoft.com/office/drawing/2014/main" id="{F6180DD1-9A9C-93FC-F7C4-E1ED34433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604" y="3855156"/>
            <a:ext cx="4223823" cy="2620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5F7BD7BA-1D30-135F-4744-28DFFC5F3AE0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434EFD97-38BE-DBE4-F6FF-2806D277C0CB}"/>
              </a:ext>
            </a:extLst>
          </p:cNvPr>
          <p:cNvSpPr txBox="1"/>
          <p:nvPr/>
        </p:nvSpPr>
        <p:spPr>
          <a:xfrm>
            <a:off x="1309420" y="5557567"/>
            <a:ext cx="3910870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101-0047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東京都千代田区内神田一丁目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8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KANDA SQUARE GATE 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959A6F-0AFC-4A10-2D1C-CF8F2826F3D9}"/>
              </a:ext>
            </a:extLst>
          </p:cNvPr>
          <p:cNvSpPr txBox="1"/>
          <p:nvPr/>
        </p:nvSpPr>
        <p:spPr>
          <a:xfrm>
            <a:off x="5769982" y="5548524"/>
            <a:ext cx="4084048" cy="68320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〒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101-0052 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東京都千代田区神田小川町二丁目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4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番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16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号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  <a:p>
            <a:pPr marL="0" marR="0" lvl="0" indent="0" algn="l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いちご神田小川町ビル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 3</a:t>
            </a: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階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游ゴシック" pitchFamily="34"/>
              <a:ea typeface="游ゴシック" pitchFamily="34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C160C8B6-3D5D-4592-24CC-E4B82F0356FA}"/>
              </a:ext>
            </a:extLst>
          </p:cNvPr>
          <p:cNvSpPr txBox="1"/>
          <p:nvPr/>
        </p:nvSpPr>
        <p:spPr>
          <a:xfrm>
            <a:off x="1142113" y="5245272"/>
            <a:ext cx="88801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本部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CCADF7E-89CA-0222-9E71-C80402759BB8}"/>
              </a:ext>
            </a:extLst>
          </p:cNvPr>
          <p:cNvSpPr txBox="1"/>
          <p:nvPr/>
        </p:nvSpPr>
        <p:spPr>
          <a:xfrm>
            <a:off x="5664195" y="5249981"/>
            <a:ext cx="2179499" cy="29538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6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神田小川町オフィス</a:t>
            </a:r>
            <a:endParaRPr lang="en-US" sz="1600" b="1" i="0" u="none" strike="noStrike" kern="1200" cap="none" spc="0" baseline="0">
              <a:solidFill>
                <a:srgbClr val="000000"/>
              </a:solidFill>
              <a:uFillTx/>
            </a:endParaRPr>
          </a:p>
        </p:txBody>
      </p:sp>
      <p:sp>
        <p:nvSpPr>
          <p:cNvPr id="17" name="テキスト ボックス 7">
            <a:extLst>
              <a:ext uri="{FF2B5EF4-FFF2-40B4-BE49-F238E27FC236}">
                <a16:creationId xmlns:a16="http://schemas.microsoft.com/office/drawing/2014/main" id="{5FE3A010-C0D0-5CB2-C9EF-941F0345E8FB}"/>
              </a:ext>
            </a:extLst>
          </p:cNvPr>
          <p:cNvSpPr txBox="1"/>
          <p:nvPr/>
        </p:nvSpPr>
        <p:spPr>
          <a:xfrm>
            <a:off x="2634980" y="6618134"/>
            <a:ext cx="5447071" cy="276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ja-JP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ホームページ　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游ゴシック" pitchFamily="34"/>
                <a:ea typeface="游ゴシック" pitchFamily="34"/>
              </a:rPr>
              <a:t>https://sumpo.or.jp</a:t>
            </a:r>
          </a:p>
        </p:txBody>
      </p:sp>
    </p:spTree>
    <p:extLst>
      <p:ext uri="{BB962C8B-B14F-4D97-AF65-F5344CB8AC3E}">
        <p14:creationId xmlns:p14="http://schemas.microsoft.com/office/powerpoint/2010/main" val="26936054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最終ページ　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2">
            <a:extLst>
              <a:ext uri="{FF2B5EF4-FFF2-40B4-BE49-F238E27FC236}">
                <a16:creationId xmlns:a16="http://schemas.microsoft.com/office/drawing/2014/main" id="{183D6CEF-9D75-58BF-8167-5A46A4EEFF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8723" y="-134389"/>
            <a:ext cx="10697894" cy="755967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正方形/長方形 7">
            <a:extLst>
              <a:ext uri="{FF2B5EF4-FFF2-40B4-BE49-F238E27FC236}">
                <a16:creationId xmlns:a16="http://schemas.microsoft.com/office/drawing/2014/main" id="{4A07C37B-5D61-5914-7102-6F926E18DC3F}"/>
              </a:ext>
            </a:extLst>
          </p:cNvPr>
          <p:cNvSpPr/>
          <p:nvPr/>
        </p:nvSpPr>
        <p:spPr>
          <a:xfrm>
            <a:off x="-14100" y="7236863"/>
            <a:ext cx="10711400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cxnSp>
        <p:nvCxnSpPr>
          <p:cNvPr id="4" name="直線コネクタ 19">
            <a:extLst>
              <a:ext uri="{FF2B5EF4-FFF2-40B4-BE49-F238E27FC236}">
                <a16:creationId xmlns:a16="http://schemas.microsoft.com/office/drawing/2014/main" id="{330D6E9B-C6EE-A0DC-4821-3BC9554E561F}"/>
              </a:ext>
            </a:extLst>
          </p:cNvPr>
          <p:cNvCxnSpPr/>
          <p:nvPr/>
        </p:nvCxnSpPr>
        <p:spPr>
          <a:xfrm>
            <a:off x="-5779" y="7166518"/>
            <a:ext cx="10692006" cy="0"/>
          </a:xfrm>
          <a:prstGeom prst="straightConnector1">
            <a:avLst/>
          </a:prstGeom>
          <a:noFill/>
          <a:ln w="7616" cap="flat">
            <a:solidFill>
              <a:srgbClr val="004198"/>
            </a:solidFill>
            <a:prstDash val="solid"/>
            <a:miter/>
          </a:ln>
        </p:spPr>
      </p:cxnSp>
      <p:sp>
        <p:nvSpPr>
          <p:cNvPr id="5" name="正方形/長方形 21">
            <a:extLst>
              <a:ext uri="{FF2B5EF4-FFF2-40B4-BE49-F238E27FC236}">
                <a16:creationId xmlns:a16="http://schemas.microsoft.com/office/drawing/2014/main" id="{9DF1F77C-A335-EC48-6482-28D553137F7F}"/>
              </a:ext>
            </a:extLst>
          </p:cNvPr>
          <p:cNvSpPr/>
          <p:nvPr/>
        </p:nvSpPr>
        <p:spPr>
          <a:xfrm>
            <a:off x="-10543" y="-136785"/>
            <a:ext cx="10705914" cy="322810"/>
          </a:xfrm>
          <a:prstGeom prst="rect">
            <a:avLst/>
          </a:prstGeom>
          <a:solidFill>
            <a:srgbClr val="004198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  <a:ea typeface="游ゴシック" pitchFamily="34"/>
            </a:endParaRPr>
          </a:p>
        </p:txBody>
      </p:sp>
      <p:sp>
        <p:nvSpPr>
          <p:cNvPr id="6" name="テキスト ボックス 15">
            <a:extLst>
              <a:ext uri="{FF2B5EF4-FFF2-40B4-BE49-F238E27FC236}">
                <a16:creationId xmlns:a16="http://schemas.microsoft.com/office/drawing/2014/main" id="{C3D35E23-7379-4534-887E-02BB67C6F24E}"/>
              </a:ext>
            </a:extLst>
          </p:cNvPr>
          <p:cNvSpPr txBox="1"/>
          <p:nvPr/>
        </p:nvSpPr>
        <p:spPr>
          <a:xfrm>
            <a:off x="2381874" y="3880420"/>
            <a:ext cx="5916707" cy="4001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sp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000" b="0" i="0" u="none" strike="noStrike" kern="1200" cap="none" spc="0" baseline="0">
                <a:solidFill>
                  <a:srgbClr val="002060"/>
                </a:solidFill>
                <a:uFillTx/>
                <a:latin typeface="Calibri"/>
                <a:ea typeface="游ゴシック" pitchFamily="34"/>
              </a:rPr>
              <a:t>Thank you for your attention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64D9FDF-E252-4CE4-2E5E-F8D62F7E303C}"/>
              </a:ext>
            </a:extLst>
          </p:cNvPr>
          <p:cNvSpPr txBox="1"/>
          <p:nvPr/>
        </p:nvSpPr>
        <p:spPr>
          <a:xfrm>
            <a:off x="7457261" y="7248988"/>
            <a:ext cx="2821262" cy="34056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marL="0" marR="0" lvl="0" indent="0" algn="ctr" defTabSz="1007943" rtl="0" fontAlgn="auto" hangingPunct="1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900" b="0" i="0" u="none" strike="noStrike" kern="1200" cap="none" spc="0" baseline="0">
                <a:solidFill>
                  <a:srgbClr val="FFFFFF"/>
                </a:solidFill>
                <a:uFillTx/>
                <a:latin typeface="Hiragino Kaku Gothic Std W3" pitchFamily="34"/>
                <a:ea typeface="Hiragino Kaku Gothic Std W3" pitchFamily="34"/>
              </a:rPr>
              <a:t>©2026 Copyright. All Rights Reserved. SuMPO</a:t>
            </a:r>
          </a:p>
        </p:txBody>
      </p:sp>
    </p:spTree>
    <p:extLst>
      <p:ext uri="{BB962C8B-B14F-4D97-AF65-F5344CB8AC3E}">
        <p14:creationId xmlns:p14="http://schemas.microsoft.com/office/powerpoint/2010/main" val="32998285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CA11BB-0FCA-14E5-77E7-6D3C641CE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5058" y="402482"/>
            <a:ext cx="9221687" cy="146118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C7445-7560-C19C-0A60-EF5222A1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5058" y="2012411"/>
            <a:ext cx="9221687" cy="47965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F0E83-D2A2-BAF3-C441-4C624011FF3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735058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CC786BA6-7B56-F543-9072-18E670050153}" type="datetime1">
              <a:rPr lang="en-US"/>
              <a:pPr lvl="0"/>
              <a:t>2026/6/1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ACB77-1F57-9A54-BD63-2A64E4AD477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541663" y="7006699"/>
            <a:ext cx="3608487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9809A-6A04-37EE-29EA-F6680BBD473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51096" y="7006699"/>
            <a:ext cx="2405658" cy="40248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23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  <a:ea typeface="游ゴシック" pitchFamily="34"/>
              </a:defRPr>
            </a:lvl1pPr>
          </a:lstStyle>
          <a:p>
            <a:pPr lvl="0"/>
            <a:fld id="{205576F5-C101-5640-84CE-C69780011BCD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1007943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ja-JP" sz="4850" b="0" i="0" u="none" strike="noStrike" kern="1200" cap="none" spc="0" baseline="0">
          <a:solidFill>
            <a:srgbClr val="000000"/>
          </a:solidFill>
          <a:uFillTx/>
          <a:latin typeface="Calibri Light"/>
          <a:ea typeface="游ゴシック Light" pitchFamily="34"/>
        </a:defRPr>
      </a:lvl1pPr>
    </p:titleStyle>
    <p:bodyStyle>
      <a:lvl1pPr marL="251990" marR="0" lvl="0" indent="-251990" algn="l" defTabSz="1007943" rtl="0" fontAlgn="auto" hangingPunct="1">
        <a:lnSpc>
          <a:spcPct val="90000"/>
        </a:lnSpc>
        <a:spcBef>
          <a:spcPts val="1100"/>
        </a:spcBef>
        <a:spcAft>
          <a:spcPts val="0"/>
        </a:spcAft>
        <a:buSzPct val="100000"/>
        <a:buFont typeface="Arial" pitchFamily="34"/>
        <a:buChar char="•"/>
        <a:tabLst/>
        <a:defRPr lang="ja-JP" sz="308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1pPr>
      <a:lvl2pPr marL="755952" marR="0" lvl="1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646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2pPr>
      <a:lvl3pPr marL="1259933" marR="0" lvl="2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2205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3pPr>
      <a:lvl4pPr marL="1763895" marR="0" lvl="3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4pPr>
      <a:lvl5pPr marL="2267867" marR="0" lvl="4" indent="-251990" algn="l" defTabSz="1007943" rtl="0" fontAlgn="auto" hangingPunct="1">
        <a:lnSpc>
          <a:spcPct val="90000"/>
        </a:lnSpc>
        <a:spcBef>
          <a:spcPts val="550"/>
        </a:spcBef>
        <a:spcAft>
          <a:spcPts val="0"/>
        </a:spcAft>
        <a:buSzPct val="100000"/>
        <a:buFont typeface="Arial" pitchFamily="34"/>
        <a:buChar char="•"/>
        <a:tabLst/>
        <a:defRPr lang="ja-JP" sz="1984" b="0" i="0" u="none" strike="noStrike" kern="1200" cap="none" spc="0" baseline="0">
          <a:solidFill>
            <a:srgbClr val="000000"/>
          </a:solidFill>
          <a:uFillTx/>
          <a:latin typeface="Calibri"/>
          <a:ea typeface="游ゴシック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建築環境性能評価制度（建築物LCA）の全体構造</a:t>
            </a:r>
          </a:p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― フランス RE2020 と動的LCA 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sz="1400" b="0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調査項目①　政策・制度調査　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00000" y="360000"/>
            <a:ext cx="2700000" cy="36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r">
              <a:lnSpc>
                <a:spcPct val="110000"/>
              </a:lnSpc>
            </a:pPr>
            <a:r>
              <a:rPr sz="13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2026年5月27日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360000"/>
            <a:ext cx="5000000" cy="36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林野庁　御中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エグゼクティブサマリー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なぜフランスは動的LCAでなければならなかったのか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528" y="1480000"/>
            <a:ext cx="4750000" cy="470000"/>
          </a:xfrm>
          <a:prstGeom prst="rect">
            <a:avLst/>
          </a:prstGeom>
          <a:solidFill>
            <a:srgbClr val="19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中心命題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528" y="1990000"/>
            <a:ext cx="4750000" cy="2600000"/>
          </a:xfrm>
          <a:prstGeom prst="rect">
            <a:avLst/>
          </a:prstGeom>
          <a:solidFill>
            <a:srgbClr val="E8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静的GWP100（既存の評価ツール）は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「今日の1kgCO₂ ≡ 50年後の1kgCO₂」と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扱うため、木材の50年貯蔵という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実在する気候便益を計測できなかった。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RE2020の動的LCAは、この物理的誤りを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修正した世界初の法規制である。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0" y="1480000"/>
            <a:ext cx="760000" cy="7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KF1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0000" y="1480000"/>
            <a:ext cx="4060000" cy="7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炭素指標 Ic を新設し、動的LCAを世界で初めて規制化（割引係数 1−0.00842t）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00000" y="2280000"/>
            <a:ext cx="760000" cy="7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KF2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0000" y="2280000"/>
            <a:ext cx="4060000" cy="7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住宅・非住宅を2031年まで4フェーズで段階的に厳格化（E+C-実証2,200棟が根拠）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00000" y="3080000"/>
            <a:ext cx="760000" cy="7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KF3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0000" y="3080000"/>
            <a:ext cx="4060000" cy="7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EU標準 Level(s)/EN 15978 の「先行実装」。ISO 21391-1:2025もフランス主導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0" y="3880000"/>
            <a:ext cx="760000" cy="7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KF4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0000" y="3880000"/>
            <a:ext cx="4060000" cy="7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日本の最優先課題は①時間地平の合意 ②データ基盤整備 ③ISO 21391-1のJIS化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【中心論証】</a:t>
            </a:r>
          </a:p>
          <a:p>
            <a:pPr algn="l"/>
            <a:r>
              <a:rPr sz="22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静的GWP100の構造的失敗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木材はコンクリートと同じ「正味ゼロ」と誤評価されていた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528" y="1480000"/>
            <a:ext cx="5050000" cy="24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静的LCAは木材の炭素フロー（吸収 t=0／放出 t=50年）を打ち消し合いと見なし、正味ゼロと評価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物理的には50年後の放出は今日より42%少ない累積気候影響しか持たない（IPCC AR4）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動的LCAはCLTの評価を +98 →（逆転）→ −171 kgCO₂eq/m³ に修正する</a:t>
            </a:r>
          </a:p>
        </p:txBody>
      </p:sp>
      <p:pic>
        <p:nvPicPr>
          <p:cNvPr id="5" name="Picture 4" descr="fig_material_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0" y="1815691"/>
            <a:ext cx="5150000" cy="28786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9528" y="4100000"/>
            <a:ext cx="4900000" cy="900000"/>
          </a:xfrm>
          <a:prstGeom prst="rect">
            <a:avLst/>
          </a:prstGeom>
          <a:solidFill>
            <a:srgbClr val="FD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「補助金」ではなく「正確な計測への移行」— フランスはこう正当化した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528" y="6760000"/>
            <a:ext cx="7600000" cy="33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出典: 第1編報告書 §4.7; IPCC (2007) Bern2.5CCモデル; Benoist (2009)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RE2020の法的位置づけと3つの性能指標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RT2012（熱性能のみ）にライフサイクルGHG指標 Ic を追加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528" y="1470000"/>
            <a:ext cx="9900000" cy="145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2021年7月公布（Décret 2021-1004）、2022年1月施行。所管はDHUP、技術根拠はCSTB・Cerema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RT2012はエネルギー消費のみ規制 → 建材起因のエンボディド炭素が規制の外にあった</a:t>
            </a:r>
          </a:p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30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Ic により運用エネルギーとエンボディド炭素の同時最適化が設計者・施主の義務に</a:t>
            </a:r>
          </a:p>
        </p:txBody>
      </p:sp>
      <p:pic>
        <p:nvPicPr>
          <p:cNvPr id="5" name="Picture 4" descr="fig_three_indic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0571" y="2950000"/>
            <a:ext cx="4558856" cy="2050000"/>
          </a:xfrm>
          <a:prstGeom prst="rect">
            <a:avLst/>
          </a:prstGeom>
        </p:spPr>
      </p:pic>
      <p:pic>
        <p:nvPicPr>
          <p:cNvPr id="6" name="Picture 5" descr="ic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000" y="5050000"/>
            <a:ext cx="4600000" cy="43519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ライフサイクルモジュール構造（EN 15978準拠）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「いつ・どこで」炭素が出入りするかを把握する基盤</a:t>
            </a:r>
          </a:p>
        </p:txBody>
      </p:sp>
      <p:pic>
        <p:nvPicPr>
          <p:cNvPr id="4" name="Picture 3" descr="fig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327" y="1500000"/>
            <a:ext cx="6093345" cy="230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9528" y="3950000"/>
            <a:ext cx="990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動的補正が必要な理由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528" y="4250000"/>
            <a:ext cx="990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9528" y="4350000"/>
            <a:ext cx="9900000" cy="17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A1-A3で木材が炭素を固定（即時クレジット）するが、C4の焼却・分解で炭素が放出される（50年後）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この「固定は今、放出は50年後」の時間差は、全排出を t=0 に集約する静的GWP100では評価不能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StockC モジュール（EN 15978にないRE2020独自拡張）が、この時間差を動的補正係数で定量化する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動的LCA補正係数とStockCの算定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線形動的補正係数 coefficient(t) による割引</a:t>
            </a:r>
          </a:p>
        </p:txBody>
      </p:sp>
      <p:pic>
        <p:nvPicPr>
          <p:cNvPr id="4" name="Picture 3" descr="coeff_re2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28" y="1500000"/>
            <a:ext cx="4350000" cy="330600"/>
          </a:xfrm>
          <a:prstGeom prst="rect">
            <a:avLst/>
          </a:prstGeom>
        </p:spPr>
      </p:pic>
      <p:pic>
        <p:nvPicPr>
          <p:cNvPr id="5" name="Picture 4" descr="coeff_flo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28" y="2080000"/>
            <a:ext cx="3000000" cy="2780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9528" y="2650000"/>
            <a:ext cx="4900000" cy="12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Solinnen(2018)・Benoist(2009)に基づく累積放射強制力(DCF)の線形近似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傾き −0.00842/年（年率0.842%の割引）、t=50年で0.58に到達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9528" y="3950000"/>
          <a:ext cx="5050000" cy="17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15000"/>
                <a:gridCol w="1111000"/>
                <a:gridCol w="808000"/>
                <a:gridCol w="808000"/>
                <a:gridCol w="808000"/>
              </a:tblGrid>
              <a:tr h="44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炭素フロー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タイミング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炭素量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動的係数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補正後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固定（A1-A3）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 = 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−269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1.000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−269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放出（C4）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 = 50年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+269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0.579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+156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正味 StockC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—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—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—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−113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fig_clt_waterf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000" y="1718844"/>
            <a:ext cx="4950000" cy="315231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50000" y="5180000"/>
            <a:ext cx="4950000" cy="620000"/>
          </a:xfrm>
          <a:prstGeom prst="rect">
            <a:avLst/>
          </a:prstGeom>
          <a:solidFill>
            <a:srgbClr val="E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CLT 1m³ は静的では正味ゼロ → 動的では −113 kgCO₂eq/m³ のネットクレジット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環境性能評価方法と段階施行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新築建物が対象。住宅2022年1月、非住宅2022年7月から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500000"/>
          <a:ext cx="4900000" cy="20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0000"/>
                <a:gridCol w="1666000"/>
                <a:gridCol w="1274000"/>
              </a:tblGrid>
              <a:tr h="42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建物用途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施行日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適用規模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戸建・集合住宅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2022年1月1日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全規模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事務所・学校等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2022年7月1日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床面積≥1,000 m²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小規模事務所等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2023年1月1日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床面積&lt;1,000 m²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既存改修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検討中(2026〜)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TBD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9528" y="3700000"/>
            <a:ext cx="4900000" cy="10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データ階層：① FDES/EPD（製品固有・高精度）　② デフォルト値（保守的）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→ デフォルト値の不利さがEPD登録を促すインセンティブ</a:t>
            </a:r>
          </a:p>
        </p:txBody>
      </p:sp>
      <p:pic>
        <p:nvPicPr>
          <p:cNvPr id="6" name="Picture 5" descr="fig_calc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0000" y="2228912"/>
            <a:ext cx="5050000" cy="20421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50000" y="4350000"/>
            <a:ext cx="5050000" cy="400000"/>
          </a:xfrm>
          <a:prstGeom prst="rect">
            <a:avLst/>
          </a:prstGeom>
          <a:noFill/>
        </p:spPr>
        <p:txBody>
          <a:bodyPr wrap="square" anchor="t" lIns="45000" rIns="45000" tIns="30000" bIns="300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6A7076"/>
                </a:solidFill>
                <a:latin typeface="Noto Sans CJK JP"/>
                <a:ea typeface="Noto Sans CJK JP"/>
                <a:cs typeface="Noto Sans CJK JP"/>
              </a:rPr>
              <a:t>RE2020 環境性能評価の計算フロー（Elodie/CSTB が自動化）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seuil値の段階的引き下げ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4フェーズで2031年までに30〜40%削減（アダプティブ設計）</a:t>
            </a:r>
          </a:p>
        </p:txBody>
      </p:sp>
      <p:pic>
        <p:nvPicPr>
          <p:cNvPr id="4" name="Picture 3" descr="fig_seui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0" y="1627616"/>
            <a:ext cx="5650000" cy="32547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0000" y="1550000"/>
            <a:ext cx="405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段階施行の政策的合理性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000" y="1850000"/>
            <a:ext cx="405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000" y="2050000"/>
            <a:ext cx="4050000" cy="29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産業界のFDES整備・設計者の計算ツール習得期間を確保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実績データ蓄積後に係数を見直すアダプティブ・レギュレーション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seuil値はE+C-実証2,200棟データから科学的に導出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集合住宅(840)&gt;戸建(640)は共用設備・地下駐車場の付帯排出のため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EU標準との関係：先行実装としてのRE2020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Level(s)指標6・EN 15978・EPBD 2024改正との接続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80000"/>
          <a:ext cx="9900000" cy="319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8000"/>
                <a:gridCol w="3960000"/>
                <a:gridCol w="3762000"/>
              </a:tblGrid>
              <a:tr h="47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EU枠組み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内容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RE2020との関係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Level(s) 指標6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ライフサイクルGWP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(kgCO₂eq/m²/yr)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Ic指標に直接対応。先行実装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 15978:2011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建物LCA計算方法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(A1〜Dモジュール)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評価計算の基盤。StockCを独自追加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EN 15804+A2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建材EPDコアルール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(GWP-biogenic)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FDESが準拠。StockC計算に活用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EPBD 2024改正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2030年以降WLC開示義務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RE2020が義務化の先行モデル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ISO 21391-1:2025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動的バイオジェニック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炭素評価の初の国際規格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仏主導策定。非線形DCFで精緻化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9528" y="5300000"/>
            <a:ext cx="9900000" cy="500000"/>
          </a:xfrm>
          <a:prstGeom prst="rect">
            <a:avLst/>
          </a:prstGeom>
          <a:solidFill>
            <a:srgbClr val="FDF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「先に制度を持つ国が国際規格を書く」— フランスの戦略的計算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サーキュラーエコノミー施策との接続と限界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Dモジュール（再利用・リサイクル便益）の扱いが論点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9528" y="1480000"/>
            <a:ext cx="475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接続点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99528" y="1780000"/>
            <a:ext cx="475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9528" y="1850000"/>
            <a:ext cx="4900000" cy="20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Dモジュール（境界外便益）の計上可能化で再利用を定量インセンティブ化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C3-C4（廃棄物処理・最終処分）を必須計上しコストを見える化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鉄鋼・アルミのリサイクル、CLTの再利用シナリオが主要適用先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0000" y="1480000"/>
            <a:ext cx="4900000" cy="3300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制度的限界（2028年見直し議題）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50000" y="1780000"/>
            <a:ext cx="4900000" cy="20000"/>
          </a:xfrm>
          <a:prstGeom prst="rect">
            <a:avLst/>
          </a:prstGeom>
          <a:solidFill>
            <a:srgbClr val="1254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50000" y="1850000"/>
            <a:ext cx="4900000" cy="2700000"/>
          </a:xfrm>
          <a:prstGeom prst="rect">
            <a:avLst/>
          </a:prstGeom>
          <a:noFill/>
        </p:spPr>
        <p:txBody>
          <a:bodyPr wrap="square" lIns="45000" rIns="45000" tIns="3000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1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DモジュールはIc規制値判定から分離 → サーキュラー設計への誘因が弱い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EoLシナリオの仮定依存性（再利用率の楽観的仮定によるクレジット過大）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SFM（持続可能森林管理）証明の前提：FSC/PEFC認証と森林炭素変動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5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● </a:t>
            </a: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建設廃棄物データの欠如（INIESは製品EPD中心）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528" y="4750000"/>
            <a:ext cx="9900000" cy="9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C4でのバイオジェニックCO₂放出に線形係数0.58が適用 → 木材のライフサイクル終了時の放出影響が42%割引される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日本の建築LCA制度化への示唆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最優先3課題と、避けるべきフランスの失敗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9528" y="1480000"/>
          <a:ext cx="9900000" cy="30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6000"/>
                <a:gridCol w="6138000"/>
                <a:gridCol w="1386000"/>
              </a:tblGrid>
              <a:tr h="44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示唆事項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内容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優先度</a:t>
                      </a:r>
                    </a:p>
                  </a:txBody>
                  <a:tcPr marL="55000" marR="55000" marT="25000" marB="25000" anchor="ctr">
                    <a:solidFill>
                      <a:srgbClr val="494D51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① 時間地平(DO)の合意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DO=100年か50年かで木材評価が2倍近く変わる。制度設計の根本パラメータ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★★★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② ISO 21391-1のJIS化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動的炭素評価の初の国際規格。未対応では輸出材評価で不利。JIS化に3〜5年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★★★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56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③ 建材LCAデータ基盤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IDEAへの時系列フロー追加が最低要件。データ基盤なしでは動的LCAは机上論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★★★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④ 実証プログラム先行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E+C-相当の300〜500棟規模で規制値設定根拠を蓄積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★★</a:t>
                      </a:r>
                    </a:p>
                  </a:txBody>
                  <a:tcPr marL="55000" marR="55000" marT="25000" marB="25000" anchor="ctr">
                    <a:solidFill>
                      <a:srgbClr val="C5C9CD"/>
                    </a:solidFill>
                  </a:tcPr>
                </a:tc>
              </a:tr>
              <a:tr h="48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⑤ Dモジュール設計</a:t>
                      </a:r>
                    </a:p>
                  </a:txBody>
                  <a:tcPr marL="55000" marR="55000" marT="25000" marB="25000" anchor="ctr">
                    <a:solidFill>
                      <a:srgbClr val="E8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リサイクルクレジットの規制値反映は政策選択。林野庁方針との整合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★★</a:t>
                      </a:r>
                    </a:p>
                  </a:txBody>
                  <a:tcPr marL="55000" marR="5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99528" y="5350000"/>
            <a:ext cx="9900000" cy="600000"/>
          </a:xfrm>
          <a:prstGeom prst="rect">
            <a:avLst/>
          </a:prstGeom>
          <a:solidFill>
            <a:srgbClr val="193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銘記すべき教訓：フランスは実証10年を経て規制化した。日本では今、静的GWP100の同じ失敗が進行中であり、国産CLTが「排出材」と評価されている。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2400" b="1" i="0">
                <a:solidFill>
                  <a:srgbClr val="193950"/>
                </a:solidFill>
                <a:latin typeface="Noto Sans CJK JP"/>
                <a:ea typeface="Noto Sans CJK JP"/>
                <a:cs typeface="Noto Sans CJK JP"/>
              </a:rPr>
              <a:t>総括：RE2020の制度的意義</a:t>
            </a:r>
          </a:p>
          <a:p>
            <a:pPr algn="l"/>
            <a:r>
              <a:rPr sz="1300" b="1" i="0">
                <a:solidFill>
                  <a:srgbClr val="125486"/>
                </a:solidFill>
                <a:latin typeface="Noto Sans CJK JP"/>
                <a:ea typeface="Noto Sans CJK JP"/>
                <a:cs typeface="Noto Sans CJK JP"/>
              </a:rPr>
              <a:t>建築LCAの「時間問題」を制度化した最初の試み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528" y="1500000"/>
            <a:ext cx="3050000" cy="800000"/>
          </a:xfrm>
          <a:prstGeom prst="rect">
            <a:avLst/>
          </a:prstGeom>
          <a:solidFill>
            <a:srgbClr val="01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① 時間問題の制度化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550000" y="1500000"/>
            <a:ext cx="680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静的GWP100の「全排出を t=0 に集約」する限界を、線形近似DCF係数で実務的に克服</a:t>
            </a:r>
          </a:p>
        </p:txBody>
      </p:sp>
      <p:sp>
        <p:nvSpPr>
          <p:cNvPr id="6" name="Rectangle 5"/>
          <p:cNvSpPr/>
          <p:nvPr/>
        </p:nvSpPr>
        <p:spPr>
          <a:xfrm>
            <a:off x="399528" y="2400000"/>
            <a:ext cx="3050000" cy="800000"/>
          </a:xfrm>
          <a:prstGeom prst="rect">
            <a:avLst/>
          </a:prstGeom>
          <a:solidFill>
            <a:srgbClr val="0041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② 3指標の相補性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550000" y="2400000"/>
            <a:ext cx="680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Bbio・Cep・Ic で熱設計・エネルギー・材料炭素を同時最適化。トレードオフを可視化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528" y="3300000"/>
            <a:ext cx="3050000" cy="800000"/>
          </a:xfrm>
          <a:prstGeom prst="rect">
            <a:avLst/>
          </a:prstGeom>
          <a:solidFill>
            <a:srgbClr val="5AA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③ 段階施行の合理性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3550000" y="3300000"/>
            <a:ext cx="680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産業界の適応・データ蓄積・政治合意の複合目的。E+C-実証2,200棟が基盤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528" y="4200000"/>
            <a:ext cx="3050000" cy="800000"/>
          </a:xfrm>
          <a:prstGeom prst="rect">
            <a:avLst/>
          </a:prstGeom>
          <a:solidFill>
            <a:srgbClr val="1254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④ 国際標準先行戦略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0000" y="4200000"/>
            <a:ext cx="6800000" cy="800000"/>
          </a:xfrm>
          <a:prstGeom prst="rect">
            <a:avLst/>
          </a:prstGeom>
          <a:solidFill>
            <a:srgbClr val="F0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0000" rIns="70000" tIns="40000" bIns="40000"/>
          <a:lstStyle/>
          <a:p>
            <a:pPr algn="l">
              <a:lnSpc>
                <a:spcPct val="122000"/>
              </a:lnSpc>
            </a:pPr>
            <a:r>
              <a:rPr sz="1300" b="0" i="0">
                <a:solidFill>
                  <a:srgbClr val="1A1A1A"/>
                </a:solidFill>
                <a:latin typeface="Noto Sans CJK JP"/>
                <a:ea typeface="Noto Sans CJK JP"/>
                <a:cs typeface="Noto Sans CJK JP"/>
              </a:rPr>
              <a:t>ISO 21391-1:2025の仏主導策定、EPBD 2024の先行モデルとして機能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Office%20Theme</Template>
  <TotalTime>1221</TotalTime>
  <Words>154</Words>
  <Application>Microsoft Macintosh PowerPoint</Application>
  <PresentationFormat>ワイド画面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Hiragino Kaku Gothic Std W3</vt:lpstr>
      <vt:lpstr>游ゴシック</vt:lpstr>
      <vt:lpstr>Arial</vt:lpstr>
      <vt:lpstr>Calibri</vt:lpstr>
      <vt:lpstr>Calibri Light</vt:lpstr>
      <vt:lpstr>Office テーマ</vt:lpstr>
      <vt:lpstr>PowerPoint プレゼンテーション</vt:lpstr>
      <vt:lpstr>Color Palette</vt:lpstr>
      <vt:lpstr>Shapes</vt:lpstr>
      <vt:lpstr>PowerPoint プレゼンテーション</vt:lpstr>
      <vt:lpstr>【調査実績サマリ】   ○○に関するSuMPO調査実績</vt:lpstr>
      <vt:lpstr>【調査結果サマリ】   サマリを1文章追記する</vt:lpstr>
      <vt:lpstr>【調査結果サマリ】   サマリを1文章追記する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KAKKAR-21</dc:creator>
  <cp:lastModifiedBy>根岸 光司</cp:lastModifiedBy>
  <cp:revision>125</cp:revision>
  <cp:lastPrinted>2020-02-21T03:07:58Z</cp:lastPrinted>
  <dcterms:created xsi:type="dcterms:W3CDTF">2019-11-29T07:02:30Z</dcterms:created>
  <dcterms:modified xsi:type="dcterms:W3CDTF">2026-06-01T07:03:44Z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0x01010066933BD81F2A764CB761560FCEB60138</vt:lpwstr>
  </property>
</Properties>
</file>