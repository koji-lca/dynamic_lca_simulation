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CLT静的+98 → 動的−171 kgCO₂eq/m³。−269の逆転が生じる。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Benoist 2009博士論文 → Solinnen 2018実務化 → E+C- 2,200棟実証 → 2022施行。10年の準備を省略しなかった。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3指標の相補性: 省エネ→断熱材増量→エンボディド炭素増加というトレードオフをIcが可視化。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集合住宅（840）が戸建（640）より高い理由: 共用設備・地下駐車場の炭素排出が大きいため。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r(t)の4指数モデルは「深海/中間層/生物圏+永続分」の物理吸収メカニズムを表現。放射強制力係数 a_x = 1.55×10⁻¹⁵ W·m⁻²·(kgCO₂)⁻¹。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Rivaton (2025) は12項目の勧告を提示。最優先はFDES拡充（No.1）とDO固定問題の解消（No.5）。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日本では静的GWP100の同じ失敗が現在進行中であり、国産CLTが「排出材」と評価されている。フランスは10年の準備を省略しなかった。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 b="1"/>
              <a:t>フランスRE2020における動的LCA
政策・技術統合調査報告書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500"/>
            </a:pPr>
            <a:r>
              <a:t>調査ブロック① 政策及び制度調査　＋　調査ブロック② 技術及び手法調査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一般社団法人サステナブル経営推進機構（SuMPO）</a:t>
            </a:r>
          </a:p>
          <a:p>
            <a:pPr>
              <a:defRPr sz="1500"/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25486"/>
                </a:solidFill>
              </a:rPr>
              <a:t>Ⅰ．なぜ動的LCAか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静的GWP100の構造的欠陥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動的LCA導入は「木材優遇」ではなく「測定ツールの誤り修正」である</a:t>
            </a:r>
          </a:p>
        </p:txBody>
      </p:sp>
      <p:pic>
        <p:nvPicPr>
          <p:cNvPr id="5" name="Picture 4" descr="fig07_module_dcf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600000"/>
            <a:ext cx="32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フランスが2022年に規制化できた4条件の収束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3300000"/>
                <a:gridCol w="3300000"/>
              </a:tblGrid>
              <a:tr h="48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必要な状態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フランスの達成時期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200"/>
                        <a:t>① 科学的基盤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査読を経た係数確立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2009年 Benoist → 2018年 Solinnen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200"/>
                        <a:t>② データ基盤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十分なFDES/EPDカバレッジ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E+C-実証（2016-2019）で整備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200"/>
                        <a:t>③ 計算ツール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実務者が使えるソフトウェア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Elodie が動的LCA計算を自動化（2018〜）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200"/>
                        <a:t>④ 政治的正当性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産業界・規制当局の合意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E+C-データ＋FCBA支持＋EUグリーンディール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g12_polic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4200000"/>
            <a:ext cx="9900000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25486"/>
                </a:solidFill>
              </a:rPr>
              <a:t>Ⅱ．フランスRE2020の制度構造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RE2020の3評価指標と炭素指標 Ic の構造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/>
              <a:t>Ic の構成式:   Ic = Ic_construction + Ic_énergie − StockC</a:t>
            </a:r>
          </a:p>
          <a:p>
            <a:pPr>
              <a:defRPr sz="1300"/>
            </a:pPr>
          </a:p>
          <a:p>
            <a:pPr lvl="1"/>
            <a:r>
              <a:rPr sz="1300"/>
              <a:t>Ic_construction: 建材・施工段階（A1-A5, B1-B5, C1-C4）の炭素排出量</a:t>
            </a:r>
          </a:p>
          <a:p>
            <a:pPr lvl="1"/>
            <a:r>
              <a:rPr sz="1300"/>
              <a:t>Ic_énergie:     運用エネルギー（B6）の炭素排出量</a:t>
            </a:r>
          </a:p>
          <a:p>
            <a:pPr lvl="1"/>
            <a:r>
              <a:rPr sz="1300"/>
              <a:t>StockC:         バイオジェニック炭素貯蔵クレジット（動的補正込み）← RE2020独自拡張</a:t>
            </a:r>
          </a:p>
          <a:p>
            <a:pPr>
              <a:defRPr sz="1300"/>
            </a:pPr>
          </a:p>
          <a:p>
            <a:pPr/>
            <a:r>
              <a:rPr sz="1300"/>
              <a:t>評価根拠: EN 15978モジュール構造（A1〜D）を採用。StockCはRE2020が追加したモジュール。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000"/>
                <a:gridCol w="2475000"/>
                <a:gridCol w="2475000"/>
                <a:gridCol w="2475000"/>
              </a:tblGrid>
              <a:tr h="47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単位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評価対象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RT2012との関係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200"/>
                        <a:t>Bbio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無次元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断熱・日照・通風設計（冷暖房需要）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基準値を約30%強化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200"/>
                        <a:t>Cep,nr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kWh/m²/yr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非再生可能一次エネルギー消費（運用段階）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継続指標</a:t>
                      </a:r>
                    </a:p>
                  </a:txBody>
                  <a:tcPr/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200"/>
                        <a:t>Ic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kgCO₂eq/m²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ライフサイクルGHG（動的LCA補正込み）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新設 ― 世界初の法定義務化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段階的施行スケジュールと Ic_construction 上限値（seuil）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200"/>
              <a:t>単位: kgCO₂eq/m²（代表値: H2b気候ゾーン・標準規模。実際は気候ゾーン・面積・階数で細分化）</a:t>
            </a:r>
          </a:p>
          <a:p>
            <a:pPr/>
            <a:r>
              <a:rPr sz="1200"/>
              <a:t>seuil値はE+C-実証2,200棟データから導出。根拠ある数値であることが産業界の合意を可能にした。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55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1100000"/>
                <a:gridCol w="1100000"/>
                <a:gridCol w="1100000"/>
                <a:gridCol w="1100000"/>
              </a:tblGrid>
              <a:tr h="4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建物種別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 1（2022）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 2（2025）
−15%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 3（2028）
−25%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 4（2031）
−30〜40%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100"/>
                        <a:t>戸建住宅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640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約545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約480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約420〜448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100"/>
                        <a:t>集合住宅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約505〜588</a:t>
                      </a:r>
                    </a:p>
                  </a:txBody>
                  <a:tcPr/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100"/>
                        <a:t>事務所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740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約630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約555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約444〜518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100"/>
                        <a:t>教育施設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約396〜462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g08_seui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1700000"/>
            <a:ext cx="42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25486"/>
                </a:solidFill>
              </a:rPr>
              <a:t>Ⅲ．動的LCAの理論的枠組み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動的特性化係数（DCF）とIPCC AR4 Bern2.5CCモデル</a:t>
            </a:r>
          </a:p>
        </p:txBody>
      </p:sp>
      <p:pic>
        <p:nvPicPr>
          <p:cNvPr id="4" name="Picture 3" descr="fig01_bern_im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800000"/>
            <a:ext cx="3100000" cy="2600000"/>
          </a:xfrm>
          <a:prstGeom prst="rect">
            <a:avLst/>
          </a:prstGeom>
        </p:spPr>
      </p:pic>
      <p:pic>
        <p:nvPicPr>
          <p:cNvPr id="5" name="Picture 4" descr="fig02_crf_dcf_relation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00" y="4500000"/>
            <a:ext cx="31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RE2020線形近似係数 0.00842 の導出と精度</a:t>
            </a:r>
          </a:p>
        </p:txBody>
      </p:sp>
      <p:pic>
        <p:nvPicPr>
          <p:cNvPr id="4" name="Picture 3" descr="fig03_dcf_re2020_vs_b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1700000"/>
            <a:ext cx="4200000" cy="3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係数は10年の段階的検証（学術→実証→実務化→法規）を経て確定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25486"/>
                </a:solidFill>
              </a:rPr>
              <a:t>Ⅳ．バイオジェニック炭素とStockC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静的 vs 動的LCA：建材評価の逆転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/>
              <a:t>逆転のメカニズム: 木材は「今固定（t=0, DCF=1.0）・50年後放出（DCF=0.58）」</a:t>
            </a:r>
          </a:p>
          <a:p>
            <a:pPr/>
            <a:r>
              <a:rPr sz="1300"/>
              <a:t>コンクリート・鉄鋼は化石由来排出のみで、時間補正の影響はほぼゼロ</a:t>
            </a:r>
          </a:p>
          <a:p>
            <a:pPr>
              <a:defRPr sz="1300"/>
            </a:pPr>
          </a:p>
          <a:p>
            <a:pPr/>
            <a:r>
              <a:rPr sz="1300"/>
              <a:t>政策的含意: 静的LCAを使い続ける限り、設計者は「木材もコンクリートも同じ」という</a:t>
            </a:r>
          </a:p>
          <a:p>
            <a:pPr/>
            <a:r>
              <a:rPr sz="1300"/>
              <a:t>誤ったシグナルを受け取る。動的LCAへの移行は補助金でなく正確な計測への移行。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60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1500000"/>
                <a:gridCol w="1500000"/>
              </a:tblGrid>
              <a:tr h="44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建材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静的LCA [kgCO₂eq/m³]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動的LCA [kgCO₂eq/m³]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変化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/>
                        <a:t>CLT（直交集成板）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+98（排出）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−171（吸収）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−269 逆転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/>
                        <a:t>製材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+65（排出）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−115（吸収）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−180 逆転</a:t>
                      </a:r>
                    </a:p>
                  </a:txBody>
                  <a:tcPr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/>
                        <a:t>RC造コンクリート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+300前後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+295前後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ほぼ不変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200"/>
                        <a:t>構造用鋼材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+550前後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+548前後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ほぼ不変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g04_wood_gw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3900000"/>
            <a:ext cx="3600000" cy="27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StockC 算定フロー（数値例：CLT 1 m³、耐用年数50年）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/>
              <a:t>算定手順:</a:t>
            </a:r>
          </a:p>
          <a:p>
            <a:pPr lvl="1"/>
            <a:r>
              <a:rPr sz="1400"/>
              <a:t>① 建材 i のバイオジェニック炭素量 B_i [kgCO₂eq/m³] をFICES/INIESデータから取得</a:t>
            </a:r>
          </a:p>
          <a:p>
            <a:pPr lvl="1"/>
            <a:r>
              <a:rPr sz="1400"/>
              <a:t>② A1-A3（t=0）固定量:  −B_i × DCF(0)   = −B_i × 1.000</a:t>
            </a:r>
          </a:p>
          <a:p>
            <a:pPr lvl="1"/>
            <a:r>
              <a:rPr sz="1400"/>
              <a:t>③ C段階（t=t_EoL）放出: +B_i × DCF(t_EoL) = +B_i × 0.580（t_EoL=50年）</a:t>
            </a:r>
          </a:p>
          <a:p>
            <a:pPr lvl="1"/>
            <a:r>
              <a:rPr sz="1400"/>
              <a:t>④ 正味 StockC_i = B_i × [DCF(t_EoL) − 1] = B_i × (0.580 − 1.000) = −0.420 × B_i</a:t>
            </a:r>
          </a:p>
          <a:p>
            <a:pPr lvl="1"/>
            <a:r>
              <a:rPr sz="1400"/>
              <a:t>⑤ 建物全体: StockC = Σ StockC_i</a:t>
            </a:r>
          </a:p>
          <a:p>
            <a:pPr>
              <a:defRPr sz="1400"/>
            </a:pPr>
          </a:p>
          <a:p>
            <a:pPr/>
            <a:r>
              <a:rPr sz="1400"/>
              <a:t>数値例（CLT 1 m³、B_i = 269 kgCO₂eq）: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4500000"/>
          <a:ext cx="99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980000"/>
                <a:gridCol w="1980000"/>
                <a:gridCol w="1980000"/>
                <a:gridCol w="1980000"/>
              </a:tblGrid>
              <a:tr h="4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炭素フロー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タイミング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炭素量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DCF係数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補正後GHG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バイオジェニック炭素固定 A1-A3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t=0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−269 kgCO₂eq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1.000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−269 kgCO₂eq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解体焼却時の炭素放出 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t=50年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+269 kgCO₂eq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+156 kgCO₂eq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正味 StockC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−113 kgCO₂eq/m³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10_biogenic_carb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900000"/>
            <a:ext cx="3200000" cy="2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SFM前提（持続可能な森林管理＝FSC/PEFC認証）が成立することがStockCクレジットの前提条件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評価期間 DO=100年 の選択根拠と批判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/>
              <a:t>RE2020が100年を選んだ理由: GWP100との整合性・Levasseur(2010)準拠・産業界への説明容易性</a:t>
            </a:r>
          </a:p>
          <a:p>
            <a:pPr>
              <a:defRPr sz="1300"/>
            </a:pPr>
          </a:p>
          <a:p>
            <a:pPr/>
            <a:r>
              <a:rPr sz="1300"/>
              <a:t>Ventura &amp; Feraille (2021) の批判:</a:t>
            </a:r>
          </a:p>
          <a:p>
            <a:pPr lvl="1"/>
            <a:r>
              <a:rPr sz="1300"/>
              <a:t>t=50年の排出を0.58で評価するが、物理的に正確な値は0.72 → 約24%の過大評価</a:t>
            </a:r>
          </a:p>
          <a:p>
            <a:pPr lvl="1"/>
            <a:r>
              <a:rPr sz="1300"/>
              <a:t>t=75年超では〜53%の過大評価（0.580固定が原因）</a:t>
            </a:r>
          </a:p>
          <a:p>
            <a:pPr>
              <a:defRPr sz="1300"/>
            </a:pPr>
          </a:p>
          <a:p>
            <a:pPr/>
            <a:r>
              <a:rPr sz="1300"/>
              <a:t>ISO 21391-1:2025（フランス主導策定）: 変動DO方式（各排出フローに応じた可変DO）を採用。</a:t>
            </a:r>
          </a:p>
          <a:p>
            <a:pPr/>
            <a:r>
              <a:rPr sz="1300"/>
              <a:t>フランスは2028年フェーズ3でISO 21391-1方式への移行を検討中（Rivaton 勧告 No.5）。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62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000"/>
                <a:gridCol w="1550000"/>
                <a:gridCol w="1550000"/>
                <a:gridCol w="1550000"/>
              </a:tblGrid>
              <a:tr h="4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DO（観測期間）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t=50年放出の係数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木材への有利性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備考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00"/>
                        <a:t>50年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0.000（期間外）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最大（放出が評価外）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00"/>
                        <a:t>100年（RE2020）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中程度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IPCCのGWP100と整合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00"/>
                        <a:t>150年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0.721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低め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/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00"/>
                        <a:t>∞（静的LCA相当）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ゼロ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動的補正なし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g09_time_horiz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700000"/>
            <a:ext cx="34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25486"/>
                </a:solidFill>
              </a:rPr>
              <a:t>Ⅴ．算定エコシステム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フランスの算定エコシステム：三層構造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3300000"/>
                <a:gridCol w="3300000"/>
              </a:tblGrid>
              <a:tr h="8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層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主要要素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概要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r>
                        <a:rPr sz="1100"/>
                        <a:t>第1層
データベース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INIES / FDES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中央データポータル（約5,500件）。建材メーカーが作成するフランス版EPD。
バイオジェニック炭素データを含む（一部）。FDES不在時はデフォルト値（保守的）を使用。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r>
                        <a:rPr sz="1100"/>
                        <a:t>第2層
計算ソフト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Elodie（CSTB開発・無償）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シェア80%超。INIESからFDESを直接インポートし、Ic計算・StockC算定を自動化。
DHUP認定の申請書類（PDF）を生成。BIM連携（IFC）も一部対応。</a:t>
                      </a:r>
                    </a:p>
                  </a:txBody>
                  <a:tcPr/>
                </a:tc>
              </a:tr>
              <a:tr h="850000">
                <a:tc>
                  <a:txBody>
                    <a:bodyPr/>
                    <a:lstStyle/>
                    <a:p>
                      <a:r>
                        <a:rPr sz="1100"/>
                        <a:t>第3層
申請・認証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建築確認申請＋認証機関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Elodie出力PDFを申請書類に添付（法的義務）。Cerqual・Bureau Veritasが審査。
任意認証：BBCA（Ic≦seuil×0.70）、NF HQE等。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ハイブリッド設計：静的LCA×動的係数のモジュール別適用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3500000"/>
          <a:ext cx="990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000"/>
                <a:gridCol w="2475000"/>
                <a:gridCol w="2475000"/>
                <a:gridCol w="2475000"/>
              </a:tblGrid>
              <a:tr h="4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モジュール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t_m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F_RE2020(t)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A1-A3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製品段階（製造・輸送）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0年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1.000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B1-B5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使用段階（保守・修繕・改修）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0.790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C1-C4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廃棄段階（解体・最終処分）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50年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0.580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D（任意）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再利用・エネルギー回収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50年超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Ic除外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200"/>
                        <a:t>StockC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バイオジェニック炭素クレジット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−0.42×B_i（正味）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ハイブリッド設計の合理性: 既存の静的EPDインフラを流用し、動的LCI整備コストを最小化しながら補正を実現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Ic値の開示フローと利活用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Ic値は建築確認書類→金融評価→EU規制対応まで一貫して参照される「炭素パスポート」として機能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25486"/>
                </a:solidFill>
              </a:rPr>
              <a:t>Ⅵ．課題・現行制度の限界・日本への示唆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RE2020の構造的限界とRivaton (2025) 主要勧告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000"/>
                <a:gridCol w="2475000"/>
                <a:gridCol w="2475000"/>
                <a:gridCol w="2475000"/>
              </a:tblGrid>
              <a:tr h="7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課題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深刻度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対処（2028年以降）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000"/>
                        <a:t>DO固定による過大評価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t=50年の排出を0.58評価（物理的正確値0.72）→24%過大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中（方向性は正しい）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ISO 21391-1（変動DO）への移行（勧告No.5）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000"/>
                        <a:t>FDESカバレッジ不足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デフォルト値依存が慢性化。設計者間のIc値ばらつき大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2027年までに約10,000件に倍増（勧告No.1）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000"/>
                        <a:t>Dモジュール除外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再利用・リサイクルの炭素便益がIcに反映されずサーキュラー設計の誘因が弱い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部分的Ic組み込みを2028年から試験実施（勧告No.10）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000"/>
                        <a:t>SFM前提の脆弱性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非認証材・気候変動による森林劣化でクレジット根拠が崩れるリスク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高（長期）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FSC/PEFC認証強化（勧告No.7・8）</a:t>
                      </a:r>
                    </a:p>
                  </a:txBody>
                  <a:tcPr/>
                </a:tc>
              </a:tr>
              <a:tr h="700000">
                <a:tc>
                  <a:txBody>
                    <a:bodyPr/>
                    <a:lstStyle/>
                    <a:p>
                      <a:r>
                        <a:rPr sz="1000"/>
                        <a:t>AR4→AR6更新未対応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a₀: 0.217→0.200、τ₁: 172.9→394.4年。係数値が若干変化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低（方法論的正当性は維持）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2028年フェーズ3でAR6パラメータ更新（勧告No.9）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国際的位置づけ：ISO / EPBD / Level(s)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3300000"/>
                <a:gridCol w="3300000"/>
              </a:tblGrid>
              <a:tr h="8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枠組み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RE2020との関係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ステータス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sz="1000"/>
                        <a:t>ISO 21391-1:2025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動的バイオジェニック炭素評価の初の国際規格。フランス(AFNOR)主導で策定。
RE2020の科学的アプローチを非線形DCFで精緻化した「国際昇華版」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2025年成立
JIS化検討が必要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sz="1000"/>
                        <a:t>EPBD 2024（EU建物エネルギー指令改正）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2030年以降の全EU新築建物にWLC（ライフサイクル炭素）開示義務。
RE2020がEU全域義務化のモデルケースとして明示的に参照される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2024年5月成立
EU全加盟国で法制化作業中</a:t>
                      </a:r>
                    </a:p>
                  </a:txBody>
                  <a:tcPr/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sz="1000"/>
                        <a:t>Level(s)（EU共通持続可能性指標）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指標6（ライフサイクルGWP）がRE2020のIc指標に直接対応。
EN 15978準拠の静的LCA指向だが、フランス動的LCA手法の組み込みを議論中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改訂議論中
動的LCA対応の方向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sz="1000"/>
                        <a:t>EN 15804+A2（建材EPD規格）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−1/+1アプローチ（正味ゼロ）が基本。RE2020のStockCとは哲学的相違。
CERIB（コンクリート産業）はこの矛盾を「非整合性」として批判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改訂交渉中
動的評価の組み込みが焦点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0000" y="56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6C00"/>
                </a:solidFill>
              </a:rPr>
              <a:t>「先に制度を持つ国が国際規格を書く」— フランスは ISO 21391-1 策定でこの戦略を実現した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125486"/>
                </a:solidFill>
              </a:rPr>
              <a:t>日本への示唆：優先課題と現状ギャップ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700000"/>
          <a:ext cx="9900000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000"/>
                <a:gridCol w="2475000"/>
                <a:gridCol w="2475000"/>
                <a:gridCol w="2475000"/>
              </a:tblGrid>
              <a:tr h="9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優先課題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フランスの教訓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日本の現状（2026年）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推奨アクション</a:t>
                      </a:r>
                    </a:p>
                  </a:txBody>
                  <a:tcPr>
                    <a:solidFill>
                      <a:srgbClr val="494D51"/>
                    </a:solidFill>
                  </a:tcPr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sz="1000"/>
                        <a:t>① 時間地平の合意
（DO設定）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DO=100年固定は後に24%過大評価問題を招いた。
最初から変動DO（ISO 21391-1）採用が望ましい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DO設定に関する合意なし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ISO 21391-1:2025のJIS化着手。
利害関係者間の合意形成が最初のステップ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sz="1000"/>
                        <a:t>② データ基盤整備
（時系列炭素フロー）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FDESカバレッジ不足でデフォルト値依存が慢性化。
データ基盤は規制化に先行して整備すべき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IDEAに時系列炭素フローデータなし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IDEAへの排出タイミング情報追加。
国産CLT・製材のFDES相当データを優先整備</a:t>
                      </a:r>
                    </a:p>
                  </a:txBody>
                  <a:tcPr/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sz="1000"/>
                        <a:t>③ 実証プログラム先行
（E+C-相当）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10年・2,200棟の実証なしに規制化せず。
証拠基盤なき規制化は反発・混乱を招く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動的LCA実証プログラムなし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CASBEE改訂とセットで300〜500棟規模の
パイロットプログラムを5年計画で設計</a:t>
                      </a:r>
                    </a:p>
                  </a:txBody>
                  <a:tcPr>
                    <a:solidFill>
                      <a:srgbClr val="C5C9CD"/>
                    </a:solidFill>
                  </a:tcPr>
                </a:tc>
              </a:tr>
              <a:tr h="960000">
                <a:tc>
                  <a:txBody>
                    <a:bodyPr/>
                    <a:lstStyle/>
                    <a:p>
                      <a:r>
                        <a:rPr sz="1000"/>
                        <a:t>④ 計算ツール整備
（Elodie相当）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Elodie無償提供が導入障壁を大幅に低減。
ツールなしでは動的LCAは机上論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動的LCA対応の国産ツールなし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IDEA-BIM等に動的LCA機能追加。
国産建材のStockC自動算定機能の開発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