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3" r:id="rId15"/>
    <p:sldId id="269" r:id="rId16"/>
    <p:sldId id="292" r:id="rId17"/>
    <p:sldId id="270" r:id="rId18"/>
    <p:sldId id="271" r:id="rId19"/>
    <p:sldId id="272" r:id="rId20"/>
    <p:sldId id="291" r:id="rId21"/>
    <p:sldId id="290" r:id="rId22"/>
    <p:sldId id="273" r:id="rId23"/>
    <p:sldId id="289" r:id="rId24"/>
    <p:sldId id="274" r:id="rId25"/>
    <p:sldId id="275" r:id="rId26"/>
    <p:sldId id="276" r:id="rId27"/>
    <p:sldId id="277" r:id="rId28"/>
    <p:sldId id="288" r:id="rId29"/>
    <p:sldId id="278" r:id="rId30"/>
    <p:sldId id="279" r:id="rId31"/>
    <p:sldId id="280" r:id="rId32"/>
    <p:sldId id="287" r:id="rId33"/>
    <p:sldId id="281" r:id="rId34"/>
    <p:sldId id="282" r:id="rId35"/>
    <p:sldId id="283" r:id="rId36"/>
    <p:sldId id="284" r:id="rId37"/>
    <p:sldId id="285" r:id="rId38"/>
    <p:sldId id="294" r:id="rId39"/>
    <p:sldId id="286" r:id="rId40"/>
  </p:sldIdLst>
  <p:sldSz cx="10691813" cy="7559675"/>
  <p:notesSz cx="6858000" cy="9144000"/>
  <p:defaultTextStyle>
    <a:defPPr>
      <a:defRPr lang="ja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3"/>
    <p:restoredTop sz="94688"/>
  </p:normalViewPr>
  <p:slideViewPr>
    <p:cSldViewPr snapToGrid="0">
      <p:cViewPr varScale="1">
        <p:scale>
          <a:sx n="113" d="100"/>
          <a:sy n="113" d="100"/>
        </p:scale>
        <p:origin x="14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CB7F64A-8C42-F23D-D097-4B3EE8B24CE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2E6F7D04-8F56-CD64-BFCD-F14E41EEB8E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4" name="スライド番号プレースホルダー 4">
            <a:extLst>
              <a:ext uri="{FF2B5EF4-FFF2-40B4-BE49-F238E27FC236}">
                <a16:creationId xmlns:a16="http://schemas.microsoft.com/office/drawing/2014/main" id="{4B2C9048-3CFF-BB2E-975E-0870AE2D895E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1708C4-0D70-2A4C-BC1F-5D3A25B5927A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51342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B3E2819-15E5-1A71-6EFE-808AC8B9F8F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874EB0-160C-67CE-6359-880E7FCE0C4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5BCBEECA-5209-B044-B147-1673C62B355A}" type="datetime1">
              <a:rPr lang="en-US"/>
              <a:pPr lvl="0"/>
              <a:t>6/19/26</a:t>
            </a:fld>
            <a:endParaRPr 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5EE16A9D-61E6-5284-5944-5A0EAF71A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6190" y="1143000"/>
            <a:ext cx="4365629" cy="30861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EABD5A5-3198-52EC-CF38-0FFCB24BC5E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EB6756-D48B-4F59-A3B8-7AAE24A8BC4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3A7EC3-3B22-E725-ED7C-5CE28A6FEE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B49AF10F-6C39-B848-B527-783F26C3383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9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1pPr>
    <a:lvl2pPr marL="497753" marR="0" lvl="1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2pPr>
    <a:lvl3pPr marL="995507" marR="0" lvl="2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3pPr>
    <a:lvl4pPr marL="1493260" marR="0" lvl="3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4pPr>
    <a:lvl5pPr marL="1991014" marR="0" lvl="4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5">
            <a:extLst>
              <a:ext uri="{FF2B5EF4-FFF2-40B4-BE49-F238E27FC236}">
                <a16:creationId xmlns:a16="http://schemas.microsoft.com/office/drawing/2014/main" id="{00DFD775-92BB-E6B5-0624-3AE0E5FA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0"/>
            <a:ext cx="10679012" cy="75543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2E5D412-069E-3478-FA61-023D85CE8D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1883" y="3132670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7D8396E-022C-EAEC-A749-2D67E3CD92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36477" y="3970580"/>
            <a:ext cx="8018858" cy="402482"/>
          </a:xfrm>
        </p:spPr>
        <p:txBody>
          <a:bodyPr anchorCtr="1"/>
          <a:lstStyle>
            <a:lvl1pPr marL="0" indent="0" algn="ctr">
              <a:buNone/>
              <a:defRPr lang="en-US" sz="2400"/>
            </a:lvl1pPr>
          </a:lstStyle>
          <a:p>
            <a:pPr lvl="0"/>
            <a:r>
              <a:rPr lang="en-US"/>
              <a:t>2026.00.00</a:t>
            </a:r>
          </a:p>
        </p:txBody>
      </p:sp>
      <p:sp>
        <p:nvSpPr>
          <p:cNvPr id="5" name="正方形/長方形 8">
            <a:extLst>
              <a:ext uri="{FF2B5EF4-FFF2-40B4-BE49-F238E27FC236}">
                <a16:creationId xmlns:a16="http://schemas.microsoft.com/office/drawing/2014/main" id="{E234C807-F569-8D78-AD27-C10A8C7872D9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6" name="直線コネクタ 9">
            <a:extLst>
              <a:ext uri="{FF2B5EF4-FFF2-40B4-BE49-F238E27FC236}">
                <a16:creationId xmlns:a16="http://schemas.microsoft.com/office/drawing/2014/main" id="{4F4B76E2-360E-DDF7-FE4D-2D6047E9B643}"/>
              </a:ext>
            </a:extLst>
          </p:cNvPr>
          <p:cNvCxnSpPr/>
          <p:nvPr/>
        </p:nvCxnSpPr>
        <p:spPr>
          <a:xfrm>
            <a:off x="-18470" y="7166518"/>
            <a:ext cx="1069199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EF689ACB-A9D4-1D04-838C-CC2834123A7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pic>
        <p:nvPicPr>
          <p:cNvPr id="8" name="図 14">
            <a:extLst>
              <a:ext uri="{FF2B5EF4-FFF2-40B4-BE49-F238E27FC236}">
                <a16:creationId xmlns:a16="http://schemas.microsoft.com/office/drawing/2014/main" id="{9AA4B207-D3AE-090E-9747-03CEE615A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336" y="99468"/>
            <a:ext cx="2908304" cy="17779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正方形/長方形 15">
            <a:extLst>
              <a:ext uri="{FF2B5EF4-FFF2-40B4-BE49-F238E27FC236}">
                <a16:creationId xmlns:a16="http://schemas.microsoft.com/office/drawing/2014/main" id="{9E15BC65-8EB9-9393-F4FC-8178E9F58EA7}"/>
              </a:ext>
            </a:extLst>
          </p:cNvPr>
          <p:cNvSpPr/>
          <p:nvPr/>
        </p:nvSpPr>
        <p:spPr>
          <a:xfrm>
            <a:off x="3885404" y="378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正方形/長方形 16">
            <a:extLst>
              <a:ext uri="{FF2B5EF4-FFF2-40B4-BE49-F238E27FC236}">
                <a16:creationId xmlns:a16="http://schemas.microsoft.com/office/drawing/2014/main" id="{A9FF4FC7-202A-E8F7-6D0B-FFFB317FE180}"/>
              </a:ext>
            </a:extLst>
          </p:cNvPr>
          <p:cNvSpPr/>
          <p:nvPr/>
        </p:nvSpPr>
        <p:spPr>
          <a:xfrm>
            <a:off x="4605403" y="378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正方形/長方形 17">
            <a:extLst>
              <a:ext uri="{FF2B5EF4-FFF2-40B4-BE49-F238E27FC236}">
                <a16:creationId xmlns:a16="http://schemas.microsoft.com/office/drawing/2014/main" id="{957F8504-4F93-19E9-3EB5-4955FF3B6C95}"/>
              </a:ext>
            </a:extLst>
          </p:cNvPr>
          <p:cNvSpPr/>
          <p:nvPr/>
        </p:nvSpPr>
        <p:spPr>
          <a:xfrm>
            <a:off x="5325401" y="378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正方形/長方形 18">
            <a:extLst>
              <a:ext uri="{FF2B5EF4-FFF2-40B4-BE49-F238E27FC236}">
                <a16:creationId xmlns:a16="http://schemas.microsoft.com/office/drawing/2014/main" id="{1BF164A5-5F14-9707-AF41-3077187EC645}"/>
              </a:ext>
            </a:extLst>
          </p:cNvPr>
          <p:cNvSpPr/>
          <p:nvPr/>
        </p:nvSpPr>
        <p:spPr>
          <a:xfrm>
            <a:off x="6045409" y="378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3ACDDA9B-3767-2073-AB98-31F31C17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639" y="5481123"/>
            <a:ext cx="5514536" cy="111755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図 20">
            <a:extLst>
              <a:ext uri="{FF2B5EF4-FFF2-40B4-BE49-F238E27FC236}">
                <a16:creationId xmlns:a16="http://schemas.microsoft.com/office/drawing/2014/main" id="{94BF1B61-FD64-B485-CE6A-D7053DF6D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837" y="5687055"/>
            <a:ext cx="699845" cy="8106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図 21">
            <a:extLst>
              <a:ext uri="{FF2B5EF4-FFF2-40B4-BE49-F238E27FC236}">
                <a16:creationId xmlns:a16="http://schemas.microsoft.com/office/drawing/2014/main" id="{F2F7E7B9-B82D-7573-7861-B43BDB1AD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969" y="6271394"/>
            <a:ext cx="3938137" cy="2443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389260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見出し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1">
            <a:extLst>
              <a:ext uri="{FF2B5EF4-FFF2-40B4-BE49-F238E27FC236}">
                <a16:creationId xmlns:a16="http://schemas.microsoft.com/office/drawing/2014/main" id="{5C055667-FF3F-A6D2-BC77-F96F2CDAC7A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1CE64156-C7D9-C1F4-23D2-EB54DD509E8A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595A7E94-BB0C-E096-4FAF-69783B99C3E3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9">
            <a:extLst>
              <a:ext uri="{FF2B5EF4-FFF2-40B4-BE49-F238E27FC236}">
                <a16:creationId xmlns:a16="http://schemas.microsoft.com/office/drawing/2014/main" id="{9EBFF0C2-6EBE-33F0-9B20-890B97C55AC8}"/>
              </a:ext>
            </a:extLst>
          </p:cNvPr>
          <p:cNvSpPr/>
          <p:nvPr/>
        </p:nvSpPr>
        <p:spPr>
          <a:xfrm>
            <a:off x="2106000" y="3600001"/>
            <a:ext cx="7200003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0">
            <a:extLst>
              <a:ext uri="{FF2B5EF4-FFF2-40B4-BE49-F238E27FC236}">
                <a16:creationId xmlns:a16="http://schemas.microsoft.com/office/drawing/2014/main" id="{84BE7162-FE6E-5B4B-2678-4DBB54DDE78D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7" name="直線コネクタ 22">
            <a:extLst>
              <a:ext uri="{FF2B5EF4-FFF2-40B4-BE49-F238E27FC236}">
                <a16:creationId xmlns:a16="http://schemas.microsoft.com/office/drawing/2014/main" id="{2853C88F-AC5A-A21C-4AE8-A2348C622629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FEDBDF8-C21B-8651-834C-E661C7D90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AF77E20-5376-7FBE-3404-653442A724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C2E31E-EC1D-2B77-7AE6-A69951739B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E6A15C84-9E99-F84A-9F32-30BD8DF16F2E}" type="slidenum">
              <a:t>‹#›</a:t>
            </a:fld>
            <a:endParaRPr lang="en-US"/>
          </a:p>
        </p:txBody>
      </p:sp>
      <p:pic>
        <p:nvPicPr>
          <p:cNvPr id="11" name="図 13">
            <a:extLst>
              <a:ext uri="{FF2B5EF4-FFF2-40B4-BE49-F238E27FC236}">
                <a16:creationId xmlns:a16="http://schemas.microsoft.com/office/drawing/2014/main" id="{F0B7AA26-07FF-2486-968C-6B18BF0E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114A61AB-3A8B-4340-E926-00F124F5643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75293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20">
            <a:extLst>
              <a:ext uri="{FF2B5EF4-FFF2-40B4-BE49-F238E27FC236}">
                <a16:creationId xmlns:a16="http://schemas.microsoft.com/office/drawing/2014/main" id="{0C70FEB0-BB23-F061-C82C-76923D61098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9">
            <a:extLst>
              <a:ext uri="{FF2B5EF4-FFF2-40B4-BE49-F238E27FC236}">
                <a16:creationId xmlns:a16="http://schemas.microsoft.com/office/drawing/2014/main" id="{B9EEE9E5-5775-AFA2-CA62-0DB27641D35B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529EC-D259-6FE0-7A61-E061462AA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451834-AB87-829B-2B85-7C4A91514A3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pic>
        <p:nvPicPr>
          <p:cNvPr id="6" name="図 12">
            <a:extLst>
              <a:ext uri="{FF2B5EF4-FFF2-40B4-BE49-F238E27FC236}">
                <a16:creationId xmlns:a16="http://schemas.microsoft.com/office/drawing/2014/main" id="{254328DF-D719-8663-BC31-4DA264E3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正方形/長方形 15">
            <a:extLst>
              <a:ext uri="{FF2B5EF4-FFF2-40B4-BE49-F238E27FC236}">
                <a16:creationId xmlns:a16="http://schemas.microsoft.com/office/drawing/2014/main" id="{A39FAFF1-2227-FA9D-2DBB-0197937E9351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16">
            <a:extLst>
              <a:ext uri="{FF2B5EF4-FFF2-40B4-BE49-F238E27FC236}">
                <a16:creationId xmlns:a16="http://schemas.microsoft.com/office/drawing/2014/main" id="{B986A065-693B-989C-D8F1-F7CFAE55DF00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17">
            <a:extLst>
              <a:ext uri="{FF2B5EF4-FFF2-40B4-BE49-F238E27FC236}">
                <a16:creationId xmlns:a16="http://schemas.microsoft.com/office/drawing/2014/main" id="{E31B1BB8-371F-ABDD-429C-FAE7B3DFA146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10" name="直線コネクタ 8">
            <a:extLst>
              <a:ext uri="{FF2B5EF4-FFF2-40B4-BE49-F238E27FC236}">
                <a16:creationId xmlns:a16="http://schemas.microsoft.com/office/drawing/2014/main" id="{02398B39-7927-3FAD-F9F2-A7CFA73F050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7FC1E9"/>
            </a:solidFill>
            <a:prstDash val="solid"/>
            <a:miter/>
          </a:ln>
        </p:spPr>
      </p:cxnSp>
      <p:cxnSp>
        <p:nvCxnSpPr>
          <p:cNvPr id="11" name="直線コネクタ 21">
            <a:extLst>
              <a:ext uri="{FF2B5EF4-FFF2-40B4-BE49-F238E27FC236}">
                <a16:creationId xmlns:a16="http://schemas.microsoft.com/office/drawing/2014/main" id="{2D2FB5DB-FC49-637F-F7BB-6B240658A767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7E8F7A-89D9-AA3C-32CF-1C4BA18A8E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C9440C4-B12E-3B43-A1C7-6D65757BCCCE}" type="slidenum">
              <a:t>‹#›</a:t>
            </a:fld>
            <a:endParaRPr lang="en-US"/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75AD77BE-7B72-625B-D638-067DDB49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5D2D8985-C6C2-E089-94A2-993E71C059B4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8092138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見出し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D737C941-8340-805C-E2FC-FDE9CDBE978C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8E162812-4B4C-45EC-A6A7-EEB73F7C076C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A87B75DB-D201-322A-1039-B4C3DC738CD4}"/>
              </a:ext>
            </a:extLst>
          </p:cNvPr>
          <p:cNvSpPr/>
          <p:nvPr/>
        </p:nvSpPr>
        <p:spPr>
          <a:xfrm>
            <a:off x="666003" y="3600001"/>
            <a:ext cx="7200003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7C7F3183-9DC4-0454-FA0C-ADF08DE8FC19}"/>
              </a:ext>
            </a:extLst>
          </p:cNvPr>
          <p:cNvSpPr/>
          <p:nvPr/>
        </p:nvSpPr>
        <p:spPr>
          <a:xfrm>
            <a:off x="7865815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BE2512E6-6095-7B8B-78DE-CE8F66E77D48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648C6C3-319C-DBEB-7AC2-9806AFE09823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434057-A8E4-AA0E-92B0-3BCE4561F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5C253A8-C666-AF30-8865-70DEA504763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1F7FDD-263E-DEC6-03B7-7FBD57AFC5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6CB24ED0-999C-FA4B-A574-35DA35442F87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B2EA4662-7861-1D21-B499-105C8C8E4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AE299CCE-656B-5D61-7ABD-17E9FA404EFF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64350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3E5BFDC3-D231-CD27-D97D-5AC0E97BC0AA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93D8A-5CD3-B489-34E8-74FAED79D5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63661C5A-934F-9232-121C-C866CDB9104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6D47856A-2FDF-E0A5-FD18-95420F2B5A35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185ABE00-7578-A98A-7C51-6F7E96F6BACB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F8A120AD-6007-A81C-D9CC-09E75BE18372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A501AB16-AD01-DE9F-3BD8-FD13497C03BD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097650C1-ECBE-78A3-4BDD-4C0A6F6BC0E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EF9B86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FF8012E-CBB7-27D4-8F33-9E10BDF8F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126766B6-139E-377A-5F57-C1D2A7CF2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07F548-19D3-7AF8-E987-31B082CA61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58B1DF8-205D-8442-846A-336D324D003F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8EAE1946-BC42-512C-5B53-66C90197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054DABCD-2DD1-6754-6224-EE65F688F8B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4663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見出し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2">
            <a:extLst>
              <a:ext uri="{FF2B5EF4-FFF2-40B4-BE49-F238E27FC236}">
                <a16:creationId xmlns:a16="http://schemas.microsoft.com/office/drawing/2014/main" id="{0AC44670-59C5-118F-09C0-13E1013BADC0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638FDF16-444E-F7B0-4C82-B354C69342E0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8">
            <a:extLst>
              <a:ext uri="{FF2B5EF4-FFF2-40B4-BE49-F238E27FC236}">
                <a16:creationId xmlns:a16="http://schemas.microsoft.com/office/drawing/2014/main" id="{F09DEF46-456E-073B-CCE0-E7BCF7E60F59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9">
            <a:extLst>
              <a:ext uri="{FF2B5EF4-FFF2-40B4-BE49-F238E27FC236}">
                <a16:creationId xmlns:a16="http://schemas.microsoft.com/office/drawing/2014/main" id="{E034D930-53ED-7AB1-553F-40A4C13ACF55}"/>
              </a:ext>
            </a:extLst>
          </p:cNvPr>
          <p:cNvSpPr/>
          <p:nvPr/>
        </p:nvSpPr>
        <p:spPr>
          <a:xfrm>
            <a:off x="1386001" y="3600001"/>
            <a:ext cx="7200003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7E29FAA-A7BA-82B6-848C-317871A9A312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1">
            <a:extLst>
              <a:ext uri="{FF2B5EF4-FFF2-40B4-BE49-F238E27FC236}">
                <a16:creationId xmlns:a16="http://schemas.microsoft.com/office/drawing/2014/main" id="{E7D4FB5F-A735-42F1-E51A-0172A714BDA4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05C94E-06B4-91A5-F199-60561F407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688ACD0-C4A2-7A06-5793-758767BA1B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B6F54BB-5223-3D71-BBD0-E70A960B23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14B42BB4-DF6D-DD46-B6C0-55E5AE9A0BAF}" type="slidenum">
              <a:t>‹#›</a:t>
            </a:fld>
            <a:endParaRPr lang="en-US"/>
          </a:p>
        </p:txBody>
      </p:sp>
      <p:pic>
        <p:nvPicPr>
          <p:cNvPr id="11" name="図 14">
            <a:extLst>
              <a:ext uri="{FF2B5EF4-FFF2-40B4-BE49-F238E27FC236}">
                <a16:creationId xmlns:a16="http://schemas.microsoft.com/office/drawing/2014/main" id="{6ECC769D-1A52-7F1D-4E7C-678D1666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BECF958-01B5-5507-725A-CBBC7DCBE617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39532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タイトルとコンテンツ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660CB1BF-6AA6-86C2-296A-29C6A6503787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06437-7BB9-1C30-57BB-633455F678A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7D35736C-2A65-DA57-92C4-7DE8D7D65EC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CF9774FE-8A34-3B4C-9530-5D03D58FA0B1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FBD13E"/>
            </a:solidFill>
            <a:prstDash val="solid"/>
            <a:miter/>
          </a:ln>
        </p:spPr>
      </p:cxn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CDA631B-C71A-693B-01EF-29ABCB17FCEE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30">
            <a:extLst>
              <a:ext uri="{FF2B5EF4-FFF2-40B4-BE49-F238E27FC236}">
                <a16:creationId xmlns:a16="http://schemas.microsoft.com/office/drawing/2014/main" id="{1CCD2D0F-B1CC-2452-283E-87024A5696A9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31">
            <a:extLst>
              <a:ext uri="{FF2B5EF4-FFF2-40B4-BE49-F238E27FC236}">
                <a16:creationId xmlns:a16="http://schemas.microsoft.com/office/drawing/2014/main" id="{F8A86C24-62C4-E53C-6E90-1E299C24E9AF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32">
            <a:extLst>
              <a:ext uri="{FF2B5EF4-FFF2-40B4-BE49-F238E27FC236}">
                <a16:creationId xmlns:a16="http://schemas.microsoft.com/office/drawing/2014/main" id="{0C2D7AAC-C2D6-0652-8123-C757CAC24A98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38CAA4-DC42-9839-E021-F40BEB1F1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5F835099-F6B0-3B7E-3466-3AD3F3162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216A5D1-FA66-7D20-68B4-AFED86D995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69F36D1-5BAD-4045-B7CE-54E3857C8555}" type="slidenum">
              <a:t>‹#›</a:t>
            </a:fld>
            <a:endParaRPr lang="en-US"/>
          </a:p>
        </p:txBody>
      </p:sp>
      <p:pic>
        <p:nvPicPr>
          <p:cNvPr id="13" name="図 22">
            <a:extLst>
              <a:ext uri="{FF2B5EF4-FFF2-40B4-BE49-F238E27FC236}">
                <a16:creationId xmlns:a16="http://schemas.microsoft.com/office/drawing/2014/main" id="{CC2E54AB-C0B9-2D43-6EA0-D20EAA287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7E5230E8-E9DA-2902-4B9A-A7C22C457293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0162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見出し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A0BBB0A7-1268-58A4-AE30-311E375B4862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12A8B6B4-3500-C99D-C3AD-507026CC4F5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529F83BB-F53A-1D89-6292-D26F8EDFBC6E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60920373-5EDE-A216-8A67-FABE22CAAA38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087D90BB-4DB6-DB0D-B4BF-2CB67A7B025E}"/>
              </a:ext>
            </a:extLst>
          </p:cNvPr>
          <p:cNvSpPr/>
          <p:nvPr/>
        </p:nvSpPr>
        <p:spPr>
          <a:xfrm>
            <a:off x="2106000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75BD476-2392-0A14-1B15-FC8DB1D109FD}"/>
              </a:ext>
            </a:extLst>
          </p:cNvPr>
          <p:cNvSpPr/>
          <p:nvPr/>
        </p:nvSpPr>
        <p:spPr>
          <a:xfrm>
            <a:off x="2825998" y="3600001"/>
            <a:ext cx="7200003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F4A9DB-358F-2508-9062-0CCCAD14A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136E5E6-A9DF-F21E-8CBC-BA7EF75D631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7383AC-38B2-02F0-A94E-39A9DA924C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45FB087-3075-514E-BD00-C91A3BA8C070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8BDC95A1-4088-1888-66A5-CA9CADE89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83E128C5-B258-14B6-D9E9-40DDAB0AA88D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213708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7A091449-DD3A-4C7B-FE8D-A52B658D8B1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F61DD-0F79-4E97-1B1F-81429212034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965C57A0-5929-8DD3-CE11-A13335F2A19E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7548250C-068C-D1BA-CDE1-EE3094F2EF72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E124B373-2FD2-6C9B-A777-D59E5C1BEDB3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0EB5AE2C-9B0A-37DD-12FF-9F2125E9C063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B5720E76-DED6-DF25-9618-D06434E82574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F41C3561-1EC7-5536-7233-911B314C35B6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0057BA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B8F57C4F-A389-56CF-A75C-00D0A90A2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B0A72B1B-5DA4-E188-C207-65B6263D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FCC3E58-FBB1-8F5E-0CE8-C6917C4C1A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53B3784E-79CC-4540-8FBC-123B41A378A3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90E2B475-1FDC-6BAB-DE5F-64D69355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94B34B0F-3A95-35D1-2FB7-98E16240E6E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6912537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75082A31-C168-D6C6-AC8A-A3773D30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A8DD3423-FB3B-937B-2C87-80D077A11B0D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027AEC8D-9664-EC85-66CC-ADE8AFAD344A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0555994C-B100-08B3-29B2-0B5250F54793}"/>
              </a:ext>
            </a:extLst>
          </p:cNvPr>
          <p:cNvCxnSpPr/>
          <p:nvPr/>
        </p:nvCxnSpPr>
        <p:spPr>
          <a:xfrm>
            <a:off x="-103025" y="7155938"/>
            <a:ext cx="10692005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6145D53-E3C5-D7E8-12A1-2565394935FB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14CF2F4-0B6E-163E-4B33-4C1B6F51AB42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2C953A5-1E8D-0F53-1798-AFA724638ABA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B574452-C370-8DDC-1DE3-8044FC8A6E6F}"/>
              </a:ext>
            </a:extLst>
          </p:cNvPr>
          <p:cNvSpPr txBox="1"/>
          <p:nvPr/>
        </p:nvSpPr>
        <p:spPr>
          <a:xfrm>
            <a:off x="1349087" y="4238271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0FE38F54-769B-A094-5467-3B03A8C1F2A0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25C6B963-7DB3-B742-5FCA-366FBC4F7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076600F-9FF1-C355-019F-6DB5BE3BB1B2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2311CE0-1963-D5F6-EDA3-D8F010A5702B}"/>
              </a:ext>
            </a:extLst>
          </p:cNvPr>
          <p:cNvSpPr txBox="1"/>
          <p:nvPr/>
        </p:nvSpPr>
        <p:spPr>
          <a:xfrm>
            <a:off x="1309420" y="5012813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125F4B3-F12D-65EE-F467-FB0313C9FE0B}"/>
              </a:ext>
            </a:extLst>
          </p:cNvPr>
          <p:cNvSpPr txBox="1"/>
          <p:nvPr/>
        </p:nvSpPr>
        <p:spPr>
          <a:xfrm>
            <a:off x="5769982" y="5003779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0E8206B-9BB3-7424-AAC8-5D8AF3DC028A}"/>
              </a:ext>
            </a:extLst>
          </p:cNvPr>
          <p:cNvSpPr txBox="1"/>
          <p:nvPr/>
        </p:nvSpPr>
        <p:spPr>
          <a:xfrm>
            <a:off x="1142113" y="4700528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18FB4D1-38C2-F4B2-46E0-1025729B2310}"/>
              </a:ext>
            </a:extLst>
          </p:cNvPr>
          <p:cNvSpPr txBox="1"/>
          <p:nvPr/>
        </p:nvSpPr>
        <p:spPr>
          <a:xfrm>
            <a:off x="5664195" y="4705237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9A33360-DF0E-2759-6ACC-68974DEFF633}"/>
              </a:ext>
            </a:extLst>
          </p:cNvPr>
          <p:cNvSpPr txBox="1"/>
          <p:nvPr/>
        </p:nvSpPr>
        <p:spPr>
          <a:xfrm>
            <a:off x="1309420" y="6130859"/>
            <a:ext cx="418192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460-0022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愛知県名古屋市中区金山一丁目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12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金山総合ビル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7F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（株式会社フルハシ環境総合研究所内）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27D49FC-C2C5-9A08-EE2E-498FBAE20BF0}"/>
              </a:ext>
            </a:extLst>
          </p:cNvPr>
          <p:cNvSpPr txBox="1"/>
          <p:nvPr/>
        </p:nvSpPr>
        <p:spPr>
          <a:xfrm>
            <a:off x="5769982" y="6120280"/>
            <a:ext cx="436949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700-0082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岡山県岡山市北区津島中一丁目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岡山大インキュベータ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210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号室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C5C4648-AE37-311B-DFAB-ACFEB10D0101}"/>
              </a:ext>
            </a:extLst>
          </p:cNvPr>
          <p:cNvSpPr txBox="1"/>
          <p:nvPr/>
        </p:nvSpPr>
        <p:spPr>
          <a:xfrm>
            <a:off x="1142113" y="5818574"/>
            <a:ext cx="1886215" cy="33278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名古屋オフィス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1AA7C8E-6849-A1AA-EBA7-0F841EC3ABF0}"/>
              </a:ext>
            </a:extLst>
          </p:cNvPr>
          <p:cNvSpPr txBox="1"/>
          <p:nvPr/>
        </p:nvSpPr>
        <p:spPr>
          <a:xfrm>
            <a:off x="5358512" y="5823283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1831CEE1-23E0-5344-066F-1FC7989AE4A8}"/>
              </a:ext>
            </a:extLst>
          </p:cNvPr>
          <p:cNvSpPr txBox="1"/>
          <p:nvPr/>
        </p:nvSpPr>
        <p:spPr>
          <a:xfrm>
            <a:off x="2634980" y="684086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420984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29FCEB5A-F733-3BBC-BE63-14AAB7ADE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FED3A17C-71C7-2378-4788-53755792FE31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45B9F432-410E-DEC8-8047-C12AB8E1E85F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F3CD5F99-ABE8-9733-269B-68F95428F73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5417C54-FC89-2897-7665-9849960C9256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CF4EC6C-41AD-D77F-6EFF-99B1171BF8FF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9FDF73D-E664-3C3C-AECB-BED49BFD30A7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C3D1659-CE44-8022-CAFD-01B1620116EA}"/>
              </a:ext>
            </a:extLst>
          </p:cNvPr>
          <p:cNvSpPr txBox="1"/>
          <p:nvPr/>
        </p:nvSpPr>
        <p:spPr>
          <a:xfrm>
            <a:off x="1349087" y="4661053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45E436FA-314E-3CDF-3D96-4B0D0E4628ED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F6180DD1-9A9C-93FC-F7C4-E1ED34433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7BD7BA-1D30-135F-4744-28DFFC5F3AE0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34EFD97-38BE-DBE4-F6FF-2806D277C0CB}"/>
              </a:ext>
            </a:extLst>
          </p:cNvPr>
          <p:cNvSpPr txBox="1"/>
          <p:nvPr/>
        </p:nvSpPr>
        <p:spPr>
          <a:xfrm>
            <a:off x="1309420" y="5557567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959A6F-0AFC-4A10-2D1C-CF8F2826F3D9}"/>
              </a:ext>
            </a:extLst>
          </p:cNvPr>
          <p:cNvSpPr txBox="1"/>
          <p:nvPr/>
        </p:nvSpPr>
        <p:spPr>
          <a:xfrm>
            <a:off x="5769982" y="5548524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160C8B6-3D5D-4592-24CC-E4B82F0356FA}"/>
              </a:ext>
            </a:extLst>
          </p:cNvPr>
          <p:cNvSpPr txBox="1"/>
          <p:nvPr/>
        </p:nvSpPr>
        <p:spPr>
          <a:xfrm>
            <a:off x="1142113" y="5245272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CCADF7E-89CA-0222-9E71-C80402759BB8}"/>
              </a:ext>
            </a:extLst>
          </p:cNvPr>
          <p:cNvSpPr txBox="1"/>
          <p:nvPr/>
        </p:nvSpPr>
        <p:spPr>
          <a:xfrm>
            <a:off x="5664195" y="5249981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テキスト ボックス 7">
            <a:extLst>
              <a:ext uri="{FF2B5EF4-FFF2-40B4-BE49-F238E27FC236}">
                <a16:creationId xmlns:a16="http://schemas.microsoft.com/office/drawing/2014/main" id="{5FE3A010-C0D0-5CB2-C9EF-941F0345E8FB}"/>
              </a:ext>
            </a:extLst>
          </p:cNvPr>
          <p:cNvSpPr txBox="1"/>
          <p:nvPr/>
        </p:nvSpPr>
        <p:spPr>
          <a:xfrm>
            <a:off x="2634980" y="661813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26936054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183D6CEF-9D75-58BF-8167-5A46A4EE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7">
            <a:extLst>
              <a:ext uri="{FF2B5EF4-FFF2-40B4-BE49-F238E27FC236}">
                <a16:creationId xmlns:a16="http://schemas.microsoft.com/office/drawing/2014/main" id="{4A07C37B-5D61-5914-7102-6F926E18DC3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9">
            <a:extLst>
              <a:ext uri="{FF2B5EF4-FFF2-40B4-BE49-F238E27FC236}">
                <a16:creationId xmlns:a16="http://schemas.microsoft.com/office/drawing/2014/main" id="{330D6E9B-C6EE-A0DC-4821-3BC9554E561F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1">
            <a:extLst>
              <a:ext uri="{FF2B5EF4-FFF2-40B4-BE49-F238E27FC236}">
                <a16:creationId xmlns:a16="http://schemas.microsoft.com/office/drawing/2014/main" id="{9DF1F77C-A335-EC48-6482-28D553137F7F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テキスト ボックス 15">
            <a:extLst>
              <a:ext uri="{FF2B5EF4-FFF2-40B4-BE49-F238E27FC236}">
                <a16:creationId xmlns:a16="http://schemas.microsoft.com/office/drawing/2014/main" id="{C3D35E23-7379-4534-887E-02BB67C6F24E}"/>
              </a:ext>
            </a:extLst>
          </p:cNvPr>
          <p:cNvSpPr txBox="1"/>
          <p:nvPr/>
        </p:nvSpPr>
        <p:spPr>
          <a:xfrm>
            <a:off x="2381874" y="3880420"/>
            <a:ext cx="5916707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2060"/>
                </a:solidFill>
                <a:uFillTx/>
                <a:latin typeface="Calibri"/>
                <a:ea typeface="游ゴシック" pitchFamily="34"/>
              </a:rPr>
              <a:t>Thank you for your attention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64D9FDF-E252-4CE4-2E5E-F8D62F7E303C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29982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A11BB-0FCA-14E5-77E7-6D3C641CE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058" y="402482"/>
            <a:ext cx="9221687" cy="14611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C7445-7560-C19C-0A60-EF5222A19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5058" y="2012411"/>
            <a:ext cx="9221687" cy="47965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0E83-D2A2-BAF3-C441-4C624011FF3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35058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CC786BA6-7B56-F543-9072-18E670050153}" type="datetime1">
              <a:rPr lang="en-US"/>
              <a:pPr lvl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ACB77-1F57-9A54-BD63-2A64E4AD477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541663" y="7006699"/>
            <a:ext cx="3608487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9809A-6A04-37EE-29EA-F6680BBD473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51096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205576F5-C101-5640-84CE-C69780011BC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1007943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ja-JP" sz="4850" b="0" i="0" u="none" strike="noStrike" kern="1200" cap="none" spc="0" baseline="0">
          <a:solidFill>
            <a:srgbClr val="000000"/>
          </a:solidFill>
          <a:uFillTx/>
          <a:latin typeface="Calibri Light"/>
          <a:ea typeface="游ゴシック Light" pitchFamily="34"/>
        </a:defRPr>
      </a:lvl1pPr>
    </p:titleStyle>
    <p:bodyStyle>
      <a:lvl1pPr marL="251990" marR="0" lvl="0" indent="-251990" algn="l" defTabSz="1007943" rtl="0" fontAlgn="auto" hangingPunct="1">
        <a:lnSpc>
          <a:spcPct val="90000"/>
        </a:lnSpc>
        <a:spcBef>
          <a:spcPts val="1100"/>
        </a:spcBef>
        <a:spcAft>
          <a:spcPts val="0"/>
        </a:spcAft>
        <a:buSzPct val="100000"/>
        <a:buFont typeface="Arial" pitchFamily="34"/>
        <a:buChar char="•"/>
        <a:tabLst/>
        <a:defRPr lang="ja-JP" sz="308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1pPr>
      <a:lvl2pPr marL="755952" marR="0" lvl="1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64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2pPr>
      <a:lvl3pPr marL="1259933" marR="0" lvl="2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205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3pPr>
      <a:lvl4pPr marL="1763895" marR="0" lvl="3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4pPr>
      <a:lvl5pPr marL="2267867" marR="0" lvl="4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/>
            <a:r>
              <a:rPr sz="2400" b="1"/>
              <a:t>フランス RE2020 ダイナミックLCA 調査報告</a:t>
            </a:r>
          </a:p>
          <a:p>
            <a:pPr algn="l"/>
            <a:r>
              <a:rPr sz="1600"/>
              <a:t>ブロック(2) 技術及び手法の調査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/>
              <a:t>林野庁向け調査報告書（v1）／2026年6月　一般社団法人サステナブル経営推進機構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本資料の構成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技術・手法調査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" y="1480000"/>
            <a:ext cx="9850000" cy="5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25486"/>
                </a:solidFill>
                <a:latin typeface="游ゴシック"/>
              </a:rPr>
              <a:t>第1部　動的LCA導入の背景・理論【重点】</a:t>
            </a:r>
          </a:p>
          <a:p>
            <a:pPr lvl="1" algn="l">
              <a:lnSpc>
                <a:spcPct val="112000"/>
              </a:lnSpc>
              <a:spcAft>
                <a:spcPts val="900"/>
              </a:spcAft>
            </a:pPr>
            <a:r>
              <a:rPr sz="1150" b="0">
                <a:solidFill>
                  <a:srgbClr val="202020"/>
                </a:solidFill>
                <a:latin typeface="游ゴシック"/>
              </a:rPr>
              <a:t>・静的LCAの限界と動的LCAの基本概念／導入の経緯／国家戦略・木材政策／科学的論争と政治的選択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25486"/>
                </a:solidFill>
                <a:latin typeface="游ゴシック"/>
              </a:rPr>
              <a:t>第2部　動的LCAの理論的枠組み</a:t>
            </a:r>
          </a:p>
          <a:p>
            <a:pPr lvl="1" algn="l">
              <a:lnSpc>
                <a:spcPct val="112000"/>
              </a:lnSpc>
              <a:spcAft>
                <a:spcPts val="900"/>
              </a:spcAft>
            </a:pPr>
            <a:r>
              <a:rPr sz="1150" b="0">
                <a:solidFill>
                  <a:srgbClr val="202020"/>
                </a:solidFill>
                <a:latin typeface="游ゴシック"/>
              </a:rPr>
              <a:t>・100年累積放射強制力の定義／評価期間50年・観測期間100年／静的LCA(GWP100)との差異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25486"/>
                </a:solidFill>
                <a:latin typeface="游ゴシック"/>
              </a:rPr>
              <a:t>第3部　評価指標及び算定方法</a:t>
            </a:r>
          </a:p>
          <a:p>
            <a:pPr lvl="1" algn="l">
              <a:lnSpc>
                <a:spcPct val="112000"/>
              </a:lnSpc>
              <a:spcAft>
                <a:spcPts val="900"/>
              </a:spcAft>
            </a:pPr>
            <a:r>
              <a:rPr sz="1150" b="0">
                <a:solidFill>
                  <a:srgbClr val="202020"/>
                </a:solidFill>
                <a:latin typeface="游ゴシック"/>
              </a:rPr>
              <a:t>・重み係数（年次係数表）／係数の理論的由来／法定計算式／炭素循環の扱い／木製梁の計算例／Ventura批判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25486"/>
                </a:solidFill>
                <a:latin typeface="游ゴシック"/>
              </a:rPr>
              <a:t>第4部　建築物LCA算定における位置付け</a:t>
            </a:r>
          </a:p>
          <a:p>
            <a:pPr lvl="1" algn="l">
              <a:lnSpc>
                <a:spcPct val="112000"/>
              </a:lnSpc>
              <a:spcAft>
                <a:spcPts val="900"/>
              </a:spcAft>
            </a:pPr>
            <a:r>
              <a:rPr sz="1150" b="0">
                <a:solidFill>
                  <a:srgbClr val="202020"/>
                </a:solidFill>
                <a:latin typeface="游ゴシック"/>
              </a:rPr>
              <a:t>・認定計算ソフト・INIES・RSEE／静的LCAとの関係／指標表示／実務負荷・コスト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25486"/>
                </a:solidFill>
                <a:latin typeface="游ゴシック"/>
              </a:rPr>
              <a:t>第5部　日本の制度検討への示唆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エグゼクティブサマリー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" y="1460000"/>
            <a:ext cx="9850000" cy="21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202020"/>
                </a:solidFill>
                <a:latin typeface="游ゴシック"/>
              </a:rPr>
              <a:t>・</a:t>
            </a:r>
            <a:r>
              <a:rPr sz="1250" b="0">
                <a:solidFill>
                  <a:srgbClr val="202020"/>
                </a:solidFill>
                <a:latin typeface="游ゴシック"/>
              </a:rPr>
              <a:t>RE2020は世界で初めて</a:t>
            </a:r>
            <a:r>
              <a:rPr sz="1250" b="1">
                <a:solidFill>
                  <a:srgbClr val="125486"/>
                </a:solidFill>
                <a:latin typeface="游ゴシック"/>
              </a:rPr>
              <a:t>動的（ダイナミック）LCA</a:t>
            </a:r>
            <a:r>
              <a:rPr sz="1250" b="0">
                <a:solidFill>
                  <a:srgbClr val="202020"/>
                </a:solidFill>
                <a:latin typeface="游ゴシック"/>
              </a:rPr>
              <a:t>を建築規制の適合判定指標に採用。指標は「建物竣工後100年間の累積放射強制力」として算定される。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202020"/>
                </a:solidFill>
                <a:latin typeface="游ゴシック"/>
              </a:rPr>
              <a:t>・</a:t>
            </a:r>
            <a:r>
              <a:rPr sz="1250" b="0">
                <a:solidFill>
                  <a:srgbClr val="202020"/>
                </a:solidFill>
                <a:latin typeface="游ゴシック"/>
              </a:rPr>
              <a:t>割引係数は</a:t>
            </a:r>
            <a:r>
              <a:rPr sz="1250" b="1">
                <a:solidFill>
                  <a:srgbClr val="125486"/>
                </a:solidFill>
                <a:latin typeface="游ゴシック"/>
              </a:rPr>
              <a:t>数式ではなく省令(アレテ)第11条の年次係数表として法定</a:t>
            </a:r>
            <a:r>
              <a:rPr sz="1250" b="0">
                <a:solidFill>
                  <a:srgbClr val="202020"/>
                </a:solidFill>
                <a:latin typeface="游ゴシック"/>
              </a:rPr>
              <a:t>（f_CO2(0)=1、f_CO2(50)=0.578）。減衰はほぼ線形で、Levasseur型動的LCAに較正されている。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202020"/>
                </a:solidFill>
                <a:latin typeface="游ゴシック"/>
              </a:rPr>
              <a:t>・</a:t>
            </a:r>
            <a:r>
              <a:rPr sz="1250" b="0">
                <a:solidFill>
                  <a:srgbClr val="202020"/>
                </a:solidFill>
                <a:latin typeface="游ゴシック"/>
              </a:rPr>
              <a:t>適用は静的GWP値（EPD）への乗算で行うため</a:t>
            </a:r>
            <a:r>
              <a:rPr sz="1250" b="1">
                <a:solidFill>
                  <a:srgbClr val="125486"/>
                </a:solidFill>
                <a:latin typeface="游ゴシック"/>
              </a:rPr>
              <a:t>既存データ基盤と接続しやすい</a:t>
            </a:r>
            <a:r>
              <a:rPr sz="1250" b="0">
                <a:solidFill>
                  <a:srgbClr val="202020"/>
                </a:solidFill>
                <a:latin typeface="游ゴシック"/>
              </a:rPr>
              <a:t>が、打切りによる過大評価（25-35%）や国際規格との不整合という方法論的批判がある。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000" y="3800000"/>
            <a:ext cx="9780000" cy="190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日本への示唆（要旨）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① EPDに係数を乗じるだけの「簡易動的法」は既存データ基盤の上に低コストで実装可能。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② 係数の科学的根拠と透明性が制度の信頼性を決める（流布する指数関数式は誤り、官報の係数表に依拠）。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③ 木材インセンティブ効果は明確だが対立点も明確 → 静的（実排出管理）と動的（誘導）の役割分担を明示。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動的LCA導入の背景・理論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>
            <a:r>
              <a:rPr sz="1400"/>
              <a:t>第1部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</a:rPr>
              <a:t>※ 政策・制度の背景（導入経緯・国家戦略・林業政策・業界対立）はブロック①で詳述。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</a:rPr>
              <a:t>　本ブロック②は「理論的枠組み・算定方法・建築物LCAでの位置付け」に焦点を当てる。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背景①　なぜ動的LCAか ― 静的LCAの限界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基本概念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000" y="1500000"/>
            <a:ext cx="4820000" cy="1900000"/>
          </a:xfrm>
          <a:prstGeom prst="rect">
            <a:avLst/>
          </a:prstGeom>
          <a:solidFill>
            <a:srgbClr val="DDE3E8"/>
          </a:solidFill>
          <a:ln w="12700">
            <a:solidFill>
              <a:srgbClr val="494D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494D51"/>
                </a:solidFill>
                <a:latin typeface="游ゴシック"/>
              </a:rPr>
              <a:t>静的LCAの前提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建設・使用・解体の全GHG排出/吸収が「今日同時に起こる」と扱う。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→ 炭素の一時的排出も一時的貯蔵も結果に影響しない。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80000" y="1500000"/>
            <a:ext cx="4820000" cy="1900000"/>
          </a:xfrm>
          <a:prstGeom prst="rect">
            <a:avLst/>
          </a:prstGeom>
          <a:solidFill>
            <a:srgbClr val="E4F0E4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5486"/>
                </a:solidFill>
                <a:latin typeface="游ゴシック"/>
              </a:rPr>
              <a:t>動的LCAの基本概念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排出の時間的位置（temporalité）と炭素貯蔵の効果を考慮。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竣工後100年間に累積される放射強制力を評価。早い排出ほど影響大。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" y="3650000"/>
            <a:ext cx="985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・時間軸の原点(t=0)を建物竣工時に置く。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・竣工前の排出（製品製造・施工）は全てt=0に集約して静的評価。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・竣工後の排出（使用・更新・解体）は排出年次に応じた重み付け係数で割り引く。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・評価の窓は竣工から100年で固定する。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背景①　一時的炭素貯蔵をどう評価するか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基本概念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" y="1460000"/>
            <a:ext cx="985000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202020"/>
                </a:solidFill>
                <a:latin typeface="游ゴシック"/>
              </a:rPr>
              <a:t>・</a:t>
            </a:r>
            <a:r>
              <a:rPr sz="1250" b="0">
                <a:solidFill>
                  <a:srgbClr val="202020"/>
                </a:solidFill>
                <a:latin typeface="游ゴシック"/>
              </a:rPr>
              <a:t>木材は成長時にCO2を吸収・建物使用中に貯蔵・約50年後の解体時に再放出する。静的では「50年の貯蔵」は評価ゼロだが、</a:t>
            </a:r>
            <a:r>
              <a:rPr sz="1250" b="1">
                <a:solidFill>
                  <a:srgbClr val="125486"/>
                </a:solidFill>
                <a:latin typeface="游ゴシック"/>
              </a:rPr>
              <a:t>動的では遅延排出の割引を通じて便益として顕在化</a:t>
            </a:r>
            <a:r>
              <a:rPr sz="1250" b="0">
                <a:solidFill>
                  <a:srgbClr val="202020"/>
                </a:solidFill>
                <a:latin typeface="游ゴシック"/>
              </a:rPr>
              <a:t>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000" y="2650000"/>
            <a:ext cx="9780000" cy="150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5486"/>
                </a:solidFill>
                <a:latin typeface="游ゴシック"/>
              </a:rPr>
              <a:t>貯蔵クレジット（CO2 1kgを50年貯蔵）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吸収（t=0、製品段階）：×1.0 → −1.0 kg-CO2eq がフルカウント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再放出（t=50、解体時）：×0.578 → +0.578 kg-CO2eq のみカウント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正味 −0.42 kg-CO2eq ＝「1kgのCO2を50年貯蔵することは竣工時に0.42kgを排出しないことと等価」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" y="4300000"/>
            <a:ext cx="985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202020"/>
                </a:solidFill>
                <a:latin typeface="游ゴシック"/>
              </a:rPr>
              <a:t>・</a:t>
            </a:r>
            <a:r>
              <a:rPr sz="1200" b="0">
                <a:solidFill>
                  <a:srgbClr val="202020"/>
                </a:solidFill>
                <a:latin typeface="游ゴシック"/>
              </a:rPr>
              <a:t>木材業界は2019年6月、DHUP宛て書簡で「貯蔵炭素は供用期間中、気候変動に寄与しない。物理原則に基づき、複雑さを加えず既存LCAデータで運用可能」として</a:t>
            </a:r>
            <a:r>
              <a:rPr sz="1200" b="1">
                <a:solidFill>
                  <a:srgbClr val="125486"/>
                </a:solidFill>
                <a:latin typeface="游ゴシック"/>
              </a:rPr>
              <a:t>簡易動的法を支持</a:t>
            </a:r>
            <a:r>
              <a:rPr sz="1200" b="0">
                <a:solidFill>
                  <a:srgbClr val="202020"/>
                </a:solidFill>
                <a:latin typeface="游ゴシック"/>
              </a:rPr>
              <a:t>。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494D51"/>
                </a:solidFill>
                <a:latin typeface="游ゴシック"/>
              </a:rPr>
              <a:t>・留意：観測地平を150年に延ばすとこの値は−0.27kgに低下（時間地平依存性が業界批判の論点）。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背景②　導入の経緯（学術的系譜と工程）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導入の経緯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000" y="1500000"/>
            <a:ext cx="9780000" cy="1450000"/>
          </a:xfrm>
          <a:prstGeom prst="rect">
            <a:avLst/>
          </a:prstGeom>
          <a:solidFill>
            <a:srgbClr val="E4F0E4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5486"/>
                </a:solidFill>
                <a:latin typeface="游ゴシック"/>
              </a:rPr>
              <a:t>学術的系譜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Levasseur et al.(2010, CIRAIG) の動的LCA（観測期間100年固定、ツールDynCO2）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→ Solinnen報告(2018) → 専門家グループGE3「炭素の一時貯蔵」最終報告で規制案化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→ 結果が一致するよう較正した「簡易」係数表に落とし込み。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000" y="3100000"/>
            <a:ext cx="9780000" cy="145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F3B73"/>
                </a:solidFill>
              </a:rPr>
              <a:t>制度化の工程（要点のみ／詳細はブロック①）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</a:rPr>
              <a:t>E+C-実証(2016) → ELAN法181条(2018) → 大規模協議(2019-20) → アレテ公布(2021/8) → 施行(2022/1) → Rivaton評価(2025)。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</a:rPr>
              <a:t>※ 専門家グループ・協議体制・政策プロセスの詳細はブロック①（政策・制度調査）参照。本編は技術的系譜に焦点。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" y="4700000"/>
            <a:ext cx="985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494D51"/>
                </a:solidFill>
                <a:latin typeface="游ゴシック"/>
              </a:rPr>
              <a:t>・係数の出所：DHUPからの私信により、CIRAIG手法・DynCO2 → Solinnen報告 → Benoist(2009)博士論文の係数が基礎と確認（UGEノート）。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動的LCAの3つの時間概念（THI・LCD・TOD）― Ventura (2022)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F3B73"/>
                </a:solidFill>
              </a:rPr>
              <a:t>理論的枠組み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000" y="1500000"/>
            <a:ext cx="4820000" cy="240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F3B73"/>
                </a:solidFill>
              </a:rPr>
              <a:t>① 3概念の分離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</a:rPr>
              <a:t>THI（影響時間地平）：累積放射強制力の積分上限。GWP100の「100」。RE2020=100年（IPCC慣習）。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</a:rPr>
              <a:t>LCD（ライフサイクル期間）：排出プロファイルの開始〜終了。RE2020=使用50年＋建設・解体。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</a:rPr>
              <a:t>TOD（総観測期間）：動的指標の観測・積分上限。RE2020=建設起点から100年に固定。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80000" y="1500000"/>
            <a:ext cx="4820000" cy="2400000"/>
          </a:xfrm>
          <a:prstGeom prst="rect">
            <a:avLst/>
          </a:prstGeom>
          <a:solidFill>
            <a:srgbClr val="E4F0E4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F3B73"/>
                </a:solidFill>
              </a:rPr>
              <a:t>② 混同がなぜ問題か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</a:rPr>
              <a:t>静的GWP100の「100」はTHI（積分幅）、Levasseur型動的の「100」はTOD（観測窓の終点）。同じ数値でも物理的意味が異なる。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</a:rPr>
              <a:t>RE2020はTOD=100年で固定。これがVentura/UGEの「打切り」批判の核心（評価地平が静的GWP100と揃わない）。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" y="4200000"/>
            <a:ext cx="985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</a:rPr>
              <a:t>※ TOD設定は政治的均衡点：短くするほど木材クレジットが大きくなる（次頁の図参照）。RE2020のTOD=100年はこの均衡として機能した。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背景④　科学的論争 ― 打切りによる過大評価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科学的論争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000" y="1500000"/>
            <a:ext cx="9780000" cy="1900000"/>
          </a:xfrm>
          <a:prstGeom prst="rect">
            <a:avLst/>
          </a:prstGeom>
          <a:solidFill>
            <a:srgbClr val="FDF3D0"/>
          </a:solidFill>
          <a:ln w="12700">
            <a:solidFill>
              <a:srgbClr val="EF9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9A5A00"/>
                </a:solidFill>
                <a:latin typeface="游ゴシック"/>
              </a:rPr>
              <a:t>観測期間の打切り（トランケーション）問題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観測期間TODを竣工後100年に固定すると、t年目の排出は(100−t)年分しか積分されない（50年目排出は50年分のみ）。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静的GWP100（各排出につき100年分）と評価地平が揃わず、比較不能な量の加算になっている。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差は「遅延の効果」と「打切りの効果」の合算であり、純粋な遅延効果より大きく見える。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000" y="3600000"/>
            <a:ext cx="985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202020"/>
                </a:solidFill>
                <a:latin typeface="游ゴシック"/>
              </a:rPr>
              <a:t>・</a:t>
            </a:r>
            <a:r>
              <a:rPr sz="1200" b="0">
                <a:solidFill>
                  <a:srgbClr val="202020"/>
                </a:solidFill>
                <a:latin typeface="游ゴシック"/>
              </a:rPr>
              <a:t>UGEノートの修正案：観測期間を「LC期間＋影響地平100年（＝150年）」とすべき。この場合</a:t>
            </a:r>
            <a:r>
              <a:rPr sz="1200" b="1">
                <a:solidFill>
                  <a:srgbClr val="125486"/>
                </a:solidFill>
                <a:latin typeface="游ゴシック"/>
              </a:rPr>
              <a:t>50年目の係数は0.578ではなく0.72</a:t>
            </a:r>
            <a:r>
              <a:rPr sz="1200" b="0">
                <a:solidFill>
                  <a:srgbClr val="202020"/>
                </a:solidFill>
                <a:latin typeface="游ゴシック"/>
              </a:rPr>
              <a:t> → 現行係数は割引効果を約35%過大評価。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>
                <a:solidFill>
                  <a:srgbClr val="202020"/>
                </a:solidFill>
                <a:latin typeface="游ゴシック"/>
              </a:rPr>
              <a:t>・</a:t>
            </a:r>
            <a:r>
              <a:rPr sz="1200" b="0">
                <a:solidFill>
                  <a:srgbClr val="202020"/>
                </a:solidFill>
                <a:latin typeface="游ゴシック"/>
              </a:rPr>
              <a:t>Ventura 2022：3原則からLevasseur型指標の概念的欠陥を導出し、</a:t>
            </a:r>
            <a:r>
              <a:rPr sz="1200" b="1">
                <a:solidFill>
                  <a:srgbClr val="125486"/>
                </a:solidFill>
                <a:latin typeface="游ゴシック"/>
              </a:rPr>
              <a:t>竣工50年後排出で約25%の過大評価</a:t>
            </a:r>
            <a:r>
              <a:rPr sz="1200" b="0">
                <a:solidFill>
                  <a:srgbClr val="202020"/>
                </a:solidFill>
                <a:latin typeface="游ゴシック"/>
              </a:rPr>
              <a:t>。修正係数への置換だけで規制に即適用可能と結論。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" y="5350000"/>
            <a:ext cx="98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>
                <a:solidFill>
                  <a:srgbClr val="202020"/>
                </a:solidFill>
                <a:latin typeface="游ゴシック"/>
              </a:rPr>
              <a:t>・結論：「動的手法の採用は物理的要請ではなく、排出の先送りを促す政治的選択」（UGE・Rivaton）。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22222"/>
                </a:solidFill>
              </a:rPr>
              <a:t>※ 業界対立（木材 vs セメント・鉱物）の詳細はブロック①参照。本編は技術的論点（打切り・ガス無差別・リユース）に焦点。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背景④　その他の批判と標準化の動き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科学的論争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" y="1460000"/>
            <a:ext cx="9850000" cy="2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・物理的効果の限定性：放射効率が一定なら、数十年の排出遅延は長期の累積放射強制力をほとんど低減しない。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・ガス無差別適用：集計済CO2eqにCO2用係数を適用するため、CH4等短寿命ガスの減衰の速さが反映されない。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・リユース逆インセンティブ：解体材の再使用のように排出を大幅に遅延させる行為が、竣工後の係数体系で不利に扱われる。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・森林再成長クレジットの非対称性：木材FDESは再植林の将来吸収を含むが、その吸収(10-30年)には時間割引が適用されない。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000" y="4500000"/>
            <a:ext cx="9780000" cy="110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5486"/>
                </a:solidFill>
                <a:latin typeface="游ゴシック"/>
              </a:rPr>
              <a:t>政府の対応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こうした論争を受け、フランス政府は2021年2月18日、動的LCA手法の標準化（normalisation）手続きの開始を表明している。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動的LCAの理論的枠組み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>
            <a:r>
              <a:rPr sz="1400"/>
              <a:t>第2部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動的LCAの定義（100年累積放射強制力）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理論的枠組み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000" y="1500000"/>
            <a:ext cx="9780000" cy="170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5486"/>
                </a:solidFill>
                <a:latin typeface="游ゴシック"/>
              </a:rPr>
              <a:t>算定方法令（附属書II §4.2）の定義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「動的手法は、所与の時間的地平における気候変動への寄与を評価する。算定される指標は、建物の建設後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100年間に累積される放射強制力の評価に相当する。排出が早いほど影響は大きく、遅いほど小さい。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吸収についても、早いほど影響低減効果が大きく、遅いほど小さい。」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000" y="3450000"/>
            <a:ext cx="9850000" cy="2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・(i) 時間軸の原点(t=0)＝建物竣工時。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・(ii) 竣工前の排出（製品製造・施工）は全てt=0に集約して静的評価。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・(iii) 竣工後の排出（使用・更新・解体）は排出年次に応じた重み付け係数で割引。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・(iv) 評価の窓は竣工から100年で固定（観測期間TOD=100年）。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評価期間50年・観測期間100年の根拠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理論的枠組み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000" y="1500000"/>
            <a:ext cx="4820000" cy="255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評価期間（PER）＝50年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・全建物一律50年（仮設のみ2年）の慣例値(convention)。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・実測寿命ではなく、E+C-実験以来のLCA慣行（EN 15978系の基準研究期間）を継承。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・製品標準耐用年数(DVE)との組合せで更新回数を機械的に決める。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80000" y="1500000"/>
            <a:ext cx="4820000" cy="2550000"/>
          </a:xfrm>
          <a:prstGeom prst="rect">
            <a:avLst/>
          </a:prstGeom>
          <a:solidFill>
            <a:srgbClr val="FDF3D0"/>
          </a:solidFill>
          <a:ln w="12700">
            <a:solidFill>
              <a:srgbClr val="EF9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9A5A00"/>
                </a:solidFill>
                <a:latin typeface="游ゴシック"/>
              </a:rPr>
              <a:t>観測期間＝100年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・重み係数の積分地平。PER50年とは別概念。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・CIRAIG原典で「恣意的に選ばれた」値。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・UGEは「LC期間＋影響地平100年＝150年とすべき」と修正勧告（不採用）。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" y="4350000"/>
            <a:ext cx="985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202020"/>
                </a:solidFill>
                <a:latin typeface="游ゴシック"/>
              </a:rPr>
              <a:t>・50年・100年とも科学的に一意に導かれる値ではなく規約(convention)であり、係数の水準(0.578等)はこの規約選択に直接依存する。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494D51"/>
                </a:solidFill>
                <a:latin typeface="游ゴシック"/>
              </a:rPr>
              <a:t>・Rivaton報告も「技術的装いの下に隠された政治的選択であり、より明示的にすべきだった」と総括。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図：観測期間(TOD)の選択と木材クレジット ― 政治的均衡</a:t>
            </a:r>
          </a:p>
        </p:txBody>
      </p:sp>
      <p:pic>
        <p:nvPicPr>
          <p:cNvPr id="4" name="Picture 3" descr="fig_time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918" y="1371600"/>
            <a:ext cx="7165977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</a:rPr>
              <a:t>出所: tech01/RE2020 p.5・Ventura(2022)。TOD=50/100/150年でf(50)が変化（100年=0.578、150年=0.72）。TODを短くするほど一時貯蔵クレジットが大きく、木材に有利。RE2020のTOD=100年は政治的均衡点。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静的LCA(GWP100)との差異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理論的枠組み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000" y="1500000"/>
          <a:ext cx="9780000" cy="38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観点</a:t>
                      </a:r>
                    </a:p>
                  </a:txBody>
                  <a:tcPr marL="54000" marR="54000" marT="18000" marB="18000" anchor="ctr"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静的LCA（GWP100）</a:t>
                      </a:r>
                    </a:p>
                  </a:txBody>
                  <a:tcPr marL="54000" marR="54000" marT="18000" marB="18000" anchor="ctr"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RE2020 簡易動的LCA</a:t>
                      </a:r>
                    </a:p>
                  </a:txBody>
                  <a:tcPr marL="54000" marR="54000" marT="18000" marB="18000" anchor="ctr">
                    <a:solidFill>
                      <a:srgbClr val="494D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排出のタイミング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全排出が同時(t=0)と仮定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排出年次tを年単位で考慮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評価地平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全排出一律100年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t年排出は(100−t)年分のみ＝打切り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一時的炭素貯蔵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影響なし(−1と+1が相殺)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便益計上（吸収×1.0、放出×0.578→正味−0.42）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ガス種の区別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ガス別GWPで特性化後合算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合算済CO2eqに一律適用（冷媒のみ別）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国際規格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02020"/>
                          </a:solidFill>
                          <a:latin typeface="游ゴシック"/>
                        </a:rPr>
                        <a:t>EN 15804/ISO 14067/</a:t>
                      </a:r>
                      <a:r>
                        <a:rPr sz="1000" b="0" dirty="0" err="1">
                          <a:solidFill>
                            <a:srgbClr val="202020"/>
                          </a:solidFill>
                          <a:latin typeface="游ゴシック"/>
                        </a:rPr>
                        <a:t>PEFに整合</a:t>
                      </a:r>
                      <a:endParaRPr sz="1000" b="0" dirty="0">
                        <a:solidFill>
                          <a:srgbClr val="202020"/>
                        </a:solidFill>
                        <a:latin typeface="游ゴシック"/>
                      </a:endParaRP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一時貯蔵クレジットを認めず＝不整合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規制上の使用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気候以外の指標・情報提供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202020"/>
                          </a:solidFill>
                          <a:latin typeface="游ゴシック"/>
                        </a:rPr>
                        <a:t>適合判定（Ic上限値）に使用</a:t>
                      </a:r>
                      <a:endParaRPr sz="1000" b="0" dirty="0">
                        <a:solidFill>
                          <a:srgbClr val="202020"/>
                        </a:solidFill>
                        <a:latin typeface="游ゴシック"/>
                      </a:endParaRP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0000" y="5650000"/>
            <a:ext cx="98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494D51"/>
                </a:solidFill>
                <a:latin typeface="游ゴシック"/>
              </a:rPr>
              <a:t>・効果：木質・バイオ系は終末排出が約0.58倍に割引され有利。鉄鋼・コンクリートは排出がt=0集中のため動的≒静的。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図：静的LCA vs 動的LCA ― 打切り(troncature)の概念</a:t>
            </a:r>
          </a:p>
        </p:txBody>
      </p:sp>
      <p:pic>
        <p:nvPicPr>
          <p:cNvPr id="4" name="Picture 3" descr="fig_static_vs_dyna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986" y="1371600"/>
            <a:ext cx="7863840" cy="42733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</a:rPr>
              <a:t>静的は各排出を100年積分。動的RE2020は観測窓を竣工後100年で固定（打切り）。よってt年排出は(100−t)年分のみ評価され、遅い排出ほど係数が小さくなる。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評価指標及び算定方法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>
            <a:r>
              <a:rPr sz="1400"/>
              <a:t>第3部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重み係数は「数式」でなく「年次係数表」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算定方法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" y="1450000"/>
            <a:ext cx="98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202020"/>
                </a:solidFill>
                <a:latin typeface="游ゴシック"/>
              </a:rPr>
              <a:t>・</a:t>
            </a:r>
            <a:r>
              <a:rPr sz="1200" b="0">
                <a:solidFill>
                  <a:srgbClr val="202020"/>
                </a:solidFill>
                <a:latin typeface="游ゴシック"/>
              </a:rPr>
              <a:t>重み係数は2021年8月4日アレテ第11条に</a:t>
            </a:r>
            <a:r>
              <a:rPr sz="1200" b="1">
                <a:solidFill>
                  <a:srgbClr val="125486"/>
                </a:solidFill>
                <a:latin typeface="游ゴシック"/>
              </a:rPr>
              <a:t>年次の数表（0〜50の自然数xについて定義される関数f）として法定</a:t>
            </a:r>
            <a:r>
              <a:rPr sz="1200" b="0">
                <a:solidFill>
                  <a:srgbClr val="202020"/>
                </a:solidFill>
                <a:latin typeface="游ゴシック"/>
              </a:rPr>
              <a:t>。時間刻みは1年。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000" y="2300000"/>
          <a:ext cx="9780000" cy="21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游ゴシック"/>
                        </a:rPr>
                        <a:t>排出年次 t</a:t>
                      </a:r>
                    </a:p>
                  </a:txBody>
                  <a:tcPr marL="54000" marR="54000" marT="18000" marB="18000" anchor="ctr"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游ゴシック"/>
                        </a:rPr>
                        <a:t>f_CO2(t)</a:t>
                      </a:r>
                    </a:p>
                  </a:txBody>
                  <a:tcPr marL="54000" marR="54000" marT="18000" marB="18000" anchor="ctr"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游ゴシック"/>
                        </a:rPr>
                        <a:t>f_ff(t)（冷媒）</a:t>
                      </a:r>
                    </a:p>
                  </a:txBody>
                  <a:tcPr marL="54000" marR="54000" marT="18000" marB="18000" anchor="ctr">
                    <a:solidFill>
                      <a:srgbClr val="494D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游ゴシック"/>
                        </a:rPr>
                        <a:t>0（竣工時）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游ゴシック"/>
                        </a:rPr>
                        <a:t>1.000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游ゴシック"/>
                        </a:rPr>
                        <a:t>1.000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游ゴシック"/>
                        </a:rPr>
                        <a:t>1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游ゴシック"/>
                        </a:rPr>
                        <a:t>0.984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游ゴシック"/>
                        </a:rPr>
                        <a:t>—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游ゴシック"/>
                        </a:rPr>
                        <a:t>1〜49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游ゴシック"/>
                        </a:rPr>
                        <a:t>0.984 → 0.587（単調減少）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游ゴシック"/>
                        </a:rPr>
                        <a:t>—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游ゴシック"/>
                        </a:rPr>
                        <a:t>50（PER＝解体時）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游ゴシック"/>
                        </a:rPr>
                        <a:t>0.578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游ゴシック"/>
                        </a:rPr>
                        <a:t>0.88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20000" y="4700000"/>
            <a:ext cx="9780000" cy="125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2系列の使い分け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f_CO2：冷媒を除く全GHG用。　f_ff：冷媒フロン用（f_ff(50)=0.88、CO2より減衰が緩い＝短寿命ガスの後期排出を相対的に重く評価）。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係数表は官報PDF中に表形式で収載され、年次別の中間値は公式ガイドの記載値による。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係数の理論的由来（Levasseur較正・線形近似）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算定方法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000" y="1500000"/>
            <a:ext cx="9780000" cy="1450000"/>
          </a:xfrm>
          <a:prstGeom prst="rect">
            <a:avLst/>
          </a:prstGeom>
          <a:solidFill>
            <a:srgbClr val="E4F0E4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較正の考え方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係数は恣意的な割引率ではなく、Levasseur et al.(2010)の動的LCA（観測期間100年固定）と簡易法の結果が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一致するよう較正。概念的には f_CO2(t) = AGWP_CO2(100−t) / AGWP_CO2(100)（CO2の大気減衰はIPCC AR4モデル）。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f_CO2(50)=AGWP(50)/AGWP(100)≒0.58 はこの比と整合する。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000" y="3100000"/>
            <a:ext cx="9780000" cy="130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線形近似（UGE）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UGEノートはRE2020公式Excelの係数を回帰し、線形近似 f_CO2(t) ≒ 1.0053 − 0.00842·t（R²=0.9995）を導出。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＝年あたり約0.84%ポイントの定率割引に相当する。減衰は指数的ではなくほぼ線形。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" y="4600000"/>
            <a:ext cx="985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494D51"/>
                </a:solidFill>
                <a:latin typeface="游ゴシック"/>
              </a:rPr>
              <a:t>・年次排出への適用は静的GWP値（kg-CO2eq）への乗算で行う。AGWP＝絶対地球温暖化潜在量（累積放射強制力）。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図：重み係数 f_CO2(t) ― Bern厳密 vs RE2020線形近似</a:t>
            </a:r>
          </a:p>
        </p:txBody>
      </p:sp>
      <p:pic>
        <p:nvPicPr>
          <p:cNvPr id="4" name="Picture 3" descr="fig_dcf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42" y="1371600"/>
            <a:ext cx="6997728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</a:rPr>
              <a:t>RE2020は f(t)=1−0.00842·t（切片=1、Benoist 2009 表IV.7由来）。Bern2.5CC(AR4)の厳密DCF=AGWP(100−t)/AGWP(100)とR²=0.9995で一致。t=0で1.000、t=50で0.578。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図：CO2大気応答モデル ― IPCC AR4 Bern2.5CC</a:t>
            </a:r>
          </a:p>
        </p:txBody>
      </p:sp>
      <p:pic>
        <p:nvPicPr>
          <p:cNvPr id="4" name="Picture 3" descr="fig_ar4_i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84" y="1439333"/>
            <a:ext cx="4374031" cy="2760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</a:rPr>
              <a:t>RE2020係数の物理的基礎。r(t)=a₀+Σaᵢe^(−t/τᵢ)（a₀=0.217, τ₁=172.9年 等、AR4原典と一致）。RE2020はAR4世代を採用（系譜Levasseur2010・Benoist2009がAR5以前のため妥当）。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【注意喚起】流布する指数関数式は誤り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算定方法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000" y="1550000"/>
            <a:ext cx="9780000" cy="1900000"/>
          </a:xfrm>
          <a:prstGeom prst="rect">
            <a:avLst/>
          </a:prstGeom>
          <a:solidFill>
            <a:srgbClr val="FBE9E4"/>
          </a:solidFill>
          <a:ln w="12700">
            <a:solidFill>
              <a:srgbClr val="EF9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9A4030"/>
                </a:solidFill>
                <a:latin typeface="游ゴシック"/>
              </a:rPr>
              <a:t>検証結果：f(t)=0.0820+0.918·e^(−t/18.31) は使ってはならない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・この指数関数形は、省令本文・附属書・公式ガイド・UGEノート・Ventura 2022 のいずれにも記載がない。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・数値も公式係数を再現しない：同式では f(50)≒0.14（法定値0.578と大きく乖離）、f(10)≒0.61（法定値約0.93）。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・RE2020の割引係数を上記指数式で表すのは誤り。係数表と混同されて流通した可能性がある。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000" y="3700000"/>
            <a:ext cx="9780000" cy="130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5486"/>
                </a:solidFill>
                <a:latin typeface="游ゴシック"/>
              </a:rPr>
              <a:t>制度設計上の含意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制度設計時は、推定式ではなく官報（アレテ第11条）の係数表そのものに依拠すべき。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係数の出所・根拠・透明性が制度の信頼性を直接左右する。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図【注意喚起】流布する指数関数式は公式値を再現しない</a:t>
            </a:r>
          </a:p>
        </p:txBody>
      </p:sp>
      <p:pic>
        <p:nvPicPr>
          <p:cNvPr id="4" name="Picture 3" descr="fig_exponential_wr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830" y="1371600"/>
            <a:ext cx="7048153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</a:rPr>
              <a:t>f(t)=0.0820+0.918·e^(−t/18.31) は一次資料に存在せず、f(50)≒0.14と法定値0.578から大きく乖離。制度設計は官報（アレテ第11条）の係数表に依拠すべき。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年次排出への適用（法定の計算式）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算定方法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000" y="1550000"/>
          <a:ext cx="9780000" cy="30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33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段階</a:t>
                      </a:r>
                    </a:p>
                  </a:txBody>
                  <a:tcPr marL="54000" marR="54000" marT="18000" marB="18000" anchor="ctr"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計上規約</a:t>
                      </a:r>
                    </a:p>
                  </a:txBody>
                  <a:tcPr marL="54000" marR="54000" marT="18000" marB="18000" anchor="ctr"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適用係数</a:t>
                      </a:r>
                    </a:p>
                  </a:txBody>
                  <a:tcPr marL="54000" marR="54000" marT="18000" marB="18000" anchor="ctr">
                    <a:solidFill>
                      <a:srgbClr val="494D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33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製造・施工（竣工前）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t=0で排出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f_CO2(0)=1（静的と同一）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33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使用段階（DVE≥PER）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毎年均等に排出 → 年次割引（式35）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f_CO2(a)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33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解体・廃棄（fin de vie）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t=PER(50年)で排出（式36）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f_CO2(50)=0.578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33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モジュールD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t=PER（式37）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f_CO2(50)=0.578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33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DVE&lt;PER（更新あり）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更新回数α=floor(PER/DVE)、更新年に割付（式38-44）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f_CO2(DVE×r)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20000" y="4850000"/>
            <a:ext cx="9780000" cy="125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重要な簡略化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係数は「ガスごとの排出量」ではなく、EPD記載の集計済みGWP値（kg-CO2eq）にガス種を問わず適用（冷媒のみ例外）。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これが「簡易(simplifiée)動的LCA」の所以。既存FDES/PEPをそのまま使える反面、CH4等の短寿命ガスを正しく扱えない。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炭素循環（吸収・固定・放出）の扱い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算定方法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" y="1460000"/>
            <a:ext cx="98500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202020"/>
                </a:solidFill>
                <a:latin typeface="游ゴシック"/>
              </a:rPr>
              <a:t>・</a:t>
            </a:r>
            <a:r>
              <a:rPr sz="1200" b="0">
                <a:solidFill>
                  <a:srgbClr val="202020"/>
                </a:solidFill>
                <a:latin typeface="游ゴシック"/>
              </a:rPr>
              <a:t>FDESはEN 15804に基づき、バイオ炭素を</a:t>
            </a:r>
            <a:r>
              <a:rPr sz="1200" b="1">
                <a:solidFill>
                  <a:srgbClr val="125486"/>
                </a:solidFill>
                <a:latin typeface="游ゴシック"/>
              </a:rPr>
              <a:t>製品段階で−1、終末で+1</a:t>
            </a:r>
            <a:r>
              <a:rPr sz="1200" b="0">
                <a:solidFill>
                  <a:srgbClr val="202020"/>
                </a:solidFill>
                <a:latin typeface="游ゴシック"/>
              </a:rPr>
              <a:t>として計上。RE2020はこの±1の計上タイミングに重み係数を適用する。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000" y="2350000"/>
            <a:ext cx="9780000" cy="1300000"/>
          </a:xfrm>
          <a:prstGeom prst="rect">
            <a:avLst/>
          </a:prstGeom>
          <a:solidFill>
            <a:srgbClr val="E4F0E4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5486"/>
                </a:solidFill>
                <a:latin typeface="游ゴシック"/>
              </a:rPr>
              <a:t>正味効果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吸収（t=0）×1.0 → −1がフルカウント　／　再放出（t=50）×0.578 → +0.578のみカウント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→ 正味 −0.42 kg-CO2eq／貯蔵1kg-CO2。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" y="3850000"/>
            <a:ext cx="9780000" cy="1900000"/>
          </a:xfrm>
          <a:prstGeom prst="rect">
            <a:avLst/>
          </a:prstGeom>
          <a:solidFill>
            <a:srgbClr val="FDF3D0"/>
          </a:solidFill>
          <a:ln w="12700">
            <a:solidFill>
              <a:srgbClr val="EF9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9A5A00"/>
                </a:solidFill>
                <a:latin typeface="游ゴシック"/>
              </a:rPr>
              <a:t>留意点・批判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・森林再成長クレジットの非対称性：再成長の吸収(10-30年)に時間割引が適用されず、木材に二重に有利との指摘。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・国際規格との不整合：EN 15804/ISO 14067/PEFは一時貯蔵クレジットを認めず（業界が「国際合意違反」と批判）。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・貯蔵量の別建て表示：StockC指標（kg C/m²）を気候指標Icとは独立に算定・申告（更新は考慮しない）。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数値計算例：木製梁（公式ガイド）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算定方法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" y="1450000"/>
            <a:ext cx="985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・静的では正の排出となる部材が、動的では負（便益）に転じることを示す代表例。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000" y="2050000"/>
          <a:ext cx="9780000" cy="29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333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</a:rPr>
                        <a:t>LCA段階</a:t>
                      </a:r>
                    </a:p>
                  </a:txBody>
                  <a:tcPr marL="54000" marR="54000" marT="18000" marB="18000" anchor="ctr"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</a:rPr>
                        <a:t>静的値(kg-CO2eq)</a:t>
                      </a:r>
                    </a:p>
                  </a:txBody>
                  <a:tcPr marL="54000" marR="54000" marT="18000" marB="18000" anchor="ctr"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</a:rPr>
                        <a:t>適用係数</a:t>
                      </a:r>
                    </a:p>
                  </a:txBody>
                  <a:tcPr marL="54000" marR="54000" marT="18000" marB="18000" anchor="ctr"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</a:rPr>
                        <a:t>動的値(kg-CO2eq)</a:t>
                      </a:r>
                    </a:p>
                  </a:txBody>
                  <a:tcPr marL="54000" marR="54000" marT="18000" marB="18000" anchor="ctr">
                    <a:solidFill>
                      <a:srgbClr val="494D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3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製品製造（吸収含む）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−600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t=0、×1.0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−600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3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施工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+30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t=0、×1.0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+30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3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使用（1〜49年）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0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×0.984〜0.587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0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3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解体・廃棄（50年）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+700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t=50、×0.578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+404.6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3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020"/>
                          </a:solidFill>
                          <a:latin typeface="游ゴシック"/>
                        </a:rPr>
                        <a:t>ライフサイクル計</a:t>
                      </a:r>
                    </a:p>
                  </a:txBody>
                  <a:tcPr marL="54000" marR="54000" marT="18000" marB="18000" anchor="ctr">
                    <a:solidFill>
                      <a:srgbClr val="DDE3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+130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—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游ゴシック"/>
                        </a:rPr>
                        <a:t>−165.4</a:t>
                      </a:r>
                    </a:p>
                  </a:txBody>
                  <a:tcPr marL="54000" marR="54000" marT="18000" marB="18000" anchor="ctr">
                    <a:solidFill>
                      <a:srgbClr val="C5C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20000" y="5100000"/>
            <a:ext cx="9780000" cy="95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5486"/>
                </a:solidFill>
                <a:latin typeface="游ゴシック"/>
              </a:rPr>
              <a:t>結果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同一部材の評価値が +130 → −165.4 kg-CO2eq（約295改善）。鉄鋼・コンクリート等は排出がt=0集中のため動的≒静的で恩恵をほぼ受けない。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放射強制力とVentura(2022)の批判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算定方法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000" y="1500000"/>
            <a:ext cx="9780000" cy="1350000"/>
          </a:xfrm>
          <a:prstGeom prst="rect">
            <a:avLst/>
          </a:prstGeom>
          <a:solidFill>
            <a:srgbClr val="E4F0E4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放射強制力に基づく指標体系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GWP特性化係数＝対象ガス1kgの累積放射強制力をCO2のそれで除した比。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Levasseur型DLCAは各排出を排出年次に置き、固定観測期間(TOD)の終端まで放射強制力を逐年積分・合算。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RE2020簡易法は、このTOD=100年版DLCAを再現する係数への一次近似。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000" y="3050000"/>
            <a:ext cx="9780000" cy="2050000"/>
          </a:xfrm>
          <a:prstGeom prst="rect">
            <a:avLst/>
          </a:prstGeom>
          <a:solidFill>
            <a:srgbClr val="FDF3D0"/>
          </a:solidFill>
          <a:ln w="12700">
            <a:solidFill>
              <a:srgbClr val="EF9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9A5A00"/>
                </a:solidFill>
                <a:latin typeface="游ゴシック"/>
              </a:rPr>
              <a:t>Ventura(2022)・UGEの批判の核心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>
                <a:solidFill>
                  <a:srgbClr val="202020"/>
                </a:solidFill>
                <a:latin typeface="游ゴシック"/>
              </a:rPr>
              <a:t>① 打切りによる過大評価：TOD固定で評価地平が静的GWP100と揃わず、比較不能な量の加算（50年後排出で約25-35%過大）。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>
                <a:solidFill>
                  <a:srgbClr val="202020"/>
                </a:solidFill>
                <a:latin typeface="游ゴシック"/>
              </a:rPr>
              <a:t>② 物理的効果の限定性：数十年の排出遅延は長期の累積放射強制力をほとんど減らさない。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>
                <a:solidFill>
                  <a:srgbClr val="202020"/>
                </a:solidFill>
                <a:latin typeface="游ゴシック"/>
              </a:rPr>
              <a:t>③ ガス無差別適用：短寿命ガスの減衰が反映されない。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>
                <a:solidFill>
                  <a:srgbClr val="202020"/>
                </a:solidFill>
                <a:latin typeface="游ゴシック"/>
              </a:rPr>
              <a:t>④ 時間ゼロの置き方：部材リユース等の排出遅延行為が竣工後の係数体系で逆に不利。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>
                <a:solidFill>
                  <a:srgbClr val="202020"/>
                </a:solidFill>
                <a:latin typeface="游ゴシック"/>
              </a:rPr>
              <a:t>→ 「修正係数（50年で0.72）への置換だけで規制に即適用可能」と結論。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図：木製梁の計算例 ― 静的+130 → 動的−165.4</a:t>
            </a:r>
          </a:p>
        </p:txBody>
      </p:sp>
      <p:pic>
        <p:nvPicPr>
          <p:cNvPr id="4" name="Picture 3" descr="fig_wood_b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043" y="1371600"/>
            <a:ext cx="7529726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</a:rPr>
              <a:t>公式ガイドの例。製造−600・施工+30・解体+700×0.578=+404.6 → 動的合計−165.4（静的+130から約295改善）。鉄鋼・コンクリートは排出がt=0集中のため恩恵をほぼ受けない。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建築物LCA算定における位置付け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>
            <a:r>
              <a:rPr sz="1400"/>
              <a:t>第4部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算定環境（認定ソフト・INIES・RSEE）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算定環境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000" y="1500000"/>
            <a:ext cx="4820000" cy="240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認定計算ツール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・省の事前認可制。熱部分はCSTB、環境(LCA)部分はCeremaが技術審査。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・代表例：Pléiades, ClimaWin, ArchiWIZARD, Vizcab 等。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・CSTB開発エンジン(Th-BCE)が民間ソフトに組込み。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80000" y="1500000"/>
            <a:ext cx="4820000" cy="2400000"/>
          </a:xfrm>
          <a:prstGeom prst="rect">
            <a:avLst/>
          </a:prstGeom>
          <a:solidFill>
            <a:srgbClr val="E4F0E4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データ基盤 INIES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・国の公的DB（2004年創設、無償公開）。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・FDES（建材EPD）・PEP（設備EPD）を使用。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・データ無き場合はペナルティ付きデフォルト値(DED)。使用率は Ic ded で見える化。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" y="4100000"/>
            <a:ext cx="9780000" cy="1350000"/>
          </a:xfrm>
          <a:prstGeom prst="rect">
            <a:avLst/>
          </a:prstGeom>
          <a:solidFill>
            <a:srgbClr val="DDE3E8"/>
          </a:solidFill>
          <a:ln w="12700">
            <a:solidFill>
              <a:srgbClr val="494D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494D51"/>
                </a:solidFill>
                <a:latin typeface="游ゴシック"/>
              </a:rPr>
              <a:t>結果の提出（RSEE/OPEE）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認可ソフトから標準様式RSEE（エネルギー・環境調査サマリー）を出力し竣工時までに作成。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2022年以降CSTBがOPEE（観測事業）として収集・統計化 → 政策モニタリングに活用。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静的LCAとの関係（ハイブリッド構成）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位置付け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000" y="1550000"/>
            <a:ext cx="9780000" cy="150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5486"/>
                </a:solidFill>
                <a:latin typeface="游ゴシック"/>
              </a:rPr>
              <a:t>規制値＝動的、情報・その他影響＝静的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・静的/動的の区別は気候変動影響(GHG)の計算にのみ適用。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・規制適合判定（Ic上限値）は動的計算のみに依拠。静的気候指標の併記（提出）義務はない。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・気候変動以外の約30の環境指標（酸性化・資源・廃棄物等）は全て静的手法で算定。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000" y="3300000"/>
            <a:ext cx="985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202020"/>
                </a:solidFill>
                <a:latin typeface="游ゴシック"/>
              </a:rPr>
              <a:t>・ただし静的計算は方法論として完全に併存する：</a:t>
            </a:r>
          </a:p>
          <a:p>
            <a:pPr lvl="1"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・動的計算は「静的影響 × 重み付け係数」という構造のため、静的値が計算の前提となる。</a:t>
            </a:r>
          </a:p>
          <a:p>
            <a:pPr lvl="1"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・RSEEには情報指標を含む算定結果一式が収録される。</a:t>
            </a:r>
          </a:p>
          <a:p>
            <a:pPr lvl="1"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・すなわちRE2020は、時間ゼロ前（静的）と後（動的）を接合した混合手法である。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図：RE2020算定エコシステム（三層構造）</a:t>
            </a:r>
          </a:p>
        </p:txBody>
      </p:sp>
      <p:pic>
        <p:nvPicPr>
          <p:cNvPr id="4" name="Picture 3" descr="fig_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986" y="1371600"/>
            <a:ext cx="7863840" cy="40772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</a:rPr>
              <a:t>INIES（FDES/PEP/DED）→ 認可ソフト（Elodieエンジン等）→ 標準様式RSEE → CSTB/OPEE収集。データ→計算（静的×重み係数）→申告・モニタリングの一体設計。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評価結果の利用・表示（Ic指標）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位置付け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000" y="1500000"/>
            <a:ext cx="9780000" cy="1450000"/>
          </a:xfrm>
          <a:prstGeom prst="rect">
            <a:avLst/>
          </a:prstGeom>
          <a:solidFill>
            <a:srgbClr val="E4F0E4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5486"/>
                </a:solidFill>
                <a:latin typeface="游ゴシック"/>
              </a:rPr>
              <a:t>指標体系（kg-CO2eq/m²）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Ic composants（部材・設備）＋ Ic chantier（工事）＝ Ic construction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Ic bâtiment ＝ Ic construction ＋ Ic énergie ＋ Ic eau　／　補助：StockC、Ic ded、ロット別 Ic lot1〜13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000" y="3100000"/>
            <a:ext cx="985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游ゴシック"/>
              </a:rPr>
              <a:t>・適合判定：Ic énergie ≤ Ic énergie_max、Ic construction ≤ Ic construction_max（用途別基準値に調整係数Miを乗加算して個別化）。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" y="4150000"/>
            <a:ext cx="9780000" cy="145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表示・証明の実務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・建築許可申請時：RE2020考慮の証明書を添付。　・竣工時：RSEEに基づく適合証明書を作成。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202020"/>
                </a:solidFill>
                <a:latin typeface="游ゴシック"/>
              </a:rPr>
              <a:t>・評価は建築許可単位（棟ごとに閾値遵守）。Icはロット別に表示され、木造化等の材料選択・工法比較に直接利用。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実務負荷・コスト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位置付け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" y="1460000"/>
            <a:ext cx="9850000" cy="2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202020"/>
                </a:solidFill>
                <a:latin typeface="游ゴシック"/>
              </a:rPr>
              <a:t>・設計検討時間：RE2020はRT2012の2〜3倍（AICVF）。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202020"/>
                </a:solidFill>
                <a:latin typeface="游ゴシック"/>
              </a:rPr>
              <a:t>・</a:t>
            </a:r>
            <a:r>
              <a:rPr sz="1250" b="0">
                <a:solidFill>
                  <a:srgbClr val="202020"/>
                </a:solidFill>
                <a:latin typeface="游ゴシック"/>
              </a:rPr>
              <a:t>知的役務コスト：</a:t>
            </a:r>
            <a:r>
              <a:rPr sz="1250" b="1">
                <a:solidFill>
                  <a:srgbClr val="125486"/>
                </a:solidFill>
                <a:latin typeface="游ゴシック"/>
              </a:rPr>
              <a:t>2022-25年の5€/m² → 2028年基準で11.5€/m²</a:t>
            </a:r>
            <a:r>
              <a:rPr sz="1250" b="0">
                <a:solidFill>
                  <a:srgbClr val="202020"/>
                </a:solidFill>
                <a:latin typeface="游ゴシック"/>
              </a:rPr>
              <a:t>へ上昇（IFPEB試算）。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202020"/>
                </a:solidFill>
                <a:latin typeface="游ゴシック"/>
              </a:rPr>
              <a:t>・戸建：熱計算＋LCA＋建築許可証明で1,200〜1,800€、竣工時更新・証明で400〜600€（建設費の約+1%）。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000" y="3950000"/>
            <a:ext cx="9780000" cy="1300000"/>
          </a:xfrm>
          <a:prstGeom prst="rect">
            <a:avLst/>
          </a:prstGeom>
          <a:solidFill>
            <a:srgbClr val="E4F0E4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5486"/>
                </a:solidFill>
                <a:latin typeface="游ゴシック"/>
              </a:rPr>
              <a:t>人材育成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公式ガイドが「関係者の能力向上(montée en compétence)のための研修ニーズ特定」を掲げ、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202020"/>
                </a:solidFill>
                <a:latin typeface="游ゴシック"/>
              </a:rPr>
              <a:t>E+C-実験期(2016-2021)に第三者検証付き評価運用を通じて実務家の習熟を図った。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日本の制度検討への示唆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>
            <a:r>
              <a:rPr sz="1400"/>
              <a:t>第5部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日本の制度検討への示唆（5点）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示唆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" y="1440000"/>
            <a:ext cx="9850000" cy="5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① 「簡易動的法」は既存EPD基盤の上に低コストで実装可能</a:t>
            </a:r>
          </a:p>
          <a:p>
            <a:pPr lvl="1" algn="l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02020"/>
                </a:solidFill>
                <a:latin typeface="游ゴシック"/>
              </a:rPr>
              <a:t>・静的GWP値（EPD）に法定の年次係数を乗じるだけの設計。DB(INIES)・認可ソフト・標準出力(RSEE)を一体整備。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② 係数の科学的根拠と透明性が制度の信頼性を決める</a:t>
            </a:r>
          </a:p>
          <a:p>
            <a:pPr lvl="1" algn="l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02020"/>
                </a:solidFill>
                <a:latin typeface="游ゴシック"/>
              </a:rPr>
              <a:t>・打切り問題で遅延便益が25-35%過大との批判。流布する指数関数式は一次資料に存在せず、官報の係数表に依拠すべき。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③ 木材インセンティブ効果は明確だが対立点も明確</a:t>
            </a:r>
          </a:p>
          <a:p>
            <a:pPr lvl="1" algn="l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02020"/>
                </a:solidFill>
                <a:latin typeface="游ゴシック"/>
              </a:rPr>
              <a:t>・公式例で+130→−165。一方、国際規格不整合・ガス無差別・再成長非割引・リユース不利の論点。静的(実排出管理)と動的(誘導)の役割分担を明示する設計が有効。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④ 評価期間・観測期間は「政治的選択」と明示する</a:t>
            </a:r>
          </a:p>
          <a:p>
            <a:pPr lvl="1" algn="l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02020"/>
                </a:solidFill>
                <a:latin typeface="游ゴシック"/>
              </a:rPr>
              <a:t>・50年・100年は物理的必然でなく規約。期間設定の根拠と見直し条項(レビュークローズ)を制度に組み込む。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125486"/>
                </a:solidFill>
                <a:latin typeface="游ゴシック"/>
              </a:rPr>
              <a:t>⑤ 国による結果収集（RSEE/OPEE型）の併設</a:t>
            </a:r>
          </a:p>
          <a:p>
            <a:pPr lvl="1"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202020"/>
                </a:solidFill>
                <a:latin typeface="游ゴシック"/>
              </a:rPr>
              <a:t>・動的評価の妥当性は国レベルでしか検証できない。算定結果の標準様式提出・国の収集分析を当初から設計に含める。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/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00" y="1120000"/>
            <a:ext cx="4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5486"/>
                </a:solidFill>
                <a:latin typeface="游ゴシック"/>
              </a:rPr>
              <a:t>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000" y="1550000"/>
            <a:ext cx="9780000" cy="1500000"/>
          </a:xfrm>
          <a:prstGeom prst="rect">
            <a:avLst/>
          </a:prstGeom>
          <a:solidFill>
            <a:srgbClr val="E8F1F8"/>
          </a:solidFill>
          <a:ln w="12700">
            <a:solidFill>
              <a:srgbClr val="1254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54000" rIns="90000" bIns="54000" rtlCol="0" anchor="t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125486"/>
                </a:solidFill>
                <a:latin typeface="游ゴシック"/>
              </a:rPr>
              <a:t>結論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202020"/>
                </a:solidFill>
                <a:latin typeface="游ゴシック"/>
              </a:rPr>
              <a:t>RE2020の簡易動的LCAは、既存EPDに法定の年次係数を乗じるだけの実装容易な手法でありながら、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202020"/>
                </a:solidFill>
                <a:latin typeface="游ゴシック"/>
              </a:rPr>
              <a:t>排出時期の重み付けを通じて木材・バイオ材料の一時的炭素貯蔵を便益化する。技術的合理性と政策的意図が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>
                <a:solidFill>
                  <a:srgbClr val="202020"/>
                </a:solidFill>
                <a:latin typeface="游ゴシック"/>
              </a:rPr>
              <a:t>一体となった「ハイブリッド規制」である。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000" y="3300000"/>
            <a:ext cx="9850000" cy="2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202020"/>
                </a:solidFill>
                <a:latin typeface="游ゴシック"/>
              </a:rPr>
              <a:t>・その信頼性は、係数の科学的根拠（打切り問題への対応）と透明性、そして期間設定が政治的選択であることの明示に懸かる。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202020"/>
                </a:solidFill>
                <a:latin typeface="游ゴシック"/>
              </a:rPr>
              <a:t>・日本が導入を検討する際は、①既存EPD基盤との接続、②係数の根拠の透明化、③静的・動的の役割分担、④見直し条項、⑤全棟データ収集を、当初から設計に組み込むことが鍵となる。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参考文献・出典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4983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>
                <a:solidFill>
                  <a:srgbClr val="1F3B73"/>
                </a:solidFill>
              </a:rPr>
              <a:t>一次資料（現地PDF・原文照合済）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1. Guide RE2020（DHUP、2024年1月版）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2. Arrêté du 4 août 2021（第11条・附属書II 式35-44）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3. Note Univ. Gustave Eiffel（Ventura &amp; Feraille, 2021）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4. Ventura, A. (2022) Int. J. LCA 28:788–799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5. RE2020 / Simplified dynamic LCA（2021/2/22資料）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6. R. Rivaton『Rapport d’évaluation RE2020』(2025)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7. Benoist, A. (2009) 博士論文, Mines ParisTech（表IV.7 p.168）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8. Levasseur et al. (2010) Environ. Sci. Technol. 44(8)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9. Solinnen (2018) DHUP向け技術報告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2120" y="1325880"/>
            <a:ext cx="4983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>
                <a:solidFill>
                  <a:srgbClr val="1F3B73"/>
                </a:solidFill>
              </a:rPr>
              <a:t>規格・データ基盤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10. EN 15978（建築物の環境性能評価）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11. EN 15804+A2 / NF EN 15804+A2/CN（FDES）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12. INIES データベース / CSTB Elodie・OPEE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>
                <a:solidFill>
                  <a:srgbClr val="1F3B73"/>
                </a:solidFill>
              </a:rPr>
              <a:t>国際科学資料（再検証・IPCC原典）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13. IPCC AR4 WG1 (2007) Table 2.14 / §2.10.2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14. IPCC AR5 WG1 Ch.8 補足資料（Table 8.SM.10/11）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15. Joos et al. (2013) Atmos. Chem. Phys. 13:2793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16. IPCC 2006 Guidelines Vol.4 Ch.12（HWP半減期）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17. Cerema RE2020 webinaire（動的係数 0.578）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注: 流布する指数関数式は一次資料に不在。官報係数表に依拠。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3182</TotalTime>
  <Words>3219</Words>
  <Application>Microsoft Macintosh PowerPoint</Application>
  <PresentationFormat>ユーザー設定</PresentationFormat>
  <Paragraphs>350</Paragraphs>
  <Slides>39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39</vt:i4>
      </vt:variant>
    </vt:vector>
  </HeadingPairs>
  <TitlesOfParts>
    <vt:vector size="46" baseType="lpstr">
      <vt:lpstr>Hiragino Kaku Gothic Std W3</vt:lpstr>
      <vt:lpstr>游ゴシック</vt:lpstr>
      <vt:lpstr>Aptos</vt:lpstr>
      <vt:lpstr>Arial</vt:lpstr>
      <vt:lpstr>Calibri</vt:lpstr>
      <vt:lpstr>Calibri Light</vt:lpstr>
      <vt:lpstr>Office テーマ</vt:lpstr>
      <vt:lpstr>フランス RE2020 ダイナミックLCA 調査報告 ブロック(2) 技術及び手法の調査</vt:lpstr>
      <vt:lpstr>本資料の構成</vt:lpstr>
      <vt:lpstr>エグゼクティブサマリー</vt:lpstr>
      <vt:lpstr>動的LCA導入の背景・理論</vt:lpstr>
      <vt:lpstr>背景①　なぜ動的LCAか ― 静的LCAの限界</vt:lpstr>
      <vt:lpstr>背景①　一時的炭素貯蔵をどう評価するか</vt:lpstr>
      <vt:lpstr>背景②　導入の経緯（学術的系譜と工程）</vt:lpstr>
      <vt:lpstr>動的LCAの3つの時間概念（THI・LCD・TOD）― Ventura (2022)</vt:lpstr>
      <vt:lpstr>背景④　科学的論争 ― 打切りによる過大評価</vt:lpstr>
      <vt:lpstr>背景④　その他の批判と標準化の動き</vt:lpstr>
      <vt:lpstr>動的LCAの理論的枠組み</vt:lpstr>
      <vt:lpstr>動的LCAの定義（100年累積放射強制力）</vt:lpstr>
      <vt:lpstr>評価期間50年・観測期間100年の根拠</vt:lpstr>
      <vt:lpstr>図：観測期間(TOD)の選択と木材クレジット ― 政治的均衡</vt:lpstr>
      <vt:lpstr>静的LCA(GWP100)との差異</vt:lpstr>
      <vt:lpstr>図：静的LCA vs 動的LCA ― 打切り(troncature)の概念</vt:lpstr>
      <vt:lpstr>評価指標及び算定方法</vt:lpstr>
      <vt:lpstr>重み係数は「数式」でなく「年次係数表」</vt:lpstr>
      <vt:lpstr>係数の理論的由来（Levasseur較正・線形近似）</vt:lpstr>
      <vt:lpstr>図：重み係数 f_CO2(t) ― Bern厳密 vs RE2020線形近似</vt:lpstr>
      <vt:lpstr>図：CO2大気応答モデル ― IPCC AR4 Bern2.5CC</vt:lpstr>
      <vt:lpstr>【注意喚起】流布する指数関数式は誤り</vt:lpstr>
      <vt:lpstr>図【注意喚起】流布する指数関数式は公式値を再現しない</vt:lpstr>
      <vt:lpstr>年次排出への適用（法定の計算式）</vt:lpstr>
      <vt:lpstr>炭素循環（吸収・固定・放出）の扱い</vt:lpstr>
      <vt:lpstr>数値計算例：木製梁（公式ガイド）</vt:lpstr>
      <vt:lpstr>放射強制力とVentura(2022)の批判</vt:lpstr>
      <vt:lpstr>図：木製梁の計算例 ― 静的+130 → 動的−165.4</vt:lpstr>
      <vt:lpstr>建築物LCA算定における位置付け</vt:lpstr>
      <vt:lpstr>算定環境（認定ソフト・INIES・RSEE）</vt:lpstr>
      <vt:lpstr>静的LCAとの関係（ハイブリッド構成）</vt:lpstr>
      <vt:lpstr>図：RE2020算定エコシステム（三層構造）</vt:lpstr>
      <vt:lpstr>評価結果の利用・表示（Ic指標）</vt:lpstr>
      <vt:lpstr>実務負荷・コスト</vt:lpstr>
      <vt:lpstr>日本の制度検討への示唆</vt:lpstr>
      <vt:lpstr>日本の制度検討への示唆（5点）</vt:lpstr>
      <vt:lpstr>まとめ</vt:lpstr>
      <vt:lpstr>参考文献・出典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KAKKAR-21</dc:creator>
  <cp:lastModifiedBy>根岸 光司</cp:lastModifiedBy>
  <cp:revision>126</cp:revision>
  <cp:lastPrinted>2020-02-21T03:07:58Z</cp:lastPrinted>
  <dcterms:created xsi:type="dcterms:W3CDTF">2019-11-29T07:02:30Z</dcterms:created>
  <dcterms:modified xsi:type="dcterms:W3CDTF">2026-06-20T11:37:50Z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0x01010066933BD81F2A764CB761560FCEB60138</vt:lpwstr>
  </property>
</Properties>
</file>